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a clean 15-second framing. I built Meridian Sentinel as my take-home — a counterparty intelligence platform for commodities firms. Today I want to walk you through three things: who the customer is and why this use case maps to Sayari's product, what I actually built, and the architectural decisions I'd defend to a customer. Then we'll go to a live demo running on localhost. Throughout, the file references on each slide point to real code in the repo — every path and line range resolves. You'll get the deck and a one-page leave-behind afterward, so you don't need to take notes. The whole thing runs with one command — docker compose up — and the cached demo path needs zero credentials, so anyone on your team can clone it and reproduce exactly what you'll see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architecture, the customer. Meridian Energy Trading is a Geneva-based commodities firm — I made them up, but their pain is real and well-documented from FINMA's 2025 enforcement actions. They trade crude, LNG, refined products, base metals, and they onboard over 2,000 counterparties. Their problem is that traditional OFAC name-match produces too many false positives and misses ownership-layered exposure — a vendor isn't sanctioned, but their ultimate beneficial owner three hops up is. Manual beneficial-owner research takes their analysts four to six hours per entity, and FINMA has started enforcing against firms that miss this. This is exactly the problem Sayari's commercial world model solves. I built the application layer that turns Sayari's graph into actual compliance-officer decisions. That's the FDE pattern Hunter described: customer-grounded application development that feeds the product flywheel. I wanted to demonstrate I understand the business you're in, not just that I can write code.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 built, in eight days, is a counterparty intelligence platform with three pillars. First, a deterministic engine — a compliance officer uploads a vendor list, the engine resolves each name to a Sayari entity, traverses ownership, screens OFAC, and produces an audit-defensible briefing. The key architectural commitment is that no LLM touches the numbers — every value traces to a Sayari field in a cached JSON file on disk. Second, a grounded co-pilot — a Claude tool-use loop over those same typed tools, streamed token-by-token, that cites every claim and is forbidden by its system prompt from fabricating. Cached mode replays four real captured runs, so the full co-pilot demonstration costs zero API spend. Third, MCP-exposed tools — the same six capabilities are available to Claude Desktop or any MCP client by direct engine import. That's the platform point: the same engine serves a human in a browser and an agent over a protocol. I treated this take-home like a real FDE engagement: customer discovery first, then platform thinking, then build. Even with an eight-day deadline, the design assumes someone deploys this to a real customer in eight weeks.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walk you through the actual product, running locally. [Open browser to localhost:8000/ui/] This is the investigations dashboard — a compliance officer's workflow home. I'll open the Q1 2026 Vendor Onboarding case: Meridian's quarterly screening batch, fifty counterparties. The first thing you see on the Compare surface is the Run Composition line — fifty vendors in, forty-nine resolved, forty-five sanctioned by some regime, forty exposed to OFAC specifically. I'll expand it: the tree shows how those numbers nest, and the funnel below is the OFAC subset. Here's the headline: a fair, transliteration-aware name screen catches thirty-three of the forty OFAC-exposed entities. It misses seven — three lost to name variation, and four that are not on the SDN list at all. Those four are blocked under OFAC's fifty-percent rule because a sanctioned party owns them. Sayari catches all forty. [Click MiG Corporation] MiG's name isn't on the SDN, so a name screen finds nothing — but Sayari shows it's sanctioned across multiple regimes, and the ownership graph on the right traces it to United Aircraft Corporation, which IS directly on the SDN and owns nearly seventy-five percent. That's the value proposition in one screen: same vendor, name-screen says clean, Sayari finds a controlling sanctioned parent. Every value on screen is clickable down to the raw cached Sayari response that produced it. Finally [open Co-Pilot] the grounded co-pilot answers the same question conversationally — every step cites a cache file, and it physically can't fabricate, because the typed tools are its only data source.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architecture. Four parts. A React frontend served as static files — deliberately Babel-standalone with no build step, which I'll defend in a moment. A FastAPI service that is the spine: it exposes the typed tools as HTTP endpoints, streams Server-Sent Events for the upload pipeline and the co-pilot, holds the in-memory OFAC matcher, runs the agent loop, and manages an in-memory credential store. Below that, an importable engine package — pure Python, no web framework — that does resolution, profile extraction, caching, and OFAC matching. The MCP server imports that same engine directly, so Claude Desktop and the web UI share one source of truth for what a tool does. External calls go to the Sayari SDK, a locally-indexed OFAC SDN feed of seventeen thousand rows, and Anthropic. On persistence: the default is file-based, because for a proof of concept inspectability beats scale — every artifact is a JSON file you can open and grep. There's an optional Postgres path with a six-table schema and pg_trgm fuzzy matching, and the code falls back to files when no database URL is set. The thing that ties it together is the CitedResult envelope: every tool returns data plus its source — entity URL, field path, cache file. That's what makes the whole UI auditable. I'd happily go deeper on any layer.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pick three decisions to defend, because how I made them matters more than what they are. First: no LLM in the data path. The engine produces every number; the agent can only call typed tools that return cited results. I considered RAG — embedding the Sayari JSON and retrieving — and rejected it because embedding JSON destroys the field structure that makes citations possible. For a compliance customer, an auditor needs to trace a flag to a specific Sayari field months later. Trust here is structural, not prompt-engineered. Second: the OFAC baseline. An early version of my matcher was ASCII-only, and it inadvertently flattered Sayari by under-counting what a real name screen would catch. I rebuilt it with unidecode transliteration and alias indexing, scored at the same threshold as Sayari. That moved Sayari's baseline-comparison number from forty-one down to thirty-three — and the structural argument still wins, because the ownership gap is real regardless of baseline quality. Steelmanning the thing you're comparing against is the honest move. Third: pinned entity IDs. Sayari's default resolution returned subsidiaries instead of parents — for Sberbank, a degree-780 back-office LLC instead of the degree-fifty-nine-thousand parent. I pinned four marquee entities to verified IDs, each with an inline comment explaining the degree and identifier evidence and how to re-verify. Each of these has a road I didn't take, and I'm happy to go deeper on any of them.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deployment — I want to be upfront. The take-home ships as Docker Compose: one command, runs locally. That's the on-ramp, not the destination. For a FINMA-regulated commodities firm, my default production position is customer-deployed containers in their own cloud tenant. Here's why. Meridian's counterparty data and ownership graphs are subject to Swiss banking secrecy and GDPR — they need data residency. Their compliance team wants to point at a single tenant and say 'our data, our controls.' Multi-tenant SaaS introduces shared-infrastructure caveats that FINMA examiners will probe. Customer-deployed means their existing SOC 2 controls extend to the platform — no new audit surface — and their DR procedures already cover it. The trade-off is that Sayari has to ship deployment templates, runbooks, and an upgrade path. That's FDE work — not just building the app, but the artifacts that let a customer deploy and operate it. I considered multi-tenant SaaS, a Sayari-managed dedicated tenant, and a hybrid split, and I list the trade-offs here. But I want to be honest about what I don't know: I'd want to learn Sayari's existing playbook for enterprise customers before committing. If you have a different default for FINMA-grade financial services, I'd defer to it. This is my reasoning from first principles.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to close on. First, what I deferred — being honest about it, because I think that honesty is part of the evaluation. Real identity-provider integration is stubbed; the demo login is a localStorage gate. Production Postgres is designed but the default is file storage. Six of my eight marquee entities are served from cached real runs rather than live calls on every load. Prompt-injection guards are a hardening pass — the system prompt forbids fabrication, but I'd add explicit input sanitization before production. And there's no automated CI suite; I relied on type discipline and per-commit curl and behavioral verification. Each was a deliberate choice to spend the eight days on the engine, the observability, and the architectural decisions rather than on hardening that's mostly mechanical. Second, what I'd build next. Meridian's real workflow isn't ad-hoc fifty-vendor investigations — it's quarterly two-thousand-vendor batches, which means bulk mode with parallel agentic execution and result aggregation. Webhook subscriptions so that when Sayari's graph changes — new ownership, new sanctions — the customer's compliance system knows immediately; Sayari's graph as an event source. Customer-configurable risk policies with versioning and approval workflows, surfaced in the briefings. And procurement integration — SAP Ariba, Coupa — to embed screening where compliance officers already live. That last one is the FDE pattern: meet customers in the tools they already use. Happy to dig into any of these in Q&amp;A.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observability comes up in Q&amp;A, this is the slide. The universal contract is the CitedResult envelope: every tool returns data plus a source object — entity URL, raw field path, cache file, API endpoint. Nothing renders in the UI without that provenance. The streaming layer is Server-Sent Events with distinct event types: the agent emits tokens, tool calls, tool results, citations, flags; the upload pipeline emits row events carrying a steps array with the actual per-API-call durations. And the UI matches with three-tier disclosure — a compact row, an expansion showing each API call, and a full payload panel with clickable links straight to the raw cached Sayari JSON. That's what lets an auditor answer 'why did the system flag this entity' weeks later — they click through to the exact field in the exact response.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for Alec especially, who made the same career jump I'm making. I want to be transparent about how I built this. Three layers. First, Claude as a thinking partner — architecture, scope, ADR drafting, and honestly pushing back when I was over-scoping. Second, Claude Code as the execution engine — it took locked-scope prompts and shipped them as focused commits, citing file and line in each change, and crucially it ran the app and curl-verified each change in the same session. It caught its own regressions: a React hooks-order bug that silently blanked a component, a blank-row miscount in the spreadsheet parser, a d3 coordinate-transform bug in the graph. Third, me as the verification and judgment layer — I walked the running app after every change, made the product calls, and pushed back on scope creep. What I learned is that AI output is only as good as the verification gate above it. The discipline isn't 'use AI to go faster' — it's 'design the gates so AI output earns trust.' And if you scale a team this way, you're not replacing engineers, you're moving them to the judgment layer. I think that's the FDE pattern at scale, and it's exactly the kind of leverage I'd want to bring to your customers.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anyone wants the full stack, here it is, four columns. Two things worth flagging. First, the frontend is React rendered by Babel-standalone in the browser with no build step — every JSX file is readable as text and runs as-is, which I'll defend as a deliberate take-home choice on the next slide-set. The design tokens live as CSS variables, not a framework config. Second, the data layer defaults to file-based caching for inspectability, with an optional six-table Postgres path that the code falls back from gracefully. The OFAC feed is seventeen thousand rows held in memory for microsecond matching, and PDF briefings use WeasyPrint with an HTML fallback when the system graphics libraries aren't present.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model is deliberately file-first. The optional Postgres schema on the left has six tables — OFAC data, entity cache, screening runs, investigations, per-entity results, and analyst dispositions — and pg_trgm for fuzzy matching. But the actual default, on the right, is the file cache under output slash. A hundred cached entity profiles, sixty-six ownership graphs, the pinned demo run, and four captured co-pilot streams — all real Sayari responses, committed to the repo so the demo reproduces on any clone with zero credentials. For a proof of concept I'd argue file-first is the right call: every artifact is inspectable with cat or grep, which matters enormously when your whole pitch is 'trace every finding to its source.' Postgres is the production move, and the code already falls back to it cleanly.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is a place I'd expect probing. Credentials are the cleanest story: they live in an in-memory store that is never written to disk or to the browser, cleared on restart, and the store takes priority over environment variables so an in-app entry overrides .env without a restart. Secrets: .env is gitignored, and I ran a full git-history scan to confirm no credential was ever committed — the only matches are placeholder text in docs. The deepest security property is data provenance: every value cites its cache file, and the agent's only data source is the typed tools, so it's structurally incapable of fabricating a number. The honest gaps: real identity-provider integration — the login is a demo gate today — explicit prompt-injection guards, and per-route rate limiting and audit logging. Those are the production-hardening pass.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to dig into the code after the meeting, these are the files I'd start with. On the frontend: the index.html that loads everything via Babel-standalone, the hash router, and the four surfaces — Compare, Entity, the upload trace, and the co-pilot. On the backend: the FastAPI main, the profile extractor that's the single source of truth for risk factors, the resolver with the pinned IDs, the compare reconciliation, the cache-first traversal, the briefing generator, the agent loop, and the MCP server. Every path on this slide resolves at the GitHub URL shown at the bottom.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the time. The full deck, the ADRs, and the one-page leave-behind are all in the repo under docs/walkthrough. The whole thing runs with one command — clone and docker compose up — so anyone on your team can reproduce exactly what you saw today. I'd love to do a deeper session: architecture, a code walkthrough, or a whiteboard on a scaling problem — whatever's most useful. Looking forward to the next conversation.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2331720"/>
            <a:ext cx="10424160" cy="1280160"/>
          </a:xfrm>
          <a:prstGeom prst="rect">
            <a:avLst/>
          </a:prstGeom>
          <a:noFill/>
        </p:spPr>
        <p:txBody>
          <a:bodyPr wrap="square" anchor="t" lIns="0" rIns="0" tIns="0" bIns="0">
            <a:spAutoFit/>
          </a:bodyPr>
          <a:lstStyle/>
          <a:p>
            <a:pPr algn="l">
              <a:lnSpc>
                <a:spcPct val="100000"/>
              </a:lnSpc>
              <a:spcBef>
                <a:spcPts val="0"/>
              </a:spcBef>
              <a:spcAft>
                <a:spcPts val="0"/>
              </a:spcAft>
            </a:pPr>
            <a:r>
              <a:rPr sz="6400" b="0" i="0">
                <a:solidFill>
                  <a:srgbClr val="F0F4F8"/>
                </a:solidFill>
                <a:latin typeface="Cormorant Garamond"/>
              </a:rPr>
              <a:t>Meridian </a:t>
            </a:r>
            <a:r>
              <a:rPr sz="6400" b="0" i="0">
                <a:solidFill>
                  <a:srgbClr val="8A7440"/>
                </a:solidFill>
                <a:latin typeface="Cormorant Garamond"/>
              </a:rPr>
              <a:t>— </a:t>
            </a:r>
            <a:r>
              <a:rPr sz="6400" b="0" i="1">
                <a:solidFill>
                  <a:srgbClr val="C9A961"/>
                </a:solidFill>
                <a:latin typeface="Cormorant Garamond"/>
              </a:rPr>
              <a:t>Sentinel</a:t>
            </a:r>
          </a:p>
        </p:txBody>
      </p:sp>
      <p:sp>
        <p:nvSpPr>
          <p:cNvPr id="4" name="TextBox 3"/>
          <p:cNvSpPr txBox="1"/>
          <p:nvPr/>
        </p:nvSpPr>
        <p:spPr>
          <a:xfrm>
            <a:off x="868680" y="3456432"/>
            <a:ext cx="10424160" cy="457200"/>
          </a:xfrm>
          <a:prstGeom prst="rect">
            <a:avLst/>
          </a:prstGeom>
          <a:noFill/>
        </p:spPr>
        <p:txBody>
          <a:bodyPr wrap="square" anchor="t" lIns="0" rIns="0" tIns="0" bIns="0">
            <a:spAutoFit/>
          </a:bodyPr>
          <a:lstStyle/>
          <a:p>
            <a:pPr algn="l">
              <a:lnSpc>
                <a:spcPct val="112000"/>
              </a:lnSpc>
              <a:spcBef>
                <a:spcPts val="0"/>
              </a:spcBef>
              <a:spcAft>
                <a:spcPts val="0"/>
              </a:spcAft>
            </a:pPr>
            <a:r>
              <a:rPr sz="1400" b="1" i="0" spc="260">
                <a:solidFill>
                  <a:srgbClr val="C9A961"/>
                </a:solidFill>
                <a:latin typeface="Inter"/>
              </a:rPr>
              <a:t>COUNTERPARTY INTELLIGENCE FOR COMMODITIES COMPLIANCE</a:t>
            </a:r>
          </a:p>
        </p:txBody>
      </p:sp>
      <p:sp>
        <p:nvSpPr>
          <p:cNvPr id="5" name="TextBox 4"/>
          <p:cNvSpPr txBox="1"/>
          <p:nvPr/>
        </p:nvSpPr>
        <p:spPr>
          <a:xfrm>
            <a:off x="868680" y="4160520"/>
            <a:ext cx="10424160" cy="914400"/>
          </a:xfrm>
          <a:prstGeom prst="rect">
            <a:avLst/>
          </a:prstGeom>
          <a:noFill/>
        </p:spPr>
        <p:txBody>
          <a:bodyPr wrap="square" anchor="t" lIns="0" rIns="0" tIns="0" bIns="0">
            <a:spAutoFit/>
          </a:bodyPr>
          <a:lstStyle/>
          <a:p>
            <a:pPr algn="l">
              <a:lnSpc>
                <a:spcPct val="112000"/>
              </a:lnSpc>
              <a:spcBef>
                <a:spcPts val="0"/>
              </a:spcBef>
              <a:spcAft>
                <a:spcPts val="300"/>
              </a:spcAft>
            </a:pPr>
            <a:r>
              <a:rPr sz="1500" b="0" i="0">
                <a:solidFill>
                  <a:srgbClr val="F0F4F8"/>
                </a:solidFill>
                <a:latin typeface="Inter"/>
              </a:rPr>
              <a:t>Peter Nemrow</a:t>
            </a:r>
          </a:p>
          <a:p>
            <a:pPr algn="l">
              <a:lnSpc>
                <a:spcPct val="112000"/>
              </a:lnSpc>
              <a:spcBef>
                <a:spcPts val="0"/>
              </a:spcBef>
              <a:spcAft>
                <a:spcPts val="300"/>
              </a:spcAft>
            </a:pPr>
            <a:r>
              <a:rPr sz="1300" b="0" i="0">
                <a:solidFill>
                  <a:srgbClr val="94A3B8"/>
                </a:solidFill>
                <a:latin typeface="Inter"/>
              </a:rPr>
              <a:t>Sayari  ·  Forward Deployed Engineer  ·  Take-Home Review</a:t>
            </a:r>
          </a:p>
          <a:p>
            <a:pPr algn="l">
              <a:lnSpc>
                <a:spcPct val="112000"/>
              </a:lnSpc>
              <a:spcBef>
                <a:spcPts val="0"/>
              </a:spcBef>
              <a:spcAft>
                <a:spcPts val="400"/>
              </a:spcAft>
            </a:pPr>
            <a:r>
              <a:rPr sz="1300" b="0" i="0">
                <a:solidFill>
                  <a:srgbClr val="94A3B8"/>
                </a:solidFill>
                <a:latin typeface="Inter"/>
              </a:rPr>
              <a:t>June 2026</a:t>
            </a:r>
          </a:p>
        </p:txBody>
      </p:sp>
      <p:sp>
        <p:nvSpPr>
          <p:cNvPr id="6" name="TextBox 5"/>
          <p:cNvSpPr txBox="1"/>
          <p:nvPr/>
        </p:nvSpPr>
        <p:spPr>
          <a:xfrm>
            <a:off x="868680" y="6035040"/>
            <a:ext cx="10424160" cy="548640"/>
          </a:xfrm>
          <a:prstGeom prst="rect">
            <a:avLst/>
          </a:prstGeom>
          <a:noFill/>
        </p:spPr>
        <p:txBody>
          <a:bodyPr wrap="square" anchor="t" lIns="0" rIns="0" tIns="0" bIns="0">
            <a:spAutoFit/>
          </a:bodyPr>
          <a:lstStyle/>
          <a:p>
            <a:pPr algn="l">
              <a:lnSpc>
                <a:spcPct val="112000"/>
              </a:lnSpc>
              <a:spcBef>
                <a:spcPts val="0"/>
              </a:spcBef>
              <a:spcAft>
                <a:spcPts val="200"/>
              </a:spcAft>
            </a:pPr>
            <a:r>
              <a:rPr sz="1000" b="0" i="0">
                <a:solidFill>
                  <a:srgbClr val="64748B"/>
                </a:solidFill>
                <a:latin typeface="JetBrains Mono"/>
              </a:rPr>
              <a:t>github.com/pnemrow/meridian-sentinel</a:t>
            </a:r>
          </a:p>
          <a:p>
            <a:pPr algn="l">
              <a:lnSpc>
                <a:spcPct val="112000"/>
              </a:lnSpc>
              <a:spcBef>
                <a:spcPts val="0"/>
              </a:spcBef>
              <a:spcAft>
                <a:spcPts val="400"/>
              </a:spcAft>
            </a:pPr>
            <a:r>
              <a:rPr sz="1000" b="0" i="0">
                <a:solidFill>
                  <a:srgbClr val="64748B"/>
                </a:solidFill>
                <a:latin typeface="Inter"/>
              </a:rPr>
              <a:t>Powered by the Sayari API  ·  Anthropic Claude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777240" y="566928"/>
            <a:ext cx="10607040" cy="365760"/>
          </a:xfrm>
          <a:prstGeom prst="rect">
            <a:avLst/>
          </a:prstGeom>
          <a:noFill/>
        </p:spPr>
        <p:txBody>
          <a:bodyPr wrap="square" anchor="t" lIns="0" rIns="0" tIns="0" bIns="0">
            <a:spAutoFit/>
          </a:bodyPr>
          <a:lstStyle/>
          <a:p>
            <a:pPr algn="l">
              <a:lnSpc>
                <a:spcPct val="112000"/>
              </a:lnSpc>
              <a:spcBef>
                <a:spcPts val="0"/>
              </a:spcBef>
              <a:spcAft>
                <a:spcPts val="0"/>
              </a:spcAft>
            </a:pPr>
            <a:r>
              <a:rPr sz="1250" b="1" i="0" spc="220">
                <a:solidFill>
                  <a:srgbClr val="94A3B8"/>
                </a:solidFill>
                <a:latin typeface="Inter"/>
              </a:rPr>
              <a:t>THE CUSTOMER — AND WHY THIS IS SAYARI'S WEDGE</a:t>
            </a:r>
          </a:p>
        </p:txBody>
      </p:sp>
      <p:sp>
        <p:nvSpPr>
          <p:cNvPr id="3" name="TextBox 2"/>
          <p:cNvSpPr txBox="1"/>
          <p:nvPr/>
        </p:nvSpPr>
        <p:spPr>
          <a:xfrm>
            <a:off x="777240" y="932688"/>
            <a:ext cx="10607040" cy="914400"/>
          </a:xfrm>
          <a:prstGeom prst="rect">
            <a:avLst/>
          </a:prstGeom>
          <a:noFill/>
        </p:spPr>
        <p:txBody>
          <a:bodyPr wrap="square" anchor="t" lIns="0" rIns="0" tIns="0" bIns="0">
            <a:spAutoFit/>
          </a:bodyPr>
          <a:lstStyle/>
          <a:p>
            <a:pPr algn="l">
              <a:lnSpc>
                <a:spcPct val="100000"/>
              </a:lnSpc>
              <a:spcBef>
                <a:spcPts val="0"/>
              </a:spcBef>
              <a:spcAft>
                <a:spcPts val="0"/>
              </a:spcAft>
            </a:pPr>
            <a:r>
              <a:rPr sz="4000" b="0" i="0">
                <a:solidFill>
                  <a:srgbClr val="F0F4F8"/>
                </a:solidFill>
                <a:latin typeface="Cormorant Garamond"/>
              </a:rPr>
              <a:t>Meridian Energy Trading SA</a:t>
            </a:r>
          </a:p>
        </p:txBody>
      </p:sp>
      <p:sp>
        <p:nvSpPr>
          <p:cNvPr id="4" name="TextBox 3"/>
          <p:cNvSpPr txBox="1"/>
          <p:nvPr/>
        </p:nvSpPr>
        <p:spPr>
          <a:xfrm>
            <a:off x="777240" y="1700784"/>
            <a:ext cx="10607040" cy="365760"/>
          </a:xfrm>
          <a:prstGeom prst="rect">
            <a:avLst/>
          </a:prstGeom>
          <a:noFill/>
        </p:spPr>
        <p:txBody>
          <a:bodyPr wrap="square" anchor="t" lIns="0" rIns="0" tIns="0" bIns="0">
            <a:spAutoFit/>
          </a:bodyPr>
          <a:lstStyle/>
          <a:p>
            <a:pPr algn="l">
              <a:lnSpc>
                <a:spcPct val="112000"/>
              </a:lnSpc>
              <a:spcBef>
                <a:spcPts val="0"/>
              </a:spcBef>
              <a:spcAft>
                <a:spcPts val="0"/>
              </a:spcAft>
            </a:pPr>
            <a:r>
              <a:rPr sz="1250" b="1" i="0" spc="180">
                <a:solidFill>
                  <a:srgbClr val="C9A961"/>
                </a:solidFill>
                <a:latin typeface="Inter"/>
              </a:rPr>
              <a:t>GENEVA  ·  COMMODITIES  ·  $22B AUM  ·  FINMA-REGULATED</a:t>
            </a:r>
          </a:p>
        </p:txBody>
      </p:sp>
      <p:sp>
        <p:nvSpPr>
          <p:cNvPr id="5" name="Rectangle 4"/>
          <p:cNvSpPr/>
          <p:nvPr/>
        </p:nvSpPr>
        <p:spPr>
          <a:xfrm>
            <a:off x="777240" y="2212848"/>
            <a:ext cx="10607040" cy="11887"/>
          </a:xfrm>
          <a:prstGeom prst="rect">
            <a:avLst/>
          </a:prstGeom>
          <a:solidFill>
            <a:srgbClr val="2A38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77240" y="2487168"/>
            <a:ext cx="3419856" cy="3749039"/>
          </a:xfrm>
          <a:prstGeom prst="roundRect">
            <a:avLst>
              <a:gd name="adj" fmla="val 6000"/>
            </a:avLst>
          </a:prstGeom>
          <a:solidFill>
            <a:srgbClr val="1A2436"/>
          </a:solidFill>
          <a:ln w="9525">
            <a:solidFill>
              <a:srgbClr val="2A38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487168"/>
            <a:ext cx="54864" cy="3749039"/>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33271" y="2724912"/>
            <a:ext cx="2962656" cy="3383280"/>
          </a:xfrm>
          <a:prstGeom prst="rect">
            <a:avLst/>
          </a:prstGeom>
          <a:noFill/>
        </p:spPr>
        <p:txBody>
          <a:bodyPr wrap="square" anchor="t" lIns="0" rIns="0" tIns="0" bIns="0">
            <a:spAutoFit/>
          </a:bodyPr>
          <a:lstStyle/>
          <a:p>
            <a:pPr algn="l">
              <a:lnSpc>
                <a:spcPct val="112000"/>
              </a:lnSpc>
              <a:spcBef>
                <a:spcPts val="0"/>
              </a:spcBef>
              <a:spcAft>
                <a:spcPts val="1000"/>
              </a:spcAft>
            </a:pPr>
            <a:r>
              <a:rPr sz="2000" b="0" i="0">
                <a:solidFill>
                  <a:srgbClr val="F0F4F8"/>
                </a:solidFill>
                <a:latin typeface="Cormorant Garamond"/>
              </a:rPr>
              <a:t>The business</a:t>
            </a:r>
          </a:p>
          <a:p>
            <a:pPr algn="l">
              <a:lnSpc>
                <a:spcPct val="112000"/>
              </a:lnSpc>
              <a:spcBef>
                <a:spcPts val="0"/>
              </a:spcBef>
              <a:spcAft>
                <a:spcPts val="800"/>
              </a:spcAft>
            </a:pPr>
            <a:r>
              <a:rPr sz="1200" b="0" i="0">
                <a:solidFill>
                  <a:srgbClr val="C9A961"/>
                </a:solidFill>
                <a:latin typeface="Inter"/>
              </a:rPr>
              <a:t>—  </a:t>
            </a:r>
            <a:r>
              <a:rPr sz="1200" b="0" i="0">
                <a:solidFill>
                  <a:srgbClr val="94A3B8"/>
                </a:solidFill>
                <a:latin typeface="Inter"/>
              </a:rPr>
              <a:t>Crude oil, LNG, refined products, base metals</a:t>
            </a:r>
          </a:p>
          <a:p>
            <a:pPr algn="l">
              <a:lnSpc>
                <a:spcPct val="112000"/>
              </a:lnSpc>
              <a:spcBef>
                <a:spcPts val="0"/>
              </a:spcBef>
              <a:spcAft>
                <a:spcPts val="800"/>
              </a:spcAft>
            </a:pPr>
            <a:r>
              <a:rPr sz="1200" b="0" i="0">
                <a:solidFill>
                  <a:srgbClr val="C9A961"/>
                </a:solidFill>
                <a:latin typeface="Inter"/>
              </a:rPr>
              <a:t>—  </a:t>
            </a:r>
            <a:r>
              <a:rPr sz="1200" b="0" i="0">
                <a:solidFill>
                  <a:srgbClr val="94A3B8"/>
                </a:solidFill>
                <a:latin typeface="Inter"/>
              </a:rPr>
              <a:t>2,000+ counterparties globally</a:t>
            </a:r>
          </a:p>
          <a:p>
            <a:pPr algn="l">
              <a:lnSpc>
                <a:spcPct val="112000"/>
              </a:lnSpc>
              <a:spcBef>
                <a:spcPts val="0"/>
              </a:spcBef>
              <a:spcAft>
                <a:spcPts val="800"/>
              </a:spcAft>
            </a:pPr>
            <a:r>
              <a:rPr sz="1200" b="0" i="0">
                <a:solidFill>
                  <a:srgbClr val="C9A961"/>
                </a:solidFill>
                <a:latin typeface="Inter"/>
              </a:rPr>
              <a:t>—  </a:t>
            </a:r>
            <a:r>
              <a:rPr sz="1200" b="0" i="0">
                <a:solidFill>
                  <a:srgbClr val="94A3B8"/>
                </a:solidFill>
                <a:latin typeface="Inter"/>
              </a:rPr>
              <a:t>Cross-jurisdictional ownership chains are routine</a:t>
            </a:r>
          </a:p>
          <a:p>
            <a:pPr algn="l">
              <a:lnSpc>
                <a:spcPct val="112000"/>
              </a:lnSpc>
              <a:spcBef>
                <a:spcPts val="0"/>
              </a:spcBef>
              <a:spcAft>
                <a:spcPts val="800"/>
              </a:spcAft>
            </a:pPr>
            <a:r>
              <a:rPr sz="1200" b="0" i="0">
                <a:solidFill>
                  <a:srgbClr val="C9A961"/>
                </a:solidFill>
                <a:latin typeface="Inter"/>
              </a:rPr>
              <a:t>—  </a:t>
            </a:r>
            <a:r>
              <a:rPr sz="1200" b="0" i="0">
                <a:solidFill>
                  <a:srgbClr val="94A3B8"/>
                </a:solidFill>
                <a:latin typeface="Inter"/>
              </a:rPr>
              <a:t>Daily settlement against sanctioned-state-adjacent trades</a:t>
            </a:r>
          </a:p>
        </p:txBody>
      </p:sp>
      <p:sp>
        <p:nvSpPr>
          <p:cNvPr id="9" name="Rounded Rectangle 8"/>
          <p:cNvSpPr/>
          <p:nvPr/>
        </p:nvSpPr>
        <p:spPr>
          <a:xfrm>
            <a:off x="4453128" y="2487168"/>
            <a:ext cx="3419856" cy="3749039"/>
          </a:xfrm>
          <a:prstGeom prst="roundRect">
            <a:avLst>
              <a:gd name="adj" fmla="val 6000"/>
            </a:avLst>
          </a:prstGeom>
          <a:solidFill>
            <a:srgbClr val="1A2436"/>
          </a:solidFill>
          <a:ln w="9525">
            <a:solidFill>
              <a:srgbClr val="2A38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453128" y="2487168"/>
            <a:ext cx="54864" cy="3749039"/>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09160" y="2724912"/>
            <a:ext cx="2962656" cy="3383280"/>
          </a:xfrm>
          <a:prstGeom prst="rect">
            <a:avLst/>
          </a:prstGeom>
          <a:noFill/>
        </p:spPr>
        <p:txBody>
          <a:bodyPr wrap="square" anchor="t" lIns="0" rIns="0" tIns="0" bIns="0">
            <a:spAutoFit/>
          </a:bodyPr>
          <a:lstStyle/>
          <a:p>
            <a:pPr algn="l">
              <a:lnSpc>
                <a:spcPct val="112000"/>
              </a:lnSpc>
              <a:spcBef>
                <a:spcPts val="0"/>
              </a:spcBef>
              <a:spcAft>
                <a:spcPts val="1000"/>
              </a:spcAft>
            </a:pPr>
            <a:r>
              <a:rPr sz="2000" b="0" i="0">
                <a:solidFill>
                  <a:srgbClr val="F0F4F8"/>
                </a:solidFill>
                <a:latin typeface="Cormorant Garamond"/>
              </a:rPr>
              <a:t>The compliance pain</a:t>
            </a:r>
          </a:p>
          <a:p>
            <a:pPr algn="l">
              <a:lnSpc>
                <a:spcPct val="112000"/>
              </a:lnSpc>
              <a:spcBef>
                <a:spcPts val="0"/>
              </a:spcBef>
              <a:spcAft>
                <a:spcPts val="800"/>
              </a:spcAft>
            </a:pPr>
            <a:r>
              <a:rPr sz="1200" b="0" i="0">
                <a:solidFill>
                  <a:srgbClr val="C9A961"/>
                </a:solidFill>
                <a:latin typeface="Inter"/>
              </a:rPr>
              <a:t>—  </a:t>
            </a:r>
            <a:r>
              <a:rPr sz="1200" b="0" i="0">
                <a:solidFill>
                  <a:srgbClr val="94A3B8"/>
                </a:solidFill>
                <a:latin typeface="Inter"/>
              </a:rPr>
              <a:t>OFAC name-match: high false-positive rate</a:t>
            </a:r>
          </a:p>
          <a:p>
            <a:pPr algn="l">
              <a:lnSpc>
                <a:spcPct val="112000"/>
              </a:lnSpc>
              <a:spcBef>
                <a:spcPts val="0"/>
              </a:spcBef>
              <a:spcAft>
                <a:spcPts val="800"/>
              </a:spcAft>
            </a:pPr>
            <a:r>
              <a:rPr sz="1200" b="0" i="0">
                <a:solidFill>
                  <a:srgbClr val="C9A961"/>
                </a:solidFill>
                <a:latin typeface="Inter"/>
              </a:rPr>
              <a:t>—  </a:t>
            </a:r>
            <a:r>
              <a:rPr sz="1200" b="0" i="0">
                <a:solidFill>
                  <a:srgbClr val="94A3B8"/>
                </a:solidFill>
                <a:latin typeface="Inter"/>
              </a:rPr>
              <a:t>Beneficial-owner research: manual, 4–6 hrs per entity</a:t>
            </a:r>
          </a:p>
          <a:p>
            <a:pPr algn="l">
              <a:lnSpc>
                <a:spcPct val="112000"/>
              </a:lnSpc>
              <a:spcBef>
                <a:spcPts val="0"/>
              </a:spcBef>
              <a:spcAft>
                <a:spcPts val="800"/>
              </a:spcAft>
            </a:pPr>
            <a:r>
              <a:rPr sz="1200" b="0" i="0">
                <a:solidFill>
                  <a:srgbClr val="C9A961"/>
                </a:solidFill>
                <a:latin typeface="Inter"/>
              </a:rPr>
              <a:t>—  </a:t>
            </a:r>
            <a:r>
              <a:rPr sz="1200" b="0" i="0">
                <a:solidFill>
                  <a:srgbClr val="94A3B8"/>
                </a:solidFill>
                <a:latin typeface="Inter"/>
              </a:rPr>
              <a:t>FINMA 2025 enforcement against three Swiss houses</a:t>
            </a:r>
          </a:p>
          <a:p>
            <a:pPr algn="l">
              <a:lnSpc>
                <a:spcPct val="112000"/>
              </a:lnSpc>
              <a:spcBef>
                <a:spcPts val="0"/>
              </a:spcBef>
              <a:spcAft>
                <a:spcPts val="800"/>
              </a:spcAft>
            </a:pPr>
            <a:r>
              <a:rPr sz="1200" b="0" i="0">
                <a:solidFill>
                  <a:srgbClr val="C9A961"/>
                </a:solidFill>
                <a:latin typeface="Inter"/>
              </a:rPr>
              <a:t>—  </a:t>
            </a:r>
            <a:r>
              <a:rPr sz="1200" b="0" i="0">
                <a:solidFill>
                  <a:srgbClr val="94A3B8"/>
                </a:solidFill>
                <a:latin typeface="Inter"/>
              </a:rPr>
              <a:t>Post-2022 sanctions demand ownership-graph traversal</a:t>
            </a:r>
          </a:p>
        </p:txBody>
      </p:sp>
      <p:sp>
        <p:nvSpPr>
          <p:cNvPr id="12" name="Rounded Rectangle 11"/>
          <p:cNvSpPr/>
          <p:nvPr/>
        </p:nvSpPr>
        <p:spPr>
          <a:xfrm>
            <a:off x="8129016" y="2487168"/>
            <a:ext cx="3419856" cy="3749039"/>
          </a:xfrm>
          <a:prstGeom prst="roundRect">
            <a:avLst>
              <a:gd name="adj" fmla="val 6000"/>
            </a:avLst>
          </a:prstGeom>
          <a:solidFill>
            <a:srgbClr val="1A2436"/>
          </a:solidFill>
          <a:ln w="9525">
            <a:solidFill>
              <a:srgbClr val="2A38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129016" y="2487168"/>
            <a:ext cx="54864" cy="3749039"/>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85048" y="2724912"/>
            <a:ext cx="2962656" cy="3383280"/>
          </a:xfrm>
          <a:prstGeom prst="rect">
            <a:avLst/>
          </a:prstGeom>
          <a:noFill/>
        </p:spPr>
        <p:txBody>
          <a:bodyPr wrap="square" anchor="t" lIns="0" rIns="0" tIns="0" bIns="0">
            <a:spAutoFit/>
          </a:bodyPr>
          <a:lstStyle/>
          <a:p>
            <a:pPr algn="l">
              <a:lnSpc>
                <a:spcPct val="112000"/>
              </a:lnSpc>
              <a:spcBef>
                <a:spcPts val="0"/>
              </a:spcBef>
              <a:spcAft>
                <a:spcPts val="1000"/>
              </a:spcAft>
            </a:pPr>
            <a:r>
              <a:rPr sz="2000" b="0" i="0">
                <a:solidFill>
                  <a:srgbClr val="F0F4F8"/>
                </a:solidFill>
                <a:latin typeface="Cormorant Garamond"/>
              </a:rPr>
              <a:t>Why this is Sayari's wedge</a:t>
            </a:r>
          </a:p>
          <a:p>
            <a:pPr algn="l">
              <a:lnSpc>
                <a:spcPct val="112000"/>
              </a:lnSpc>
              <a:spcBef>
                <a:spcPts val="0"/>
              </a:spcBef>
              <a:spcAft>
                <a:spcPts val="800"/>
              </a:spcAft>
            </a:pPr>
            <a:r>
              <a:rPr sz="1200" b="0" i="0">
                <a:solidFill>
                  <a:srgbClr val="C9A961"/>
                </a:solidFill>
                <a:latin typeface="Inter"/>
              </a:rPr>
              <a:t>—  </a:t>
            </a:r>
            <a:r>
              <a:rPr sz="1200" b="0" i="0">
                <a:solidFill>
                  <a:srgbClr val="94A3B8"/>
                </a:solidFill>
                <a:latin typeface="Inter"/>
              </a:rPr>
              <a:t>The pain is ownership-layered exposure — exactly what Sayari's commercial world model resolves</a:t>
            </a:r>
          </a:p>
          <a:p>
            <a:pPr algn="l">
              <a:lnSpc>
                <a:spcPct val="112000"/>
              </a:lnSpc>
              <a:spcBef>
                <a:spcPts val="0"/>
              </a:spcBef>
              <a:spcAft>
                <a:spcPts val="800"/>
              </a:spcAft>
            </a:pPr>
            <a:r>
              <a:rPr sz="1200" b="0" i="0">
                <a:solidFill>
                  <a:srgbClr val="C9A961"/>
                </a:solidFill>
                <a:latin typeface="Inter"/>
              </a:rPr>
              <a:t>—  </a:t>
            </a:r>
            <a:r>
              <a:rPr sz="1200" b="0" i="0">
                <a:solidFill>
                  <a:srgbClr val="94A3B8"/>
                </a:solidFill>
                <a:latin typeface="Inter"/>
              </a:rPr>
              <a:t>I built the application layer that turns the graph into compliance-officer decisions</a:t>
            </a:r>
          </a:p>
          <a:p>
            <a:pPr algn="l">
              <a:lnSpc>
                <a:spcPct val="112000"/>
              </a:lnSpc>
              <a:spcBef>
                <a:spcPts val="0"/>
              </a:spcBef>
              <a:spcAft>
                <a:spcPts val="800"/>
              </a:spcAft>
            </a:pPr>
            <a:r>
              <a:rPr sz="1200" b="0" i="0">
                <a:solidFill>
                  <a:srgbClr val="C9A961"/>
                </a:solidFill>
                <a:latin typeface="Inter"/>
              </a:rPr>
              <a:t>—  </a:t>
            </a:r>
            <a:r>
              <a:rPr sz="1200" b="0" i="0">
                <a:solidFill>
                  <a:srgbClr val="94A3B8"/>
                </a:solidFill>
                <a:latin typeface="Inter"/>
              </a:rPr>
              <a:t>The FDE pattern: a customer-grounded app that feeds the product flywheel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777240" y="566928"/>
            <a:ext cx="10607040" cy="365760"/>
          </a:xfrm>
          <a:prstGeom prst="rect">
            <a:avLst/>
          </a:prstGeom>
          <a:noFill/>
        </p:spPr>
        <p:txBody>
          <a:bodyPr wrap="square" anchor="t" lIns="0" rIns="0" tIns="0" bIns="0">
            <a:spAutoFit/>
          </a:bodyPr>
          <a:lstStyle/>
          <a:p>
            <a:pPr algn="l">
              <a:lnSpc>
                <a:spcPct val="112000"/>
              </a:lnSpc>
              <a:spcBef>
                <a:spcPts val="0"/>
              </a:spcBef>
              <a:spcAft>
                <a:spcPts val="0"/>
              </a:spcAft>
            </a:pPr>
            <a:r>
              <a:rPr sz="1250" b="1" i="0" spc="220">
                <a:solidFill>
                  <a:srgbClr val="94A3B8"/>
                </a:solidFill>
                <a:latin typeface="Inter"/>
              </a:rPr>
              <a:t>WHAT I BUILT</a:t>
            </a:r>
          </a:p>
        </p:txBody>
      </p:sp>
      <p:sp>
        <p:nvSpPr>
          <p:cNvPr id="3" name="TextBox 2"/>
          <p:cNvSpPr txBox="1"/>
          <p:nvPr/>
        </p:nvSpPr>
        <p:spPr>
          <a:xfrm>
            <a:off x="777240" y="932688"/>
            <a:ext cx="10607040" cy="914400"/>
          </a:xfrm>
          <a:prstGeom prst="rect">
            <a:avLst/>
          </a:prstGeom>
          <a:noFill/>
        </p:spPr>
        <p:txBody>
          <a:bodyPr wrap="square" anchor="t" lIns="0" rIns="0" tIns="0" bIns="0">
            <a:spAutoFit/>
          </a:bodyPr>
          <a:lstStyle/>
          <a:p>
            <a:pPr algn="l">
              <a:lnSpc>
                <a:spcPct val="100000"/>
              </a:lnSpc>
              <a:spcBef>
                <a:spcPts val="0"/>
              </a:spcBef>
              <a:spcAft>
                <a:spcPts val="0"/>
              </a:spcAft>
            </a:pPr>
            <a:r>
              <a:rPr sz="4000" b="0" i="0">
                <a:solidFill>
                  <a:srgbClr val="F0F4F8"/>
                </a:solidFill>
                <a:latin typeface="Cormorant Garamond"/>
              </a:rPr>
              <a:t>Eight days. </a:t>
            </a:r>
            <a:r>
              <a:rPr sz="4000" b="0" i="1">
                <a:solidFill>
                  <a:srgbClr val="F0F4F8"/>
                </a:solidFill>
                <a:latin typeface="Cormorant Garamond"/>
              </a:rPr>
              <a:t>One platform.</a:t>
            </a:r>
          </a:p>
        </p:txBody>
      </p:sp>
      <p:sp>
        <p:nvSpPr>
          <p:cNvPr id="4" name="Rectangle 3"/>
          <p:cNvSpPr/>
          <p:nvPr/>
        </p:nvSpPr>
        <p:spPr>
          <a:xfrm>
            <a:off x="777240" y="1874519"/>
            <a:ext cx="10607040" cy="11887"/>
          </a:xfrm>
          <a:prstGeom prst="rect">
            <a:avLst/>
          </a:prstGeom>
          <a:solidFill>
            <a:srgbClr val="2A38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2139696"/>
            <a:ext cx="3419856" cy="3611880"/>
          </a:xfrm>
          <a:prstGeom prst="roundRect">
            <a:avLst>
              <a:gd name="adj" fmla="val 6000"/>
            </a:avLst>
          </a:prstGeom>
          <a:solidFill>
            <a:srgbClr val="1A2436"/>
          </a:solidFill>
          <a:ln w="9525">
            <a:solidFill>
              <a:srgbClr val="2A38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33271" y="2340864"/>
            <a:ext cx="2962656" cy="3200400"/>
          </a:xfrm>
          <a:prstGeom prst="rect">
            <a:avLst/>
          </a:prstGeom>
          <a:noFill/>
        </p:spPr>
        <p:txBody>
          <a:bodyPr wrap="square" anchor="t" lIns="0" rIns="0" tIns="0" bIns="0">
            <a:spAutoFit/>
          </a:bodyPr>
          <a:lstStyle/>
          <a:p>
            <a:pPr algn="l">
              <a:lnSpc>
                <a:spcPct val="112000"/>
              </a:lnSpc>
              <a:spcBef>
                <a:spcPts val="0"/>
              </a:spcBef>
              <a:spcAft>
                <a:spcPts val="1100"/>
              </a:spcAft>
            </a:pPr>
            <a:r>
              <a:rPr sz="2100" b="0" i="0">
                <a:solidFill>
                  <a:srgbClr val="C9A961"/>
                </a:solidFill>
                <a:latin typeface="Cormorant Garamond"/>
              </a:rPr>
              <a:t>Deterministic engine</a:t>
            </a:r>
          </a:p>
          <a:p>
            <a:pPr algn="l">
              <a:lnSpc>
                <a:spcPct val="112000"/>
              </a:lnSpc>
              <a:spcBef>
                <a:spcPts val="0"/>
              </a:spcBef>
              <a:spcAft>
                <a:spcPts val="800"/>
              </a:spcAft>
            </a:pPr>
            <a:r>
              <a:rPr sz="1150" b="0" i="0">
                <a:solidFill>
                  <a:srgbClr val="8A7440"/>
                </a:solidFill>
                <a:latin typeface="Inter"/>
              </a:rPr>
              <a:t>—  </a:t>
            </a:r>
            <a:r>
              <a:rPr sz="1150" b="0" i="0">
                <a:solidFill>
                  <a:srgbClr val="94A3B8"/>
                </a:solidFill>
                <a:latin typeface="Inter"/>
              </a:rPr>
              <a:t>Resolves vendor name → entity → ownership graph → OFAC screen → audit briefing</a:t>
            </a:r>
          </a:p>
          <a:p>
            <a:pPr algn="l">
              <a:lnSpc>
                <a:spcPct val="112000"/>
              </a:lnSpc>
              <a:spcBef>
                <a:spcPts val="0"/>
              </a:spcBef>
              <a:spcAft>
                <a:spcPts val="800"/>
              </a:spcAft>
            </a:pPr>
            <a:r>
              <a:rPr sz="1150" b="0" i="0">
                <a:solidFill>
                  <a:srgbClr val="8A7440"/>
                </a:solidFill>
                <a:latin typeface="Inter"/>
              </a:rPr>
              <a:t>—  </a:t>
            </a:r>
            <a:r>
              <a:rPr sz="1150" b="0" i="0">
                <a:solidFill>
                  <a:srgbClr val="94A3B8"/>
                </a:solidFill>
                <a:latin typeface="Inter"/>
              </a:rPr>
              <a:t>No LLM in the data path — every number traces to a Sayari field on disk</a:t>
            </a:r>
          </a:p>
          <a:p>
            <a:pPr algn="l">
              <a:lnSpc>
                <a:spcPct val="112000"/>
              </a:lnSpc>
              <a:spcBef>
                <a:spcPts val="0"/>
              </a:spcBef>
              <a:spcAft>
                <a:spcPts val="800"/>
              </a:spcAft>
            </a:pPr>
            <a:r>
              <a:rPr sz="1150" b="0" i="0">
                <a:solidFill>
                  <a:srgbClr val="8A7440"/>
                </a:solidFill>
                <a:latin typeface="Inter"/>
              </a:rPr>
              <a:t>—  </a:t>
            </a:r>
            <a:r>
              <a:rPr sz="1150" b="0" i="0">
                <a:solidFill>
                  <a:srgbClr val="94A3B8"/>
                </a:solidFill>
                <a:latin typeface="Inter"/>
              </a:rPr>
              <a:t>The trust architecture: the model narrates, it never produces a value</a:t>
            </a:r>
          </a:p>
        </p:txBody>
      </p:sp>
      <p:sp>
        <p:nvSpPr>
          <p:cNvPr id="7" name="TextBox 6"/>
          <p:cNvSpPr txBox="1"/>
          <p:nvPr/>
        </p:nvSpPr>
        <p:spPr>
          <a:xfrm>
            <a:off x="1033271" y="5358384"/>
            <a:ext cx="2962656" cy="320040"/>
          </a:xfrm>
          <a:prstGeom prst="rect">
            <a:avLst/>
          </a:prstGeom>
          <a:noFill/>
        </p:spPr>
        <p:txBody>
          <a:bodyPr wrap="square" anchor="t" lIns="0" rIns="0" tIns="0" bIns="0">
            <a:spAutoFit/>
          </a:bodyPr>
          <a:lstStyle/>
          <a:p>
            <a:pPr algn="l">
              <a:lnSpc>
                <a:spcPct val="112000"/>
              </a:lnSpc>
              <a:spcBef>
                <a:spcPts val="0"/>
              </a:spcBef>
              <a:spcAft>
                <a:spcPts val="0"/>
              </a:spcAft>
            </a:pPr>
            <a:r>
              <a:rPr sz="800" b="0" i="0">
                <a:solidFill>
                  <a:srgbClr val="8A7440"/>
                </a:solidFill>
                <a:latin typeface="JetBrains Mono"/>
              </a:rPr>
              <a:t>packages/engine/  ·  services/api/tools/</a:t>
            </a:r>
          </a:p>
        </p:txBody>
      </p:sp>
      <p:sp>
        <p:nvSpPr>
          <p:cNvPr id="8" name="Rounded Rectangle 7"/>
          <p:cNvSpPr/>
          <p:nvPr/>
        </p:nvSpPr>
        <p:spPr>
          <a:xfrm>
            <a:off x="4453128" y="2139696"/>
            <a:ext cx="3419856" cy="3611880"/>
          </a:xfrm>
          <a:prstGeom prst="roundRect">
            <a:avLst>
              <a:gd name="adj" fmla="val 6000"/>
            </a:avLst>
          </a:prstGeom>
          <a:solidFill>
            <a:srgbClr val="1A2436"/>
          </a:solidFill>
          <a:ln w="9525">
            <a:solidFill>
              <a:srgbClr val="2A38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09160" y="2340864"/>
            <a:ext cx="2962656" cy="3200400"/>
          </a:xfrm>
          <a:prstGeom prst="rect">
            <a:avLst/>
          </a:prstGeom>
          <a:noFill/>
        </p:spPr>
        <p:txBody>
          <a:bodyPr wrap="square" anchor="t" lIns="0" rIns="0" tIns="0" bIns="0">
            <a:spAutoFit/>
          </a:bodyPr>
          <a:lstStyle/>
          <a:p>
            <a:pPr algn="l">
              <a:lnSpc>
                <a:spcPct val="112000"/>
              </a:lnSpc>
              <a:spcBef>
                <a:spcPts val="0"/>
              </a:spcBef>
              <a:spcAft>
                <a:spcPts val="1100"/>
              </a:spcAft>
            </a:pPr>
            <a:r>
              <a:rPr sz="2100" b="0" i="0">
                <a:solidFill>
                  <a:srgbClr val="C9A961"/>
                </a:solidFill>
                <a:latin typeface="Cormorant Garamond"/>
              </a:rPr>
              <a:t>Grounded co-pilot</a:t>
            </a:r>
          </a:p>
          <a:p>
            <a:pPr algn="l">
              <a:lnSpc>
                <a:spcPct val="112000"/>
              </a:lnSpc>
              <a:spcBef>
                <a:spcPts val="0"/>
              </a:spcBef>
              <a:spcAft>
                <a:spcPts val="800"/>
              </a:spcAft>
            </a:pPr>
            <a:r>
              <a:rPr sz="1150" b="0" i="0">
                <a:solidFill>
                  <a:srgbClr val="8A7440"/>
                </a:solidFill>
                <a:latin typeface="Inter"/>
              </a:rPr>
              <a:t>—  </a:t>
            </a:r>
            <a:r>
              <a:rPr sz="1150" b="0" i="0">
                <a:solidFill>
                  <a:srgbClr val="94A3B8"/>
                </a:solidFill>
                <a:latin typeface="Inter"/>
              </a:rPr>
              <a:t>Claude tool-use loop over the same typed tools, streamed via SSE</a:t>
            </a:r>
          </a:p>
          <a:p>
            <a:pPr algn="l">
              <a:lnSpc>
                <a:spcPct val="112000"/>
              </a:lnSpc>
              <a:spcBef>
                <a:spcPts val="0"/>
              </a:spcBef>
              <a:spcAft>
                <a:spcPts val="800"/>
              </a:spcAft>
            </a:pPr>
            <a:r>
              <a:rPr sz="1150" b="0" i="0">
                <a:solidFill>
                  <a:srgbClr val="8A7440"/>
                </a:solidFill>
                <a:latin typeface="Inter"/>
              </a:rPr>
              <a:t>—  </a:t>
            </a:r>
            <a:r>
              <a:rPr sz="1150" b="0" i="0">
                <a:solidFill>
                  <a:srgbClr val="94A3B8"/>
                </a:solidFill>
                <a:latin typeface="Inter"/>
              </a:rPr>
              <a:t>Cites every claim; the system prompt forbids fabrication</a:t>
            </a:r>
          </a:p>
          <a:p>
            <a:pPr algn="l">
              <a:lnSpc>
                <a:spcPct val="112000"/>
              </a:lnSpc>
              <a:spcBef>
                <a:spcPts val="0"/>
              </a:spcBef>
              <a:spcAft>
                <a:spcPts val="800"/>
              </a:spcAft>
            </a:pPr>
            <a:r>
              <a:rPr sz="1150" b="0" i="0">
                <a:solidFill>
                  <a:srgbClr val="8A7440"/>
                </a:solidFill>
                <a:latin typeface="Inter"/>
              </a:rPr>
              <a:t>—  </a:t>
            </a:r>
            <a:r>
              <a:rPr sz="1150" b="0" i="0">
                <a:solidFill>
                  <a:srgbClr val="94A3B8"/>
                </a:solidFill>
                <a:latin typeface="Inter"/>
              </a:rPr>
              <a:t>CACHED mode replays four real captured runs — zero API cost to demo</a:t>
            </a:r>
          </a:p>
        </p:txBody>
      </p:sp>
      <p:sp>
        <p:nvSpPr>
          <p:cNvPr id="10" name="TextBox 9"/>
          <p:cNvSpPr txBox="1"/>
          <p:nvPr/>
        </p:nvSpPr>
        <p:spPr>
          <a:xfrm>
            <a:off x="4709160" y="5358384"/>
            <a:ext cx="2962656" cy="320040"/>
          </a:xfrm>
          <a:prstGeom prst="rect">
            <a:avLst/>
          </a:prstGeom>
          <a:noFill/>
        </p:spPr>
        <p:txBody>
          <a:bodyPr wrap="square" anchor="t" lIns="0" rIns="0" tIns="0" bIns="0">
            <a:spAutoFit/>
          </a:bodyPr>
          <a:lstStyle/>
          <a:p>
            <a:pPr algn="l">
              <a:lnSpc>
                <a:spcPct val="112000"/>
              </a:lnSpc>
              <a:spcBef>
                <a:spcPts val="0"/>
              </a:spcBef>
              <a:spcAft>
                <a:spcPts val="0"/>
              </a:spcAft>
            </a:pPr>
            <a:r>
              <a:rPr sz="800" b="0" i="0">
                <a:solidFill>
                  <a:srgbClr val="8A7440"/>
                </a:solidFill>
                <a:latin typeface="JetBrains Mono"/>
              </a:rPr>
              <a:t>services/api/agent/runner.py</a:t>
            </a:r>
          </a:p>
        </p:txBody>
      </p:sp>
      <p:sp>
        <p:nvSpPr>
          <p:cNvPr id="11" name="Rounded Rectangle 10"/>
          <p:cNvSpPr/>
          <p:nvPr/>
        </p:nvSpPr>
        <p:spPr>
          <a:xfrm>
            <a:off x="8129016" y="2139696"/>
            <a:ext cx="3419856" cy="3611880"/>
          </a:xfrm>
          <a:prstGeom prst="roundRect">
            <a:avLst>
              <a:gd name="adj" fmla="val 6000"/>
            </a:avLst>
          </a:prstGeom>
          <a:solidFill>
            <a:srgbClr val="1A2436"/>
          </a:solidFill>
          <a:ln w="9525">
            <a:solidFill>
              <a:srgbClr val="2A38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85048" y="2340864"/>
            <a:ext cx="2962656" cy="3200400"/>
          </a:xfrm>
          <a:prstGeom prst="rect">
            <a:avLst/>
          </a:prstGeom>
          <a:noFill/>
        </p:spPr>
        <p:txBody>
          <a:bodyPr wrap="square" anchor="t" lIns="0" rIns="0" tIns="0" bIns="0">
            <a:spAutoFit/>
          </a:bodyPr>
          <a:lstStyle/>
          <a:p>
            <a:pPr algn="l">
              <a:lnSpc>
                <a:spcPct val="112000"/>
              </a:lnSpc>
              <a:spcBef>
                <a:spcPts val="0"/>
              </a:spcBef>
              <a:spcAft>
                <a:spcPts val="1100"/>
              </a:spcAft>
            </a:pPr>
            <a:r>
              <a:rPr sz="2100" b="0" i="0">
                <a:solidFill>
                  <a:srgbClr val="C9A961"/>
                </a:solidFill>
                <a:latin typeface="Cormorant Garamond"/>
              </a:rPr>
              <a:t>MCP-exposed tools</a:t>
            </a:r>
          </a:p>
          <a:p>
            <a:pPr algn="l">
              <a:lnSpc>
                <a:spcPct val="112000"/>
              </a:lnSpc>
              <a:spcBef>
                <a:spcPts val="0"/>
              </a:spcBef>
              <a:spcAft>
                <a:spcPts val="800"/>
              </a:spcAft>
            </a:pPr>
            <a:r>
              <a:rPr sz="1150" b="0" i="0">
                <a:solidFill>
                  <a:srgbClr val="8A7440"/>
                </a:solidFill>
                <a:latin typeface="Inter"/>
              </a:rPr>
              <a:t>—  </a:t>
            </a:r>
            <a:r>
              <a:rPr sz="1150" b="0" i="0">
                <a:solidFill>
                  <a:srgbClr val="94A3B8"/>
                </a:solidFill>
                <a:latin typeface="Inter"/>
              </a:rPr>
              <a:t>Six capabilities exposed over the Model Context Protocol</a:t>
            </a:r>
          </a:p>
          <a:p>
            <a:pPr algn="l">
              <a:lnSpc>
                <a:spcPct val="112000"/>
              </a:lnSpc>
              <a:spcBef>
                <a:spcPts val="0"/>
              </a:spcBef>
              <a:spcAft>
                <a:spcPts val="800"/>
              </a:spcAft>
            </a:pPr>
            <a:r>
              <a:rPr sz="1150" b="0" i="0">
                <a:solidFill>
                  <a:srgbClr val="8A7440"/>
                </a:solidFill>
                <a:latin typeface="Inter"/>
              </a:rPr>
              <a:t>—  </a:t>
            </a:r>
            <a:r>
              <a:rPr sz="1150" b="0" i="0">
                <a:solidFill>
                  <a:srgbClr val="94A3B8"/>
                </a:solidFill>
                <a:latin typeface="Inter"/>
              </a:rPr>
              <a:t>Direct engine import — callable from Claude Desktop or any MCP client</a:t>
            </a:r>
          </a:p>
          <a:p>
            <a:pPr algn="l">
              <a:lnSpc>
                <a:spcPct val="112000"/>
              </a:lnSpc>
              <a:spcBef>
                <a:spcPts val="0"/>
              </a:spcBef>
              <a:spcAft>
                <a:spcPts val="800"/>
              </a:spcAft>
            </a:pPr>
            <a:r>
              <a:rPr sz="1150" b="0" i="0">
                <a:solidFill>
                  <a:srgbClr val="8A7440"/>
                </a:solidFill>
                <a:latin typeface="Inter"/>
              </a:rPr>
              <a:t>—  </a:t>
            </a:r>
            <a:r>
              <a:rPr sz="1150" b="0" i="0">
                <a:solidFill>
                  <a:srgbClr val="94A3B8"/>
                </a:solidFill>
                <a:latin typeface="Inter"/>
              </a:rPr>
              <a:t>Platform thinking: the same engine serves humans and agents</a:t>
            </a:r>
          </a:p>
        </p:txBody>
      </p:sp>
      <p:sp>
        <p:nvSpPr>
          <p:cNvPr id="13" name="TextBox 12"/>
          <p:cNvSpPr txBox="1"/>
          <p:nvPr/>
        </p:nvSpPr>
        <p:spPr>
          <a:xfrm>
            <a:off x="8385048" y="5358384"/>
            <a:ext cx="2962656" cy="320040"/>
          </a:xfrm>
          <a:prstGeom prst="rect">
            <a:avLst/>
          </a:prstGeom>
          <a:noFill/>
        </p:spPr>
        <p:txBody>
          <a:bodyPr wrap="square" anchor="t" lIns="0" rIns="0" tIns="0" bIns="0">
            <a:spAutoFit/>
          </a:bodyPr>
          <a:lstStyle/>
          <a:p>
            <a:pPr algn="l">
              <a:lnSpc>
                <a:spcPct val="112000"/>
              </a:lnSpc>
              <a:spcBef>
                <a:spcPts val="0"/>
              </a:spcBef>
              <a:spcAft>
                <a:spcPts val="0"/>
              </a:spcAft>
            </a:pPr>
            <a:r>
              <a:rPr sz="800" b="0" i="0">
                <a:solidFill>
                  <a:srgbClr val="8A7440"/>
                </a:solidFill>
                <a:latin typeface="JetBrains Mono"/>
              </a:rPr>
              <a:t>services/mcp/server.py</a:t>
            </a:r>
          </a:p>
        </p:txBody>
      </p:sp>
      <p:sp>
        <p:nvSpPr>
          <p:cNvPr id="14" name="Rounded Rectangle 13"/>
          <p:cNvSpPr/>
          <p:nvPr/>
        </p:nvSpPr>
        <p:spPr>
          <a:xfrm>
            <a:off x="777240" y="5961888"/>
            <a:ext cx="10625328" cy="566928"/>
          </a:xfrm>
          <a:prstGeom prst="roundRect">
            <a:avLst>
              <a:gd name="adj" fmla="val 6000"/>
            </a:avLst>
          </a:prstGeom>
          <a:solidFill>
            <a:srgbClr val="243149"/>
          </a:solidFill>
          <a:ln w="9525">
            <a:solidFill>
              <a:srgbClr val="2A38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6053328"/>
            <a:ext cx="10149840" cy="411480"/>
          </a:xfrm>
          <a:prstGeom prst="rect">
            <a:avLst/>
          </a:prstGeom>
          <a:noFill/>
        </p:spPr>
        <p:txBody>
          <a:bodyPr wrap="square" anchor="ctr" lIns="0" rIns="0" tIns="0" bIns="0">
            <a:spAutoFit/>
          </a:bodyPr>
          <a:lstStyle/>
          <a:p>
            <a:pPr algn="l">
              <a:lnSpc>
                <a:spcPct val="112000"/>
              </a:lnSpc>
              <a:spcBef>
                <a:spcPts val="0"/>
              </a:spcBef>
              <a:spcAft>
                <a:spcPts val="0"/>
              </a:spcAft>
            </a:pPr>
            <a:r>
              <a:rPr sz="1100" b="0" i="0">
                <a:solidFill>
                  <a:srgbClr val="C9A961"/>
                </a:solidFill>
                <a:latin typeface="JetBrains Mono"/>
              </a:rPr>
              <a:t>13,000+ lines  ·  </a:t>
            </a:r>
            <a:r>
              <a:rPr sz="1100" b="0" i="0">
                <a:solidFill>
                  <a:srgbClr val="94A3B8"/>
                </a:solidFill>
                <a:latin typeface="Inter"/>
              </a:rPr>
              <a:t>Python (FastAPI) + React (Babel-standalone)  ·  Production architecture from day one  ·  </a:t>
            </a:r>
            <a:r>
              <a:rPr sz="1100" b="0" i="0">
                <a:solidFill>
                  <a:srgbClr val="F0F4F8"/>
                </a:solidFill>
                <a:latin typeface="JetBrains Mono"/>
              </a:rPr>
              <a:t>docker compose up  →  localhost:8000/ui/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50B14"/>
        </a:solidFill>
        <a:effectLst/>
      </p:bgPr>
    </p:bg>
    <p:spTree>
      <p:nvGrpSpPr>
        <p:cNvPr id="1" name=""/>
        <p:cNvGrpSpPr/>
        <p:nvPr/>
      </p:nvGrpSpPr>
      <p:grpSpPr/>
      <p:sp>
        <p:nvSpPr>
          <p:cNvPr id="2" name="TextBox 1"/>
          <p:cNvSpPr txBox="1"/>
          <p:nvPr/>
        </p:nvSpPr>
        <p:spPr>
          <a:xfrm>
            <a:off x="777240" y="2148840"/>
            <a:ext cx="10607040" cy="914400"/>
          </a:xfrm>
          <a:prstGeom prst="rect">
            <a:avLst/>
          </a:prstGeom>
          <a:noFill/>
        </p:spPr>
        <p:txBody>
          <a:bodyPr wrap="square" anchor="ctr" lIns="0" rIns="0" tIns="0" bIns="0">
            <a:spAutoFit/>
          </a:bodyPr>
          <a:lstStyle/>
          <a:p>
            <a:pPr algn="ctr">
              <a:lnSpc>
                <a:spcPct val="112000"/>
              </a:lnSpc>
              <a:spcBef>
                <a:spcPts val="0"/>
              </a:spcBef>
              <a:spcAft>
                <a:spcPts val="1000"/>
              </a:spcAft>
            </a:pPr>
            <a:r>
              <a:rPr sz="3000" b="1" i="0" spc="150">
                <a:solidFill>
                  <a:srgbClr val="C9A961"/>
                </a:solidFill>
                <a:latin typeface="JetBrains Mono"/>
              </a:rPr>
              <a:t>[  SWITCH TO LIVE APP  ]</a:t>
            </a:r>
          </a:p>
        </p:txBody>
      </p:sp>
      <p:sp>
        <p:nvSpPr>
          <p:cNvPr id="3" name="TextBox 2"/>
          <p:cNvSpPr txBox="1"/>
          <p:nvPr/>
        </p:nvSpPr>
        <p:spPr>
          <a:xfrm>
            <a:off x="777240" y="3200400"/>
            <a:ext cx="10607040" cy="548640"/>
          </a:xfrm>
          <a:prstGeom prst="rect">
            <a:avLst/>
          </a:prstGeom>
          <a:noFill/>
        </p:spPr>
        <p:txBody>
          <a:bodyPr wrap="square" anchor="ctr" lIns="0" rIns="0" tIns="0" bIns="0">
            <a:spAutoFit/>
          </a:bodyPr>
          <a:lstStyle/>
          <a:p>
            <a:pPr algn="ctr">
              <a:lnSpc>
                <a:spcPct val="112000"/>
              </a:lnSpc>
              <a:spcBef>
                <a:spcPts val="0"/>
              </a:spcBef>
              <a:spcAft>
                <a:spcPts val="0"/>
              </a:spcAft>
            </a:pPr>
            <a:r>
              <a:rPr sz="1800" b="0" i="0">
                <a:solidFill>
                  <a:srgbClr val="F0F4F8"/>
                </a:solidFill>
                <a:latin typeface="JetBrains Mono"/>
              </a:rPr>
              <a:t>localhost:8000/ui/      ·      docker compose up</a:t>
            </a:r>
          </a:p>
        </p:txBody>
      </p:sp>
      <p:sp>
        <p:nvSpPr>
          <p:cNvPr id="4" name="Rounded Rectangle 3"/>
          <p:cNvSpPr/>
          <p:nvPr/>
        </p:nvSpPr>
        <p:spPr>
          <a:xfrm>
            <a:off x="2651760" y="4160520"/>
            <a:ext cx="6858000" cy="2286000"/>
          </a:xfrm>
          <a:prstGeom prst="roundRect">
            <a:avLst>
              <a:gd name="adj" fmla="val 6000"/>
            </a:avLst>
          </a:prstGeom>
          <a:solidFill>
            <a:srgbClr val="0A1628"/>
          </a:solidFill>
          <a:ln w="9525">
            <a:solidFill>
              <a:srgbClr val="2A38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71800" y="4370832"/>
            <a:ext cx="6309360" cy="1920240"/>
          </a:xfrm>
          <a:prstGeom prst="rect">
            <a:avLst/>
          </a:prstGeom>
          <a:noFill/>
        </p:spPr>
        <p:txBody>
          <a:bodyPr wrap="square" anchor="t" lIns="0" rIns="0" tIns="0" bIns="0">
            <a:spAutoFit/>
          </a:bodyPr>
          <a:lstStyle/>
          <a:p>
            <a:pPr algn="l">
              <a:lnSpc>
                <a:spcPct val="112000"/>
              </a:lnSpc>
              <a:spcBef>
                <a:spcPts val="0"/>
              </a:spcBef>
              <a:spcAft>
                <a:spcPts val="800"/>
              </a:spcAft>
            </a:pPr>
            <a:r>
              <a:rPr sz="1050" b="1" i="0" spc="200">
                <a:solidFill>
                  <a:srgbClr val="C9A961"/>
                </a:solidFill>
                <a:latin typeface="Inter"/>
              </a:rPr>
              <a:t>DEMO PATH</a:t>
            </a:r>
          </a:p>
          <a:p>
            <a:pPr algn="l">
              <a:lnSpc>
                <a:spcPct val="110000"/>
              </a:lnSpc>
              <a:spcBef>
                <a:spcPts val="0"/>
              </a:spcBef>
              <a:spcAft>
                <a:spcPts val="500"/>
              </a:spcAft>
            </a:pPr>
            <a:r>
              <a:rPr sz="1100" b="0" i="0">
                <a:solidFill>
                  <a:srgbClr val="C9A961"/>
                </a:solidFill>
                <a:latin typeface="JetBrains Mono"/>
              </a:rPr>
              <a:t>1.  </a:t>
            </a:r>
            <a:r>
              <a:rPr sz="1100" b="0" i="0">
                <a:solidFill>
                  <a:srgbClr val="94A3B8"/>
                </a:solidFill>
                <a:latin typeface="Inter"/>
              </a:rPr>
              <a:t>Investigations dashboard → open “Q1 2026 Vendor Onboarding”</a:t>
            </a:r>
          </a:p>
          <a:p>
            <a:pPr algn="l">
              <a:lnSpc>
                <a:spcPct val="110000"/>
              </a:lnSpc>
              <a:spcBef>
                <a:spcPts val="0"/>
              </a:spcBef>
              <a:spcAft>
                <a:spcPts val="500"/>
              </a:spcAft>
            </a:pPr>
            <a:r>
              <a:rPr sz="1100" b="0" i="0">
                <a:solidFill>
                  <a:srgbClr val="C9A961"/>
                </a:solidFill>
                <a:latin typeface="JetBrains Mono"/>
              </a:rPr>
              <a:t>2.  </a:t>
            </a:r>
            <a:r>
              <a:rPr sz="1100" b="0" i="0">
                <a:solidFill>
                  <a:srgbClr val="94A3B8"/>
                </a:solidFill>
                <a:latin typeface="Inter"/>
              </a:rPr>
              <a:t>Compare → Run Composition (50 → 49 → 45 → 40), then the funnel</a:t>
            </a:r>
          </a:p>
          <a:p>
            <a:pPr algn="l">
              <a:lnSpc>
                <a:spcPct val="110000"/>
              </a:lnSpc>
              <a:spcBef>
                <a:spcPts val="0"/>
              </a:spcBef>
              <a:spcAft>
                <a:spcPts val="500"/>
              </a:spcAft>
            </a:pPr>
            <a:r>
              <a:rPr sz="1100" b="0" i="0">
                <a:solidFill>
                  <a:srgbClr val="C9A961"/>
                </a:solidFill>
                <a:latin typeface="JetBrains Mono"/>
              </a:rPr>
              <a:t>3.  </a:t>
            </a:r>
            <a:r>
              <a:rPr sz="1100" b="0" i="0">
                <a:solidFill>
                  <a:srgbClr val="94A3B8"/>
                </a:solidFill>
                <a:latin typeface="Inter"/>
              </a:rPr>
              <a:t>Ownership-gap spotlight → click MiG Corporation</a:t>
            </a:r>
          </a:p>
          <a:p>
            <a:pPr algn="l">
              <a:lnSpc>
                <a:spcPct val="110000"/>
              </a:lnSpc>
              <a:spcBef>
                <a:spcPts val="0"/>
              </a:spcBef>
              <a:spcAft>
                <a:spcPts val="500"/>
              </a:spcAft>
            </a:pPr>
            <a:r>
              <a:rPr sz="1100" b="0" i="0">
                <a:solidFill>
                  <a:srgbClr val="C9A961"/>
                </a:solidFill>
                <a:latin typeface="JetBrains Mono"/>
              </a:rPr>
              <a:t>4.  </a:t>
            </a:r>
            <a:r>
              <a:rPr sz="1100" b="0" i="0">
                <a:solidFill>
                  <a:srgbClr val="94A3B8"/>
                </a:solidFill>
                <a:latin typeface="Inter"/>
              </a:rPr>
              <a:t>Entity detail → ownership graph → traverse to United Aircraft (SDN)</a:t>
            </a:r>
          </a:p>
          <a:p>
            <a:pPr algn="l">
              <a:lnSpc>
                <a:spcPct val="110000"/>
              </a:lnSpc>
              <a:spcBef>
                <a:spcPts val="0"/>
              </a:spcBef>
              <a:spcAft>
                <a:spcPts val="500"/>
              </a:spcAft>
            </a:pPr>
            <a:r>
              <a:rPr sz="1100" b="0" i="0">
                <a:solidFill>
                  <a:srgbClr val="C9A961"/>
                </a:solidFill>
                <a:latin typeface="JetBrains Mono"/>
              </a:rPr>
              <a:t>5.  </a:t>
            </a:r>
            <a:r>
              <a:rPr sz="1100" b="0" i="0">
                <a:solidFill>
                  <a:srgbClr val="94A3B8"/>
                </a:solidFill>
                <a:latin typeface="Inter"/>
              </a:rPr>
              <a:t>Co-Pilot → grounded answer with cited tool calls (cached)</a:t>
            </a:r>
          </a:p>
          <a:p>
            <a:pPr algn="l">
              <a:lnSpc>
                <a:spcPct val="110000"/>
              </a:lnSpc>
              <a:spcBef>
                <a:spcPts val="0"/>
              </a:spcBef>
              <a:spcAft>
                <a:spcPts val="500"/>
              </a:spcAft>
            </a:pPr>
            <a:r>
              <a:rPr sz="1100" b="0" i="0">
                <a:solidFill>
                  <a:srgbClr val="C9A961"/>
                </a:solidFill>
                <a:latin typeface="JetBrains Mono"/>
              </a:rPr>
              <a:t>6.  </a:t>
            </a:r>
            <a:r>
              <a:rPr sz="1100" b="0" i="0">
                <a:solidFill>
                  <a:srgbClr val="94A3B8"/>
                </a:solidFill>
                <a:latin typeface="Inter"/>
              </a:rPr>
              <a:t>MCP via Claude Desktop — if time permits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777240" y="566928"/>
            <a:ext cx="10607040" cy="365760"/>
          </a:xfrm>
          <a:prstGeom prst="rect">
            <a:avLst/>
          </a:prstGeom>
          <a:noFill/>
        </p:spPr>
        <p:txBody>
          <a:bodyPr wrap="square" anchor="t" lIns="0" rIns="0" tIns="0" bIns="0">
            <a:spAutoFit/>
          </a:bodyPr>
          <a:lstStyle/>
          <a:p>
            <a:pPr algn="l">
              <a:lnSpc>
                <a:spcPct val="112000"/>
              </a:lnSpc>
              <a:spcBef>
                <a:spcPts val="0"/>
              </a:spcBef>
              <a:spcAft>
                <a:spcPts val="0"/>
              </a:spcAft>
            </a:pPr>
            <a:r>
              <a:rPr sz="1250" b="1" i="0" spc="220">
                <a:solidFill>
                  <a:srgbClr val="94A3B8"/>
                </a:solidFill>
                <a:latin typeface="Inter"/>
              </a:rPr>
              <a:t>ARCHITECTURE AT A GLANCE</a:t>
            </a:r>
          </a:p>
        </p:txBody>
      </p:sp>
      <p:sp>
        <p:nvSpPr>
          <p:cNvPr id="3" name="TextBox 2"/>
          <p:cNvSpPr txBox="1"/>
          <p:nvPr/>
        </p:nvSpPr>
        <p:spPr>
          <a:xfrm>
            <a:off x="777240" y="932688"/>
            <a:ext cx="10607040" cy="914400"/>
          </a:xfrm>
          <a:prstGeom prst="rect">
            <a:avLst/>
          </a:prstGeom>
          <a:noFill/>
        </p:spPr>
        <p:txBody>
          <a:bodyPr wrap="square" anchor="t" lIns="0" rIns="0" tIns="0" bIns="0">
            <a:spAutoFit/>
          </a:bodyPr>
          <a:lstStyle/>
          <a:p>
            <a:pPr algn="l">
              <a:lnSpc>
                <a:spcPct val="100000"/>
              </a:lnSpc>
              <a:spcBef>
                <a:spcPts val="0"/>
              </a:spcBef>
              <a:spcAft>
                <a:spcPts val="0"/>
              </a:spcAft>
            </a:pPr>
            <a:r>
              <a:rPr sz="3800" b="0" i="0">
                <a:solidFill>
                  <a:srgbClr val="F0F4F8"/>
                </a:solidFill>
                <a:latin typeface="Cormorant Garamond"/>
              </a:rPr>
              <a:t>Four parts, one engine.</a:t>
            </a:r>
          </a:p>
        </p:txBody>
      </p:sp>
      <p:sp>
        <p:nvSpPr>
          <p:cNvPr id="4" name="Rounded Rectangle 3"/>
          <p:cNvSpPr/>
          <p:nvPr/>
        </p:nvSpPr>
        <p:spPr>
          <a:xfrm>
            <a:off x="777240" y="1783080"/>
            <a:ext cx="7040880" cy="658368"/>
          </a:xfrm>
          <a:prstGeom prst="roundRect">
            <a:avLst>
              <a:gd name="adj" fmla="val 6000"/>
            </a:avLst>
          </a:prstGeom>
          <a:solidFill>
            <a:srgbClr val="1A2436"/>
          </a:solidFill>
          <a:ln w="9525">
            <a:solidFill>
              <a:srgbClr val="2A38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41832" y="1892807"/>
            <a:ext cx="6711696" cy="475488"/>
          </a:xfrm>
          <a:prstGeom prst="rect">
            <a:avLst/>
          </a:prstGeom>
          <a:noFill/>
        </p:spPr>
        <p:txBody>
          <a:bodyPr wrap="square" anchor="ctr" lIns="0" rIns="0" tIns="0" bIns="0">
            <a:spAutoFit/>
          </a:bodyPr>
          <a:lstStyle/>
          <a:p>
            <a:pPr algn="ctr">
              <a:lnSpc>
                <a:spcPct val="100000"/>
              </a:lnSpc>
              <a:spcBef>
                <a:spcPts val="0"/>
              </a:spcBef>
              <a:spcAft>
                <a:spcPts val="200"/>
              </a:spcAft>
            </a:pPr>
            <a:r>
              <a:rPr sz="1250" b="1" i="0">
                <a:solidFill>
                  <a:srgbClr val="F0F4F8"/>
                </a:solidFill>
                <a:latin typeface="Inter"/>
              </a:rPr>
              <a:t>React frontend  ·  Babel-standalone (no build step)</a:t>
            </a:r>
          </a:p>
          <a:p>
            <a:pPr algn="ctr">
              <a:lnSpc>
                <a:spcPct val="100000"/>
              </a:lnSpc>
              <a:spcBef>
                <a:spcPts val="0"/>
              </a:spcBef>
              <a:spcAft>
                <a:spcPts val="400"/>
              </a:spcAft>
            </a:pPr>
            <a:r>
              <a:rPr sz="800" b="0" i="0">
                <a:solidFill>
                  <a:srgbClr val="64748B"/>
                </a:solidFill>
                <a:latin typeface="JetBrains Mono"/>
              </a:rPr>
              <a:t>design-prototype/  →  mounted at /ui</a:t>
            </a:r>
          </a:p>
        </p:txBody>
      </p:sp>
      <p:sp>
        <p:nvSpPr>
          <p:cNvPr id="6" name="TextBox 5"/>
          <p:cNvSpPr txBox="1"/>
          <p:nvPr/>
        </p:nvSpPr>
        <p:spPr>
          <a:xfrm>
            <a:off x="777240" y="2468880"/>
            <a:ext cx="7040880" cy="237744"/>
          </a:xfrm>
          <a:prstGeom prst="rect">
            <a:avLst/>
          </a:prstGeom>
          <a:noFill/>
        </p:spPr>
        <p:txBody>
          <a:bodyPr wrap="square" anchor="ctr" lIns="0" rIns="0" tIns="0" bIns="0">
            <a:spAutoFit/>
          </a:bodyPr>
          <a:lstStyle/>
          <a:p>
            <a:pPr algn="ctr">
              <a:lnSpc>
                <a:spcPct val="112000"/>
              </a:lnSpc>
              <a:spcBef>
                <a:spcPts val="0"/>
              </a:spcBef>
              <a:spcAft>
                <a:spcPts val="0"/>
              </a:spcAft>
            </a:pPr>
            <a:r>
              <a:rPr sz="850" b="0" i="0">
                <a:solidFill>
                  <a:srgbClr val="64748B"/>
                </a:solidFill>
                <a:latin typeface="JetBrains Mono"/>
              </a:rPr>
              <a:t>▼   fetch + Server-Sent Events</a:t>
            </a:r>
          </a:p>
        </p:txBody>
      </p:sp>
      <p:sp>
        <p:nvSpPr>
          <p:cNvPr id="7" name="Rounded Rectangle 6"/>
          <p:cNvSpPr/>
          <p:nvPr/>
        </p:nvSpPr>
        <p:spPr>
          <a:xfrm>
            <a:off x="777240" y="2724912"/>
            <a:ext cx="7040880" cy="877824"/>
          </a:xfrm>
          <a:prstGeom prst="roundRect">
            <a:avLst>
              <a:gd name="adj" fmla="val 6000"/>
            </a:avLst>
          </a:prstGeom>
          <a:solidFill>
            <a:srgbClr val="1A2436"/>
          </a:solidFill>
          <a:ln w="9525">
            <a:solidFill>
              <a:srgbClr val="2A38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1832" y="2834640"/>
            <a:ext cx="6711696" cy="694944"/>
          </a:xfrm>
          <a:prstGeom prst="rect">
            <a:avLst/>
          </a:prstGeom>
          <a:noFill/>
        </p:spPr>
        <p:txBody>
          <a:bodyPr wrap="square" anchor="ctr" lIns="0" rIns="0" tIns="0" bIns="0">
            <a:spAutoFit/>
          </a:bodyPr>
          <a:lstStyle/>
          <a:p>
            <a:pPr algn="ctr">
              <a:lnSpc>
                <a:spcPct val="100000"/>
              </a:lnSpc>
              <a:spcBef>
                <a:spcPts val="0"/>
              </a:spcBef>
              <a:spcAft>
                <a:spcPts val="200"/>
              </a:spcAft>
            </a:pPr>
            <a:r>
              <a:rPr sz="1250" b="1" i="0">
                <a:solidFill>
                  <a:srgbClr val="C9A961"/>
                </a:solidFill>
                <a:latin typeface="Inter"/>
              </a:rPr>
              <a:t>FastAPI service  ·  services/api</a:t>
            </a:r>
          </a:p>
          <a:p>
            <a:pPr algn="ctr">
              <a:lnSpc>
                <a:spcPct val="100000"/>
              </a:lnSpc>
              <a:spcBef>
                <a:spcPts val="0"/>
              </a:spcBef>
              <a:spcAft>
                <a:spcPts val="400"/>
              </a:spcAft>
            </a:pPr>
            <a:r>
              <a:rPr sz="800" b="0" i="0">
                <a:solidFill>
                  <a:srgbClr val="64748B"/>
                </a:solidFill>
                <a:latin typeface="JetBrains Mono"/>
              </a:rPr>
              <a:t>tools API  ·  SSE streams  ·  OFAC matcher  ·  agent loop  ·  in-memory credential store</a:t>
            </a:r>
          </a:p>
        </p:txBody>
      </p:sp>
      <p:sp>
        <p:nvSpPr>
          <p:cNvPr id="9" name="TextBox 8"/>
          <p:cNvSpPr txBox="1"/>
          <p:nvPr/>
        </p:nvSpPr>
        <p:spPr>
          <a:xfrm>
            <a:off x="777240" y="3630168"/>
            <a:ext cx="7040880" cy="237744"/>
          </a:xfrm>
          <a:prstGeom prst="rect">
            <a:avLst/>
          </a:prstGeom>
          <a:noFill/>
        </p:spPr>
        <p:txBody>
          <a:bodyPr wrap="square" anchor="ctr" lIns="0" rIns="0" tIns="0" bIns="0">
            <a:spAutoFit/>
          </a:bodyPr>
          <a:lstStyle/>
          <a:p>
            <a:pPr algn="ctr">
              <a:lnSpc>
                <a:spcPct val="112000"/>
              </a:lnSpc>
              <a:spcBef>
                <a:spcPts val="0"/>
              </a:spcBef>
              <a:spcAft>
                <a:spcPts val="0"/>
              </a:spcAft>
            </a:pPr>
            <a:r>
              <a:rPr sz="850" b="0" i="0">
                <a:solidFill>
                  <a:srgbClr val="64748B"/>
                </a:solidFill>
                <a:latin typeface="JetBrains Mono"/>
              </a:rPr>
              <a:t>▼   direct import                              ▼   stdio (MCP)</a:t>
            </a:r>
          </a:p>
        </p:txBody>
      </p:sp>
      <p:sp>
        <p:nvSpPr>
          <p:cNvPr id="10" name="Rounded Rectangle 9"/>
          <p:cNvSpPr/>
          <p:nvPr/>
        </p:nvSpPr>
        <p:spPr>
          <a:xfrm>
            <a:off x="777240" y="3895344"/>
            <a:ext cx="3419856" cy="786384"/>
          </a:xfrm>
          <a:prstGeom prst="roundRect">
            <a:avLst>
              <a:gd name="adj" fmla="val 6000"/>
            </a:avLst>
          </a:prstGeom>
          <a:solidFill>
            <a:srgbClr val="243149"/>
          </a:solidFill>
          <a:ln w="9525">
            <a:solidFill>
              <a:srgbClr val="2A38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4005072"/>
            <a:ext cx="3090672" cy="603503"/>
          </a:xfrm>
          <a:prstGeom prst="rect">
            <a:avLst/>
          </a:prstGeom>
          <a:noFill/>
        </p:spPr>
        <p:txBody>
          <a:bodyPr wrap="square" anchor="ctr" lIns="0" rIns="0" tIns="0" bIns="0">
            <a:spAutoFit/>
          </a:bodyPr>
          <a:lstStyle/>
          <a:p>
            <a:pPr algn="ctr">
              <a:lnSpc>
                <a:spcPct val="100000"/>
              </a:lnSpc>
              <a:spcBef>
                <a:spcPts val="0"/>
              </a:spcBef>
              <a:spcAft>
                <a:spcPts val="200"/>
              </a:spcAft>
            </a:pPr>
            <a:r>
              <a:rPr sz="1250" b="1" i="0">
                <a:solidFill>
                  <a:srgbClr val="F0F4F8"/>
                </a:solidFill>
                <a:latin typeface="Inter"/>
              </a:rPr>
              <a:t>Importable engine</a:t>
            </a:r>
          </a:p>
          <a:p>
            <a:pPr algn="ctr">
              <a:lnSpc>
                <a:spcPct val="100000"/>
              </a:lnSpc>
              <a:spcBef>
                <a:spcPts val="0"/>
              </a:spcBef>
              <a:spcAft>
                <a:spcPts val="400"/>
              </a:spcAft>
            </a:pPr>
            <a:r>
              <a:rPr sz="800" b="0" i="0">
                <a:solidFill>
                  <a:srgbClr val="64748B"/>
                </a:solidFill>
                <a:latin typeface="JetBrains Mono"/>
              </a:rPr>
              <a:t>packages/engine/  ·  resolve · profile · cache · OFAC</a:t>
            </a:r>
          </a:p>
        </p:txBody>
      </p:sp>
      <p:sp>
        <p:nvSpPr>
          <p:cNvPr id="12" name="Rounded Rectangle 11"/>
          <p:cNvSpPr/>
          <p:nvPr/>
        </p:nvSpPr>
        <p:spPr>
          <a:xfrm>
            <a:off x="4398264" y="3895344"/>
            <a:ext cx="3419856" cy="786384"/>
          </a:xfrm>
          <a:prstGeom prst="roundRect">
            <a:avLst>
              <a:gd name="adj" fmla="val 6000"/>
            </a:avLst>
          </a:prstGeom>
          <a:solidFill>
            <a:srgbClr val="243149"/>
          </a:solidFill>
          <a:ln w="9525">
            <a:solidFill>
              <a:srgbClr val="2A38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62855" y="4005072"/>
            <a:ext cx="3090672" cy="603503"/>
          </a:xfrm>
          <a:prstGeom prst="rect">
            <a:avLst/>
          </a:prstGeom>
          <a:noFill/>
        </p:spPr>
        <p:txBody>
          <a:bodyPr wrap="square" anchor="ctr" lIns="0" rIns="0" tIns="0" bIns="0">
            <a:spAutoFit/>
          </a:bodyPr>
          <a:lstStyle/>
          <a:p>
            <a:pPr algn="ctr">
              <a:lnSpc>
                <a:spcPct val="100000"/>
              </a:lnSpc>
              <a:spcBef>
                <a:spcPts val="0"/>
              </a:spcBef>
              <a:spcAft>
                <a:spcPts val="200"/>
              </a:spcAft>
            </a:pPr>
            <a:r>
              <a:rPr sz="1250" b="1" i="0">
                <a:solidFill>
                  <a:srgbClr val="F0F4F8"/>
                </a:solidFill>
                <a:latin typeface="Inter"/>
              </a:rPr>
              <a:t>MCP server (Python)</a:t>
            </a:r>
          </a:p>
          <a:p>
            <a:pPr algn="ctr">
              <a:lnSpc>
                <a:spcPct val="100000"/>
              </a:lnSpc>
              <a:spcBef>
                <a:spcPts val="0"/>
              </a:spcBef>
              <a:spcAft>
                <a:spcPts val="400"/>
              </a:spcAft>
            </a:pPr>
            <a:r>
              <a:rPr sz="800" b="0" i="0">
                <a:solidFill>
                  <a:srgbClr val="64748B"/>
                </a:solidFill>
                <a:latin typeface="JetBrains Mono"/>
              </a:rPr>
              <a:t>services/mcp/  ·  6 tools  ·  direct import</a:t>
            </a:r>
          </a:p>
        </p:txBody>
      </p:sp>
      <p:sp>
        <p:nvSpPr>
          <p:cNvPr id="14" name="TextBox 13"/>
          <p:cNvSpPr txBox="1"/>
          <p:nvPr/>
        </p:nvSpPr>
        <p:spPr>
          <a:xfrm>
            <a:off x="777240" y="4709160"/>
            <a:ext cx="7040880" cy="237744"/>
          </a:xfrm>
          <a:prstGeom prst="rect">
            <a:avLst/>
          </a:prstGeom>
          <a:noFill/>
        </p:spPr>
        <p:txBody>
          <a:bodyPr wrap="square" anchor="ctr" lIns="0" rIns="0" tIns="0" bIns="0">
            <a:spAutoFit/>
          </a:bodyPr>
          <a:lstStyle/>
          <a:p>
            <a:pPr algn="ctr">
              <a:lnSpc>
                <a:spcPct val="112000"/>
              </a:lnSpc>
              <a:spcBef>
                <a:spcPts val="0"/>
              </a:spcBef>
              <a:spcAft>
                <a:spcPts val="0"/>
              </a:spcAft>
            </a:pPr>
            <a:r>
              <a:rPr sz="850" b="0" i="0">
                <a:solidFill>
                  <a:srgbClr val="64748B"/>
                </a:solidFill>
                <a:latin typeface="JetBrains Mono"/>
              </a:rPr>
              <a:t>▼   external calls</a:t>
            </a:r>
          </a:p>
        </p:txBody>
      </p:sp>
      <p:sp>
        <p:nvSpPr>
          <p:cNvPr id="15" name="Rounded Rectangle 14"/>
          <p:cNvSpPr/>
          <p:nvPr/>
        </p:nvSpPr>
        <p:spPr>
          <a:xfrm>
            <a:off x="777240" y="4974336"/>
            <a:ext cx="2212848" cy="658368"/>
          </a:xfrm>
          <a:prstGeom prst="roundRect">
            <a:avLst>
              <a:gd name="adj" fmla="val 6000"/>
            </a:avLst>
          </a:prstGeom>
          <a:solidFill>
            <a:srgbClr val="0A1628"/>
          </a:solidFill>
          <a:ln w="9525">
            <a:solidFill>
              <a:srgbClr val="2A38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1832" y="5084064"/>
            <a:ext cx="1883664" cy="475488"/>
          </a:xfrm>
          <a:prstGeom prst="rect">
            <a:avLst/>
          </a:prstGeom>
          <a:noFill/>
        </p:spPr>
        <p:txBody>
          <a:bodyPr wrap="square" anchor="ctr" lIns="0" rIns="0" tIns="0" bIns="0">
            <a:spAutoFit/>
          </a:bodyPr>
          <a:lstStyle/>
          <a:p>
            <a:pPr algn="ctr">
              <a:lnSpc>
                <a:spcPct val="100000"/>
              </a:lnSpc>
              <a:spcBef>
                <a:spcPts val="0"/>
              </a:spcBef>
              <a:spcAft>
                <a:spcPts val="200"/>
              </a:spcAft>
            </a:pPr>
            <a:r>
              <a:rPr sz="1250" b="1" i="0">
                <a:solidFill>
                  <a:srgbClr val="94A3B8"/>
                </a:solidFill>
                <a:latin typeface="Inter"/>
              </a:rPr>
              <a:t>Sayari SDK</a:t>
            </a:r>
          </a:p>
          <a:p>
            <a:pPr algn="ctr">
              <a:lnSpc>
                <a:spcPct val="100000"/>
              </a:lnSpc>
              <a:spcBef>
                <a:spcPts val="0"/>
              </a:spcBef>
              <a:spcAft>
                <a:spcPts val="400"/>
              </a:spcAft>
            </a:pPr>
            <a:r>
              <a:rPr sz="800" b="0" i="0">
                <a:solidFill>
                  <a:srgbClr val="64748B"/>
                </a:solidFill>
                <a:latin typeface="JetBrains Mono"/>
              </a:rPr>
              <a:t>OAuth · resolution · UBO</a:t>
            </a:r>
          </a:p>
        </p:txBody>
      </p:sp>
      <p:sp>
        <p:nvSpPr>
          <p:cNvPr id="17" name="Rounded Rectangle 16"/>
          <p:cNvSpPr/>
          <p:nvPr/>
        </p:nvSpPr>
        <p:spPr>
          <a:xfrm>
            <a:off x="3191256" y="4974336"/>
            <a:ext cx="2212848" cy="658368"/>
          </a:xfrm>
          <a:prstGeom prst="roundRect">
            <a:avLst>
              <a:gd name="adj" fmla="val 6000"/>
            </a:avLst>
          </a:prstGeom>
          <a:solidFill>
            <a:srgbClr val="0A1628"/>
          </a:solidFill>
          <a:ln w="9525">
            <a:solidFill>
              <a:srgbClr val="2A38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55848" y="5084064"/>
            <a:ext cx="1883664" cy="475488"/>
          </a:xfrm>
          <a:prstGeom prst="rect">
            <a:avLst/>
          </a:prstGeom>
          <a:noFill/>
        </p:spPr>
        <p:txBody>
          <a:bodyPr wrap="square" anchor="ctr" lIns="0" rIns="0" tIns="0" bIns="0">
            <a:spAutoFit/>
          </a:bodyPr>
          <a:lstStyle/>
          <a:p>
            <a:pPr algn="ctr">
              <a:lnSpc>
                <a:spcPct val="100000"/>
              </a:lnSpc>
              <a:spcBef>
                <a:spcPts val="0"/>
              </a:spcBef>
              <a:spcAft>
                <a:spcPts val="200"/>
              </a:spcAft>
            </a:pPr>
            <a:r>
              <a:rPr sz="1250" b="1" i="0">
                <a:solidFill>
                  <a:srgbClr val="94A3B8"/>
                </a:solidFill>
                <a:latin typeface="Inter"/>
              </a:rPr>
              <a:t>OFAC SDN</a:t>
            </a:r>
          </a:p>
          <a:p>
            <a:pPr algn="ctr">
              <a:lnSpc>
                <a:spcPct val="100000"/>
              </a:lnSpc>
              <a:spcBef>
                <a:spcPts val="0"/>
              </a:spcBef>
              <a:spcAft>
                <a:spcPts val="400"/>
              </a:spcAft>
            </a:pPr>
            <a:r>
              <a:rPr sz="800" b="0" i="0">
                <a:solidFill>
                  <a:srgbClr val="64748B"/>
                </a:solidFill>
                <a:latin typeface="JetBrains Mono"/>
              </a:rPr>
              <a:t>17,207 rows · local</a:t>
            </a:r>
          </a:p>
        </p:txBody>
      </p:sp>
      <p:sp>
        <p:nvSpPr>
          <p:cNvPr id="19" name="Rounded Rectangle 18"/>
          <p:cNvSpPr/>
          <p:nvPr/>
        </p:nvSpPr>
        <p:spPr>
          <a:xfrm>
            <a:off x="5605272" y="4974336"/>
            <a:ext cx="2212848" cy="658368"/>
          </a:xfrm>
          <a:prstGeom prst="roundRect">
            <a:avLst>
              <a:gd name="adj" fmla="val 6000"/>
            </a:avLst>
          </a:prstGeom>
          <a:solidFill>
            <a:srgbClr val="0A1628"/>
          </a:solidFill>
          <a:ln w="9525">
            <a:solidFill>
              <a:srgbClr val="2A38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69864" y="5084064"/>
            <a:ext cx="1883664" cy="475488"/>
          </a:xfrm>
          <a:prstGeom prst="rect">
            <a:avLst/>
          </a:prstGeom>
          <a:noFill/>
        </p:spPr>
        <p:txBody>
          <a:bodyPr wrap="square" anchor="ctr" lIns="0" rIns="0" tIns="0" bIns="0">
            <a:spAutoFit/>
          </a:bodyPr>
          <a:lstStyle/>
          <a:p>
            <a:pPr algn="ctr">
              <a:lnSpc>
                <a:spcPct val="100000"/>
              </a:lnSpc>
              <a:spcBef>
                <a:spcPts val="0"/>
              </a:spcBef>
              <a:spcAft>
                <a:spcPts val="200"/>
              </a:spcAft>
            </a:pPr>
            <a:r>
              <a:rPr sz="1250" b="1" i="0">
                <a:solidFill>
                  <a:srgbClr val="94A3B8"/>
                </a:solidFill>
                <a:latin typeface="Inter"/>
              </a:rPr>
              <a:t>Anthropic</a:t>
            </a:r>
          </a:p>
          <a:p>
            <a:pPr algn="ctr">
              <a:lnSpc>
                <a:spcPct val="100000"/>
              </a:lnSpc>
              <a:spcBef>
                <a:spcPts val="0"/>
              </a:spcBef>
              <a:spcAft>
                <a:spcPts val="400"/>
              </a:spcAft>
            </a:pPr>
            <a:r>
              <a:rPr sz="800" b="0" i="0">
                <a:solidFill>
                  <a:srgbClr val="64748B"/>
                </a:solidFill>
                <a:latin typeface="JetBrains Mono"/>
              </a:rPr>
              <a:t>claude-sonnet-4-6</a:t>
            </a:r>
          </a:p>
        </p:txBody>
      </p:sp>
      <p:sp>
        <p:nvSpPr>
          <p:cNvPr id="21" name="Rounded Rectangle 20"/>
          <p:cNvSpPr/>
          <p:nvPr/>
        </p:nvSpPr>
        <p:spPr>
          <a:xfrm>
            <a:off x="8138160" y="1783080"/>
            <a:ext cx="3276295" cy="3849624"/>
          </a:xfrm>
          <a:prstGeom prst="roundRect">
            <a:avLst>
              <a:gd name="adj" fmla="val 6000"/>
            </a:avLst>
          </a:prstGeom>
          <a:solidFill>
            <a:srgbClr val="1A2436"/>
          </a:solidFill>
          <a:ln w="9525">
            <a:solidFill>
              <a:srgbClr val="2A38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66760" y="1975104"/>
            <a:ext cx="2819095" cy="3566160"/>
          </a:xfrm>
          <a:prstGeom prst="rect">
            <a:avLst/>
          </a:prstGeom>
          <a:noFill/>
        </p:spPr>
        <p:txBody>
          <a:bodyPr wrap="square" anchor="t" lIns="0" rIns="0" tIns="0" bIns="0">
            <a:spAutoFit/>
          </a:bodyPr>
          <a:lstStyle/>
          <a:p>
            <a:pPr algn="l">
              <a:lnSpc>
                <a:spcPct val="112000"/>
              </a:lnSpc>
              <a:spcBef>
                <a:spcPts val="0"/>
              </a:spcBef>
              <a:spcAft>
                <a:spcPts val="900"/>
              </a:spcAft>
            </a:pPr>
            <a:r>
              <a:rPr sz="1050" b="1" i="0" spc="200">
                <a:solidFill>
                  <a:srgbClr val="C9A961"/>
                </a:solidFill>
                <a:latin typeface="Inter"/>
              </a:rPr>
              <a:t>PERSISTENCE</a:t>
            </a:r>
          </a:p>
          <a:p>
            <a:pPr algn="l">
              <a:lnSpc>
                <a:spcPct val="112000"/>
              </a:lnSpc>
              <a:spcBef>
                <a:spcPts val="0"/>
              </a:spcBef>
              <a:spcAft>
                <a:spcPts val="300"/>
              </a:spcAft>
            </a:pPr>
            <a:r>
              <a:rPr sz="1250" b="1" i="0">
                <a:solidFill>
                  <a:srgbClr val="F0F4F8"/>
                </a:solidFill>
                <a:latin typeface="Inter"/>
              </a:rPr>
              <a:t>File-based by default</a:t>
            </a:r>
          </a:p>
          <a:p>
            <a:pPr algn="l">
              <a:lnSpc>
                <a:spcPct val="105000"/>
              </a:lnSpc>
              <a:spcBef>
                <a:spcPts val="0"/>
              </a:spcBef>
              <a:spcAft>
                <a:spcPts val="300"/>
              </a:spcAft>
            </a:pPr>
            <a:r>
              <a:rPr sz="860" b="0" i="0">
                <a:solidFill>
                  <a:srgbClr val="94A3B8"/>
                </a:solidFill>
                <a:latin typeface="JetBrains Mono"/>
              </a:rPr>
              <a:t>output/raw/  — 100 entity profiles</a:t>
            </a:r>
          </a:p>
          <a:p>
            <a:pPr algn="l">
              <a:lnSpc>
                <a:spcPct val="105000"/>
              </a:lnSpc>
              <a:spcBef>
                <a:spcPts val="0"/>
              </a:spcBef>
              <a:spcAft>
                <a:spcPts val="300"/>
              </a:spcAft>
            </a:pPr>
            <a:r>
              <a:rPr sz="860" b="0" i="0">
                <a:solidFill>
                  <a:srgbClr val="94A3B8"/>
                </a:solidFill>
                <a:latin typeface="JetBrains Mono"/>
              </a:rPr>
              <a:t>output/raw/traversal/  — 66 graphs</a:t>
            </a:r>
          </a:p>
          <a:p>
            <a:pPr algn="l">
              <a:lnSpc>
                <a:spcPct val="105000"/>
              </a:lnSpc>
              <a:spcBef>
                <a:spcPts val="0"/>
              </a:spcBef>
              <a:spcAft>
                <a:spcPts val="300"/>
              </a:spcAft>
            </a:pPr>
            <a:r>
              <a:rPr sz="860" b="0" i="0">
                <a:solidFill>
                  <a:srgbClr val="94A3B8"/>
                </a:solidFill>
                <a:latin typeface="JetBrains Mono"/>
              </a:rPr>
              <a:t>output/runs/  — per-run caches</a:t>
            </a:r>
          </a:p>
          <a:p>
            <a:pPr algn="l">
              <a:lnSpc>
                <a:spcPct val="105000"/>
              </a:lnSpc>
              <a:spcBef>
                <a:spcPts val="0"/>
              </a:spcBef>
              <a:spcAft>
                <a:spcPts val="300"/>
              </a:spcAft>
            </a:pPr>
            <a:r>
              <a:rPr sz="860" b="0" i="0">
                <a:solidFill>
                  <a:srgbClr val="94A3B8"/>
                </a:solidFill>
                <a:latin typeface="JetBrains Mono"/>
              </a:rPr>
              <a:t>output/agent_runs/  — 4 golden traces</a:t>
            </a:r>
          </a:p>
          <a:p>
            <a:pPr algn="l">
              <a:lnSpc>
                <a:spcPct val="112000"/>
              </a:lnSpc>
              <a:spcBef>
                <a:spcPts val="600"/>
              </a:spcBef>
              <a:spcAft>
                <a:spcPts val="300"/>
              </a:spcAft>
            </a:pPr>
            <a:r>
              <a:rPr sz="1250" b="1" i="0">
                <a:solidFill>
                  <a:srgbClr val="F0F4F8"/>
                </a:solidFill>
                <a:latin typeface="Inter"/>
              </a:rPr>
              <a:t>Optional Postgres</a:t>
            </a:r>
          </a:p>
          <a:p>
            <a:pPr algn="l">
              <a:lnSpc>
                <a:spcPct val="105000"/>
              </a:lnSpc>
              <a:spcBef>
                <a:spcPts val="0"/>
              </a:spcBef>
              <a:spcAft>
                <a:spcPts val="300"/>
              </a:spcAft>
            </a:pPr>
            <a:r>
              <a:rPr sz="860" b="0" i="0">
                <a:solidFill>
                  <a:srgbClr val="94A3B8"/>
                </a:solidFill>
                <a:latin typeface="JetBrains Mono"/>
              </a:rPr>
              <a:t>db/schema.sql  — 6 tables</a:t>
            </a:r>
          </a:p>
          <a:p>
            <a:pPr algn="l">
              <a:lnSpc>
                <a:spcPct val="105000"/>
              </a:lnSpc>
              <a:spcBef>
                <a:spcPts val="0"/>
              </a:spcBef>
              <a:spcAft>
                <a:spcPts val="300"/>
              </a:spcAft>
            </a:pPr>
            <a:r>
              <a:rPr sz="860" b="0" i="0">
                <a:solidFill>
                  <a:srgbClr val="94A3B8"/>
                </a:solidFill>
                <a:latin typeface="JetBrains Mono"/>
              </a:rPr>
              <a:t>pg_trgm OFAC fuzzy match</a:t>
            </a:r>
          </a:p>
          <a:p>
            <a:pPr algn="l">
              <a:lnSpc>
                <a:spcPct val="105000"/>
              </a:lnSpc>
              <a:spcBef>
                <a:spcPts val="0"/>
              </a:spcBef>
              <a:spcAft>
                <a:spcPts val="300"/>
              </a:spcAft>
            </a:pPr>
            <a:r>
              <a:rPr sz="860" b="0" i="0">
                <a:solidFill>
                  <a:srgbClr val="94A3B8"/>
                </a:solidFill>
                <a:latin typeface="JetBrains Mono"/>
              </a:rPr>
              <a:t>code path falls back to files</a:t>
            </a:r>
          </a:p>
        </p:txBody>
      </p:sp>
      <p:sp>
        <p:nvSpPr>
          <p:cNvPr id="23" name="Rounded Rectangle 22"/>
          <p:cNvSpPr/>
          <p:nvPr/>
        </p:nvSpPr>
        <p:spPr>
          <a:xfrm>
            <a:off x="777240" y="5943600"/>
            <a:ext cx="10625328" cy="585216"/>
          </a:xfrm>
          <a:prstGeom prst="roundRect">
            <a:avLst>
              <a:gd name="adj" fmla="val 6000"/>
            </a:avLst>
          </a:prstGeom>
          <a:solidFill>
            <a:srgbClr val="0A1628"/>
          </a:solidFill>
          <a:ln w="9525">
            <a:solidFill>
              <a:srgbClr val="2A38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6016752"/>
            <a:ext cx="10149840" cy="438912"/>
          </a:xfrm>
          <a:prstGeom prst="rect">
            <a:avLst/>
          </a:prstGeom>
          <a:noFill/>
        </p:spPr>
        <p:txBody>
          <a:bodyPr wrap="square" anchor="ctr" lIns="0" rIns="0" tIns="0" bIns="0">
            <a:spAutoFit/>
          </a:bodyPr>
          <a:lstStyle/>
          <a:p>
            <a:pPr algn="l">
              <a:lnSpc>
                <a:spcPct val="112000"/>
              </a:lnSpc>
              <a:spcBef>
                <a:spcPts val="0"/>
              </a:spcBef>
              <a:spcAft>
                <a:spcPts val="0"/>
              </a:spcAft>
            </a:pPr>
            <a:r>
              <a:rPr sz="1050" b="0" i="0">
                <a:solidFill>
                  <a:srgbClr val="C9A961"/>
                </a:solidFill>
                <a:latin typeface="Inter"/>
              </a:rPr>
              <a:t>Cache-first traversal: </a:t>
            </a:r>
            <a:r>
              <a:rPr sz="1050" b="0" i="0">
                <a:solidFill>
                  <a:srgbClr val="94A3B8"/>
                </a:solidFill>
                <a:latin typeface="Inter"/>
              </a:rPr>
              <a:t>every list entity pre-cached, so CACHED mode runs credential-free; live calls write to run-scoped dirs. </a:t>
            </a:r>
            <a:r>
              <a:rPr sz="950" b="0" i="0">
                <a:solidFill>
                  <a:srgbClr val="F0F4F8"/>
                </a:solidFill>
                <a:latin typeface="JetBrains Mono"/>
              </a:rPr>
              <a:t>Every tool returns CitedResult(data, source).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777240" y="566928"/>
            <a:ext cx="10607040" cy="365760"/>
          </a:xfrm>
          <a:prstGeom prst="rect">
            <a:avLst/>
          </a:prstGeom>
          <a:noFill/>
        </p:spPr>
        <p:txBody>
          <a:bodyPr wrap="square" anchor="t" lIns="0" rIns="0" tIns="0" bIns="0">
            <a:spAutoFit/>
          </a:bodyPr>
          <a:lstStyle/>
          <a:p>
            <a:pPr algn="l">
              <a:lnSpc>
                <a:spcPct val="112000"/>
              </a:lnSpc>
              <a:spcBef>
                <a:spcPts val="0"/>
              </a:spcBef>
              <a:spcAft>
                <a:spcPts val="0"/>
              </a:spcAft>
            </a:pPr>
            <a:r>
              <a:rPr sz="1250" b="1" i="0" spc="220">
                <a:solidFill>
                  <a:srgbClr val="94A3B8"/>
                </a:solidFill>
                <a:latin typeface="Inter"/>
              </a:rPr>
              <a:t>ARCHITECTURAL DECISIONS — WHAT I CHOSE, WHAT I REJECTED</a:t>
            </a:r>
          </a:p>
        </p:txBody>
      </p:sp>
      <p:sp>
        <p:nvSpPr>
          <p:cNvPr id="3" name="TextBox 2"/>
          <p:cNvSpPr txBox="1"/>
          <p:nvPr/>
        </p:nvSpPr>
        <p:spPr>
          <a:xfrm>
            <a:off x="777240" y="932688"/>
            <a:ext cx="10607040" cy="914400"/>
          </a:xfrm>
          <a:prstGeom prst="rect">
            <a:avLst/>
          </a:prstGeom>
          <a:noFill/>
        </p:spPr>
        <p:txBody>
          <a:bodyPr wrap="square" anchor="t" lIns="0" rIns="0" tIns="0" bIns="0">
            <a:spAutoFit/>
          </a:bodyPr>
          <a:lstStyle/>
          <a:p>
            <a:pPr algn="l">
              <a:lnSpc>
                <a:spcPct val="100000"/>
              </a:lnSpc>
              <a:spcBef>
                <a:spcPts val="0"/>
              </a:spcBef>
              <a:spcAft>
                <a:spcPts val="0"/>
              </a:spcAft>
            </a:pPr>
            <a:r>
              <a:rPr sz="3600" b="0" i="0">
                <a:solidFill>
                  <a:srgbClr val="F0F4F8"/>
                </a:solidFill>
                <a:latin typeface="Cormorant Garamond"/>
              </a:rPr>
              <a:t>Three decisions worth defending</a:t>
            </a:r>
          </a:p>
        </p:txBody>
      </p:sp>
      <p:sp>
        <p:nvSpPr>
          <p:cNvPr id="4" name="Rectangle 3"/>
          <p:cNvSpPr/>
          <p:nvPr/>
        </p:nvSpPr>
        <p:spPr>
          <a:xfrm>
            <a:off x="777240" y="1783080"/>
            <a:ext cx="10607040" cy="11887"/>
          </a:xfrm>
          <a:prstGeom prst="rect">
            <a:avLst/>
          </a:prstGeom>
          <a:solidFill>
            <a:srgbClr val="2A38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1956816"/>
            <a:ext cx="10625328" cy="1389888"/>
          </a:xfrm>
          <a:prstGeom prst="roundRect">
            <a:avLst>
              <a:gd name="adj" fmla="val 6000"/>
            </a:avLst>
          </a:prstGeom>
          <a:solidFill>
            <a:srgbClr val="1A2436"/>
          </a:solidFill>
          <a:ln w="9525">
            <a:solidFill>
              <a:srgbClr val="2A38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1956816"/>
            <a:ext cx="54864" cy="1389888"/>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084832"/>
            <a:ext cx="822960" cy="1097280"/>
          </a:xfrm>
          <a:prstGeom prst="rect">
            <a:avLst/>
          </a:prstGeom>
          <a:noFill/>
        </p:spPr>
        <p:txBody>
          <a:bodyPr wrap="square" anchor="t" lIns="0" rIns="0" tIns="0" bIns="0">
            <a:spAutoFit/>
          </a:bodyPr>
          <a:lstStyle/>
          <a:p>
            <a:pPr algn="l">
              <a:lnSpc>
                <a:spcPct val="112000"/>
              </a:lnSpc>
              <a:spcBef>
                <a:spcPts val="0"/>
              </a:spcBef>
              <a:spcAft>
                <a:spcPts val="0"/>
              </a:spcAft>
            </a:pPr>
            <a:r>
              <a:rPr sz="3400" b="0" i="0">
                <a:solidFill>
                  <a:srgbClr val="8A7440"/>
                </a:solidFill>
                <a:latin typeface="Cormorant Garamond"/>
              </a:rPr>
              <a:t>01</a:t>
            </a:r>
          </a:p>
        </p:txBody>
      </p:sp>
      <p:sp>
        <p:nvSpPr>
          <p:cNvPr id="8" name="TextBox 7"/>
          <p:cNvSpPr txBox="1"/>
          <p:nvPr/>
        </p:nvSpPr>
        <p:spPr>
          <a:xfrm>
            <a:off x="1874519" y="2103120"/>
            <a:ext cx="9326880" cy="1133856"/>
          </a:xfrm>
          <a:prstGeom prst="rect">
            <a:avLst/>
          </a:prstGeom>
          <a:noFill/>
        </p:spPr>
        <p:txBody>
          <a:bodyPr wrap="square" anchor="t" lIns="0" rIns="0" tIns="0" bIns="0">
            <a:spAutoFit/>
          </a:bodyPr>
          <a:lstStyle/>
          <a:p>
            <a:pPr algn="l">
              <a:lnSpc>
                <a:spcPct val="100000"/>
              </a:lnSpc>
              <a:spcBef>
                <a:spcPts val="0"/>
              </a:spcBef>
              <a:spcAft>
                <a:spcPts val="400"/>
              </a:spcAft>
            </a:pPr>
            <a:r>
              <a:rPr sz="1800" b="0" i="0">
                <a:solidFill>
                  <a:srgbClr val="F0F4F8"/>
                </a:solidFill>
                <a:latin typeface="Cormorant Garamond"/>
              </a:rPr>
              <a:t>No LLM in the data path</a:t>
            </a:r>
          </a:p>
          <a:p>
            <a:pPr algn="l">
              <a:lnSpc>
                <a:spcPct val="105000"/>
              </a:lnSpc>
              <a:spcBef>
                <a:spcPts val="0"/>
              </a:spcBef>
              <a:spcAft>
                <a:spcPts val="200"/>
              </a:spcAft>
            </a:pPr>
            <a:r>
              <a:rPr sz="950" b="1" i="0">
                <a:solidFill>
                  <a:srgbClr val="C9A961"/>
                </a:solidFill>
                <a:latin typeface="Inter"/>
              </a:rPr>
              <a:t>Chose  </a:t>
            </a:r>
            <a:r>
              <a:rPr sz="950" b="0" i="0">
                <a:solidFill>
                  <a:srgbClr val="94A3B8"/>
                </a:solidFill>
                <a:latin typeface="Inter"/>
              </a:rPr>
              <a:t>a deterministic engine produces every number; the agent may only call typed tools that return cited results.</a:t>
            </a:r>
          </a:p>
          <a:p>
            <a:pPr algn="l">
              <a:lnSpc>
                <a:spcPct val="105000"/>
              </a:lnSpc>
              <a:spcBef>
                <a:spcPts val="0"/>
              </a:spcBef>
              <a:spcAft>
                <a:spcPts val="200"/>
              </a:spcAft>
            </a:pPr>
            <a:r>
              <a:rPr sz="950" b="1" i="0">
                <a:solidFill>
                  <a:srgbClr val="64748B"/>
                </a:solidFill>
                <a:latin typeface="Inter"/>
              </a:rPr>
              <a:t>Rejected  </a:t>
            </a:r>
            <a:r>
              <a:rPr sz="950" b="0" i="0">
                <a:solidFill>
                  <a:srgbClr val="94A3B8"/>
                </a:solidFill>
                <a:latin typeface="Inter"/>
              </a:rPr>
              <a:t>RAG over embedded JSON (destroys field structure, breaks citations); letting the model compute or summarize figures directly.</a:t>
            </a:r>
          </a:p>
          <a:p>
            <a:pPr algn="l">
              <a:lnSpc>
                <a:spcPct val="105000"/>
              </a:lnSpc>
              <a:spcBef>
                <a:spcPts val="0"/>
              </a:spcBef>
              <a:spcAft>
                <a:spcPts val="200"/>
              </a:spcAft>
            </a:pPr>
            <a:r>
              <a:rPr sz="950" b="1" i="0">
                <a:solidFill>
                  <a:srgbClr val="C9A961"/>
                </a:solidFill>
                <a:latin typeface="Inter"/>
              </a:rPr>
              <a:t>Why  </a:t>
            </a:r>
            <a:r>
              <a:rPr sz="950" b="0" i="0">
                <a:solidFill>
                  <a:srgbClr val="94A3B8"/>
                </a:solidFill>
                <a:latin typeface="Inter"/>
              </a:rPr>
              <a:t>a compliance officer must trace any value to a Sayari field six months later. Trust is structural, not prompt-engineered.</a:t>
            </a:r>
          </a:p>
        </p:txBody>
      </p:sp>
      <p:sp>
        <p:nvSpPr>
          <p:cNvPr id="9" name="TextBox 8"/>
          <p:cNvSpPr txBox="1"/>
          <p:nvPr/>
        </p:nvSpPr>
        <p:spPr>
          <a:xfrm>
            <a:off x="1874519" y="3108960"/>
            <a:ext cx="9326880" cy="201168"/>
          </a:xfrm>
          <a:prstGeom prst="rect">
            <a:avLst/>
          </a:prstGeom>
          <a:noFill/>
        </p:spPr>
        <p:txBody>
          <a:bodyPr wrap="square" anchor="t" lIns="0" rIns="0" tIns="0" bIns="0">
            <a:spAutoFit/>
          </a:bodyPr>
          <a:lstStyle/>
          <a:p>
            <a:pPr algn="l">
              <a:lnSpc>
                <a:spcPct val="112000"/>
              </a:lnSpc>
              <a:spcBef>
                <a:spcPts val="0"/>
              </a:spcBef>
              <a:spcAft>
                <a:spcPts val="0"/>
              </a:spcAft>
            </a:pPr>
            <a:r>
              <a:rPr sz="780" b="0" i="0">
                <a:solidFill>
                  <a:srgbClr val="8A7440"/>
                </a:solidFill>
                <a:latin typeface="JetBrains Mono"/>
              </a:rPr>
              <a:t>packages/engine/profile.py:26-118  ·  services/api/agent/runner.py</a:t>
            </a:r>
          </a:p>
        </p:txBody>
      </p:sp>
      <p:sp>
        <p:nvSpPr>
          <p:cNvPr id="10" name="Rounded Rectangle 9"/>
          <p:cNvSpPr/>
          <p:nvPr/>
        </p:nvSpPr>
        <p:spPr>
          <a:xfrm>
            <a:off x="777240" y="3456432"/>
            <a:ext cx="10625328" cy="1389888"/>
          </a:xfrm>
          <a:prstGeom prst="roundRect">
            <a:avLst>
              <a:gd name="adj" fmla="val 6000"/>
            </a:avLst>
          </a:prstGeom>
          <a:solidFill>
            <a:srgbClr val="1A2436"/>
          </a:solidFill>
          <a:ln w="9525">
            <a:solidFill>
              <a:srgbClr val="2A38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3456432"/>
            <a:ext cx="54864" cy="1389888"/>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3584448"/>
            <a:ext cx="822960" cy="1097280"/>
          </a:xfrm>
          <a:prstGeom prst="rect">
            <a:avLst/>
          </a:prstGeom>
          <a:noFill/>
        </p:spPr>
        <p:txBody>
          <a:bodyPr wrap="square" anchor="t" lIns="0" rIns="0" tIns="0" bIns="0">
            <a:spAutoFit/>
          </a:bodyPr>
          <a:lstStyle/>
          <a:p>
            <a:pPr algn="l">
              <a:lnSpc>
                <a:spcPct val="112000"/>
              </a:lnSpc>
              <a:spcBef>
                <a:spcPts val="0"/>
              </a:spcBef>
              <a:spcAft>
                <a:spcPts val="0"/>
              </a:spcAft>
            </a:pPr>
            <a:r>
              <a:rPr sz="3400" b="0" i="0">
                <a:solidFill>
                  <a:srgbClr val="8A7440"/>
                </a:solidFill>
                <a:latin typeface="Cormorant Garamond"/>
              </a:rPr>
              <a:t>02</a:t>
            </a:r>
          </a:p>
        </p:txBody>
      </p:sp>
      <p:sp>
        <p:nvSpPr>
          <p:cNvPr id="13" name="TextBox 12"/>
          <p:cNvSpPr txBox="1"/>
          <p:nvPr/>
        </p:nvSpPr>
        <p:spPr>
          <a:xfrm>
            <a:off x="1874519" y="3602736"/>
            <a:ext cx="9326880" cy="1133856"/>
          </a:xfrm>
          <a:prstGeom prst="rect">
            <a:avLst/>
          </a:prstGeom>
          <a:noFill/>
        </p:spPr>
        <p:txBody>
          <a:bodyPr wrap="square" anchor="t" lIns="0" rIns="0" tIns="0" bIns="0">
            <a:spAutoFit/>
          </a:bodyPr>
          <a:lstStyle/>
          <a:p>
            <a:pPr algn="l">
              <a:lnSpc>
                <a:spcPct val="100000"/>
              </a:lnSpc>
              <a:spcBef>
                <a:spcPts val="0"/>
              </a:spcBef>
              <a:spcAft>
                <a:spcPts val="400"/>
              </a:spcAft>
            </a:pPr>
            <a:r>
              <a:rPr sz="1800" b="0" i="0">
                <a:solidFill>
                  <a:srgbClr val="F0F4F8"/>
                </a:solidFill>
                <a:latin typeface="Cormorant Garamond"/>
              </a:rPr>
              <a:t>A steelmanned OFAC baseline</a:t>
            </a:r>
          </a:p>
          <a:p>
            <a:pPr algn="l">
              <a:lnSpc>
                <a:spcPct val="105000"/>
              </a:lnSpc>
              <a:spcBef>
                <a:spcPts val="0"/>
              </a:spcBef>
              <a:spcAft>
                <a:spcPts val="200"/>
              </a:spcAft>
            </a:pPr>
            <a:r>
              <a:rPr sz="950" b="1" i="0">
                <a:solidFill>
                  <a:srgbClr val="C9A961"/>
                </a:solidFill>
                <a:latin typeface="Inter"/>
              </a:rPr>
              <a:t>Chose  </a:t>
            </a:r>
            <a:r>
              <a:rPr sz="950" b="0" i="0">
                <a:solidFill>
                  <a:srgbClr val="94A3B8"/>
                </a:solidFill>
                <a:latin typeface="Inter"/>
              </a:rPr>
              <a:t>a fair name-screen with unidecode transliteration + alias indexing, scored at the same 0.85 threshold as Sayari.</a:t>
            </a:r>
          </a:p>
          <a:p>
            <a:pPr algn="l">
              <a:lnSpc>
                <a:spcPct val="105000"/>
              </a:lnSpc>
              <a:spcBef>
                <a:spcPts val="0"/>
              </a:spcBef>
              <a:spcAft>
                <a:spcPts val="200"/>
              </a:spcAft>
            </a:pPr>
            <a:r>
              <a:rPr sz="950" b="1" i="0">
                <a:solidFill>
                  <a:srgbClr val="64748B"/>
                </a:solidFill>
                <a:latin typeface="Inter"/>
              </a:rPr>
              <a:t>Rejected  </a:t>
            </a:r>
            <a:r>
              <a:rPr sz="950" b="0" i="0">
                <a:solidFill>
                  <a:srgbClr val="94A3B8"/>
                </a:solidFill>
                <a:latin typeface="Inter"/>
              </a:rPr>
              <a:t>a weak ASCII-only matcher that would have inflated Sayari's catch count and made the comparison dishonest.</a:t>
            </a:r>
          </a:p>
          <a:p>
            <a:pPr algn="l">
              <a:lnSpc>
                <a:spcPct val="105000"/>
              </a:lnSpc>
              <a:spcBef>
                <a:spcPts val="0"/>
              </a:spcBef>
              <a:spcAft>
                <a:spcPts val="200"/>
              </a:spcAft>
            </a:pPr>
            <a:r>
              <a:rPr sz="950" b="1" i="0">
                <a:solidFill>
                  <a:srgbClr val="C9A961"/>
                </a:solidFill>
                <a:latin typeface="Inter"/>
              </a:rPr>
              <a:t>Why  </a:t>
            </a:r>
            <a:r>
              <a:rPr sz="950" b="0" i="0">
                <a:solidFill>
                  <a:srgbClr val="94A3B8"/>
                </a:solidFill>
                <a:latin typeface="Inter"/>
              </a:rPr>
              <a:t>the structural argument — Sayari catches the ownership gap — has to survive an honest baseline. It moved the number from 41 to 33, and it still wins.</a:t>
            </a:r>
          </a:p>
        </p:txBody>
      </p:sp>
      <p:sp>
        <p:nvSpPr>
          <p:cNvPr id="14" name="TextBox 13"/>
          <p:cNvSpPr txBox="1"/>
          <p:nvPr/>
        </p:nvSpPr>
        <p:spPr>
          <a:xfrm>
            <a:off x="1874519" y="4608576"/>
            <a:ext cx="9326880" cy="201168"/>
          </a:xfrm>
          <a:prstGeom prst="rect">
            <a:avLst/>
          </a:prstGeom>
          <a:noFill/>
        </p:spPr>
        <p:txBody>
          <a:bodyPr wrap="square" anchor="t" lIns="0" rIns="0" tIns="0" bIns="0">
            <a:spAutoFit/>
          </a:bodyPr>
          <a:lstStyle/>
          <a:p>
            <a:pPr algn="l">
              <a:lnSpc>
                <a:spcPct val="112000"/>
              </a:lnSpc>
              <a:spcBef>
                <a:spcPts val="0"/>
              </a:spcBef>
              <a:spcAft>
                <a:spcPts val="0"/>
              </a:spcAft>
            </a:pPr>
            <a:r>
              <a:rPr sz="780" b="0" i="0">
                <a:solidFill>
                  <a:srgbClr val="8A7440"/>
                </a:solidFill>
                <a:latin typeface="JetBrains Mono"/>
              </a:rPr>
              <a:t>services/api/tools/screen_ofac.py:37-98  ·  services/api/ofac/matcher.py</a:t>
            </a:r>
          </a:p>
        </p:txBody>
      </p:sp>
      <p:sp>
        <p:nvSpPr>
          <p:cNvPr id="15" name="Rounded Rectangle 14"/>
          <p:cNvSpPr/>
          <p:nvPr/>
        </p:nvSpPr>
        <p:spPr>
          <a:xfrm>
            <a:off x="777240" y="4956048"/>
            <a:ext cx="10625328" cy="1389888"/>
          </a:xfrm>
          <a:prstGeom prst="roundRect">
            <a:avLst>
              <a:gd name="adj" fmla="val 6000"/>
            </a:avLst>
          </a:prstGeom>
          <a:solidFill>
            <a:srgbClr val="1A2436"/>
          </a:solidFill>
          <a:ln w="9525">
            <a:solidFill>
              <a:srgbClr val="2A38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956048"/>
            <a:ext cx="54864" cy="1389888"/>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5084064"/>
            <a:ext cx="822960" cy="1097280"/>
          </a:xfrm>
          <a:prstGeom prst="rect">
            <a:avLst/>
          </a:prstGeom>
          <a:noFill/>
        </p:spPr>
        <p:txBody>
          <a:bodyPr wrap="square" anchor="t" lIns="0" rIns="0" tIns="0" bIns="0">
            <a:spAutoFit/>
          </a:bodyPr>
          <a:lstStyle/>
          <a:p>
            <a:pPr algn="l">
              <a:lnSpc>
                <a:spcPct val="112000"/>
              </a:lnSpc>
              <a:spcBef>
                <a:spcPts val="0"/>
              </a:spcBef>
              <a:spcAft>
                <a:spcPts val="0"/>
              </a:spcAft>
            </a:pPr>
            <a:r>
              <a:rPr sz="3400" b="0" i="0">
                <a:solidFill>
                  <a:srgbClr val="8A7440"/>
                </a:solidFill>
                <a:latin typeface="Cormorant Garamond"/>
              </a:rPr>
              <a:t>03</a:t>
            </a:r>
          </a:p>
        </p:txBody>
      </p:sp>
      <p:sp>
        <p:nvSpPr>
          <p:cNvPr id="18" name="TextBox 17"/>
          <p:cNvSpPr txBox="1"/>
          <p:nvPr/>
        </p:nvSpPr>
        <p:spPr>
          <a:xfrm>
            <a:off x="1874519" y="5102352"/>
            <a:ext cx="9326880" cy="1133856"/>
          </a:xfrm>
          <a:prstGeom prst="rect">
            <a:avLst/>
          </a:prstGeom>
          <a:noFill/>
        </p:spPr>
        <p:txBody>
          <a:bodyPr wrap="square" anchor="t" lIns="0" rIns="0" tIns="0" bIns="0">
            <a:spAutoFit/>
          </a:bodyPr>
          <a:lstStyle/>
          <a:p>
            <a:pPr algn="l">
              <a:lnSpc>
                <a:spcPct val="100000"/>
              </a:lnSpc>
              <a:spcBef>
                <a:spcPts val="0"/>
              </a:spcBef>
              <a:spcAft>
                <a:spcPts val="400"/>
              </a:spcAft>
            </a:pPr>
            <a:r>
              <a:rPr sz="1800" b="0" i="0">
                <a:solidFill>
                  <a:srgbClr val="F0F4F8"/>
                </a:solidFill>
                <a:latin typeface="Cormorant Garamond"/>
              </a:rPr>
              <a:t>Pinned parent IDs with audit comments</a:t>
            </a:r>
          </a:p>
          <a:p>
            <a:pPr algn="l">
              <a:lnSpc>
                <a:spcPct val="105000"/>
              </a:lnSpc>
              <a:spcBef>
                <a:spcPts val="0"/>
              </a:spcBef>
              <a:spcAft>
                <a:spcPts val="200"/>
              </a:spcAft>
            </a:pPr>
            <a:r>
              <a:rPr sz="950" b="1" i="0">
                <a:solidFill>
                  <a:srgbClr val="C9A961"/>
                </a:solidFill>
                <a:latin typeface="Inter"/>
              </a:rPr>
              <a:t>Chose  </a:t>
            </a:r>
            <a:r>
              <a:rPr sz="950" b="0" i="0">
                <a:solidFill>
                  <a:srgbClr val="94A3B8"/>
                </a:solidFill>
                <a:latin typeface="Inter"/>
              </a:rPr>
              <a:t>four marquee entities (Sberbank, VTB, Transneft, Kalashnikov) pinned to verified parent IDs, each with a why-comment.</a:t>
            </a:r>
          </a:p>
          <a:p>
            <a:pPr algn="l">
              <a:lnSpc>
                <a:spcPct val="105000"/>
              </a:lnSpc>
              <a:spcBef>
                <a:spcPts val="0"/>
              </a:spcBef>
              <a:spcAft>
                <a:spcPts val="200"/>
              </a:spcAft>
            </a:pPr>
            <a:r>
              <a:rPr sz="950" b="1" i="0">
                <a:solidFill>
                  <a:srgbClr val="64748B"/>
                </a:solidFill>
                <a:latin typeface="Inter"/>
              </a:rPr>
              <a:t>Rejected  </a:t>
            </a:r>
            <a:r>
              <a:rPr sz="950" b="0" i="0">
                <a:solidFill>
                  <a:srgbClr val="94A3B8"/>
                </a:solidFill>
                <a:latin typeface="Inter"/>
              </a:rPr>
              <a:t>accepting Sayari's top match blindly — which returned a degree-780 back-office LLC for Sberbank, not the degree-59,632 parent.</a:t>
            </a:r>
          </a:p>
          <a:p>
            <a:pPr algn="l">
              <a:lnSpc>
                <a:spcPct val="105000"/>
              </a:lnSpc>
              <a:spcBef>
                <a:spcPts val="0"/>
              </a:spcBef>
              <a:spcAft>
                <a:spcPts val="200"/>
              </a:spcAft>
            </a:pPr>
            <a:r>
              <a:rPr sz="950" b="1" i="0">
                <a:solidFill>
                  <a:srgbClr val="C9A961"/>
                </a:solidFill>
                <a:latin typeface="Inter"/>
              </a:rPr>
              <a:t>Why  </a:t>
            </a:r>
            <a:r>
              <a:rPr sz="950" b="0" i="0">
                <a:solidFill>
                  <a:srgbClr val="94A3B8"/>
                </a:solidFill>
                <a:latin typeface="Inter"/>
              </a:rPr>
              <a:t>resolution is the make-or-break step. I verified each pin by relationship degree + tax/registration ID, and documented the path to re-verify.</a:t>
            </a:r>
          </a:p>
        </p:txBody>
      </p:sp>
      <p:sp>
        <p:nvSpPr>
          <p:cNvPr id="19" name="TextBox 18"/>
          <p:cNvSpPr txBox="1"/>
          <p:nvPr/>
        </p:nvSpPr>
        <p:spPr>
          <a:xfrm>
            <a:off x="1874519" y="6108192"/>
            <a:ext cx="9326880" cy="201168"/>
          </a:xfrm>
          <a:prstGeom prst="rect">
            <a:avLst/>
          </a:prstGeom>
          <a:noFill/>
        </p:spPr>
        <p:txBody>
          <a:bodyPr wrap="square" anchor="t" lIns="0" rIns="0" tIns="0" bIns="0">
            <a:spAutoFit/>
          </a:bodyPr>
          <a:lstStyle/>
          <a:p>
            <a:pPr algn="l">
              <a:lnSpc>
                <a:spcPct val="112000"/>
              </a:lnSpc>
              <a:spcBef>
                <a:spcPts val="0"/>
              </a:spcBef>
              <a:spcAft>
                <a:spcPts val="0"/>
              </a:spcAft>
            </a:pPr>
            <a:r>
              <a:rPr sz="780" b="0" i="0">
                <a:solidFill>
                  <a:srgbClr val="8A7440"/>
                </a:solidFill>
                <a:latin typeface="JetBrains Mono"/>
              </a:rPr>
              <a:t>packages/engine/resolve.py:15-34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777240" y="566928"/>
            <a:ext cx="10607040" cy="365760"/>
          </a:xfrm>
          <a:prstGeom prst="rect">
            <a:avLst/>
          </a:prstGeom>
          <a:noFill/>
        </p:spPr>
        <p:txBody>
          <a:bodyPr wrap="square" anchor="t" lIns="0" rIns="0" tIns="0" bIns="0">
            <a:spAutoFit/>
          </a:bodyPr>
          <a:lstStyle/>
          <a:p>
            <a:pPr algn="l">
              <a:lnSpc>
                <a:spcPct val="112000"/>
              </a:lnSpc>
              <a:spcBef>
                <a:spcPts val="0"/>
              </a:spcBef>
              <a:spcAft>
                <a:spcPts val="0"/>
              </a:spcAft>
            </a:pPr>
            <a:r>
              <a:rPr sz="1250" b="1" i="0" spc="220">
                <a:solidFill>
                  <a:srgbClr val="94A3B8"/>
                </a:solidFill>
                <a:latin typeface="Inter"/>
              </a:rPr>
              <a:t>PRODUCTION DEPLOYMENT — DESIGNED FOR THE CUSTOMER</a:t>
            </a:r>
          </a:p>
        </p:txBody>
      </p:sp>
      <p:sp>
        <p:nvSpPr>
          <p:cNvPr id="3" name="TextBox 2"/>
          <p:cNvSpPr txBox="1"/>
          <p:nvPr/>
        </p:nvSpPr>
        <p:spPr>
          <a:xfrm>
            <a:off x="777240" y="932688"/>
            <a:ext cx="10607040" cy="914400"/>
          </a:xfrm>
          <a:prstGeom prst="rect">
            <a:avLst/>
          </a:prstGeom>
          <a:noFill/>
        </p:spPr>
        <p:txBody>
          <a:bodyPr wrap="square" anchor="t" lIns="0" rIns="0" tIns="0" bIns="0">
            <a:spAutoFit/>
          </a:bodyPr>
          <a:lstStyle/>
          <a:p>
            <a:pPr algn="l">
              <a:lnSpc>
                <a:spcPct val="100000"/>
              </a:lnSpc>
              <a:spcBef>
                <a:spcPts val="0"/>
              </a:spcBef>
              <a:spcAft>
                <a:spcPts val="0"/>
              </a:spcAft>
            </a:pPr>
            <a:r>
              <a:rPr sz="2900" b="0" i="0">
                <a:solidFill>
                  <a:srgbClr val="F0F4F8"/>
                </a:solidFill>
                <a:latin typeface="Cormorant Garamond"/>
              </a:rPr>
              <a:t>Customer-deployed containers, not multi-tenant SaaS</a:t>
            </a:r>
          </a:p>
        </p:txBody>
      </p:sp>
      <p:sp>
        <p:nvSpPr>
          <p:cNvPr id="4" name="Rectangle 3"/>
          <p:cNvSpPr/>
          <p:nvPr/>
        </p:nvSpPr>
        <p:spPr>
          <a:xfrm>
            <a:off x="777240" y="1755648"/>
            <a:ext cx="10607040" cy="11887"/>
          </a:xfrm>
          <a:prstGeom prst="rect">
            <a:avLst/>
          </a:prstGeom>
          <a:solidFill>
            <a:srgbClr val="2A38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1901952"/>
            <a:ext cx="10625328" cy="960120"/>
          </a:xfrm>
          <a:prstGeom prst="roundRect">
            <a:avLst>
              <a:gd name="adj" fmla="val 6000"/>
            </a:avLst>
          </a:prstGeom>
          <a:solidFill>
            <a:srgbClr val="1A2436"/>
          </a:solidFill>
          <a:ln w="9525">
            <a:solidFill>
              <a:srgbClr val="8A7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011680"/>
            <a:ext cx="10149840" cy="777240"/>
          </a:xfrm>
          <a:prstGeom prst="rect">
            <a:avLst/>
          </a:prstGeom>
          <a:noFill/>
        </p:spPr>
        <p:txBody>
          <a:bodyPr wrap="square" anchor="ctr" lIns="0" rIns="0" tIns="0" bIns="0">
            <a:spAutoFit/>
          </a:bodyPr>
          <a:lstStyle/>
          <a:p>
            <a:pPr algn="l">
              <a:lnSpc>
                <a:spcPct val="112000"/>
              </a:lnSpc>
              <a:spcBef>
                <a:spcPts val="0"/>
              </a:spcBef>
              <a:spcAft>
                <a:spcPts val="400"/>
              </a:spcAft>
            </a:pPr>
            <a:r>
              <a:rPr sz="1000" b="1" i="0" spc="180">
                <a:solidFill>
                  <a:srgbClr val="C9A961"/>
                </a:solidFill>
                <a:latin typeface="Inter"/>
              </a:rPr>
              <a:t>THE RECOMMENDATION</a:t>
            </a:r>
          </a:p>
          <a:p>
            <a:pPr algn="l">
              <a:lnSpc>
                <a:spcPct val="112000"/>
              </a:lnSpc>
              <a:spcBef>
                <a:spcPts val="0"/>
              </a:spcBef>
              <a:spcAft>
                <a:spcPts val="0"/>
              </a:spcAft>
            </a:pPr>
            <a:r>
              <a:rPr sz="1100" b="0" i="0">
                <a:solidFill>
                  <a:srgbClr val="94A3B8"/>
                </a:solidFill>
                <a:latin typeface="Inter"/>
              </a:rPr>
              <a:t>For a FINMA-regulated firm like Meridian, the defensible posture is customer-controlled infrastructure: containerized services deployed into Meridian's own cloud tenant in europe-west6 (Zurich). Their SRE owns infrastructure; Sayari provides the application layer plus deployment templates and runbooks.</a:t>
            </a:r>
          </a:p>
        </p:txBody>
      </p:sp>
      <p:sp>
        <p:nvSpPr>
          <p:cNvPr id="7" name="Rounded Rectangle 6"/>
          <p:cNvSpPr/>
          <p:nvPr/>
        </p:nvSpPr>
        <p:spPr>
          <a:xfrm>
            <a:off x="777240" y="3035808"/>
            <a:ext cx="5184648" cy="2697480"/>
          </a:xfrm>
          <a:prstGeom prst="roundRect">
            <a:avLst>
              <a:gd name="adj" fmla="val 6000"/>
            </a:avLst>
          </a:prstGeom>
          <a:solidFill>
            <a:srgbClr val="0A1628"/>
          </a:solidFill>
          <a:ln w="9525">
            <a:solidFill>
              <a:srgbClr val="2A38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200400"/>
            <a:ext cx="4754880" cy="2377440"/>
          </a:xfrm>
          <a:prstGeom prst="rect">
            <a:avLst/>
          </a:prstGeom>
          <a:noFill/>
        </p:spPr>
        <p:txBody>
          <a:bodyPr wrap="square" anchor="t" lIns="0" rIns="0" tIns="0" bIns="0">
            <a:spAutoFit/>
          </a:bodyPr>
          <a:lstStyle/>
          <a:p>
            <a:pPr algn="l">
              <a:lnSpc>
                <a:spcPct val="112000"/>
              </a:lnSpc>
              <a:spcBef>
                <a:spcPts val="0"/>
              </a:spcBef>
              <a:spcAft>
                <a:spcPts val="800"/>
              </a:spcAft>
            </a:pPr>
            <a:r>
              <a:rPr sz="1000" b="1" i="0" spc="180">
                <a:solidFill>
                  <a:srgbClr val="C9A961"/>
                </a:solidFill>
                <a:latin typeface="Inter"/>
              </a:rPr>
              <a:t>WHY</a:t>
            </a:r>
          </a:p>
          <a:p>
            <a:pPr algn="l">
              <a:lnSpc>
                <a:spcPct val="110000"/>
              </a:lnSpc>
              <a:spcBef>
                <a:spcPts val="0"/>
              </a:spcBef>
              <a:spcAft>
                <a:spcPts val="600"/>
              </a:spcAft>
            </a:pPr>
            <a:r>
              <a:rPr sz="1050" b="1" i="0">
                <a:solidFill>
                  <a:srgbClr val="F0F4F8"/>
                </a:solidFill>
                <a:latin typeface="Inter"/>
              </a:rPr>
              <a:t>Data residency  —  </a:t>
            </a:r>
            <a:r>
              <a:rPr sz="1050" b="0" i="0">
                <a:solidFill>
                  <a:srgbClr val="94A3B8"/>
                </a:solidFill>
                <a:latin typeface="Inter"/>
              </a:rPr>
              <a:t>Swiss banking secrecy + GDPR. Single-tenant in customer region.</a:t>
            </a:r>
          </a:p>
          <a:p>
            <a:pPr algn="l">
              <a:lnSpc>
                <a:spcPct val="110000"/>
              </a:lnSpc>
              <a:spcBef>
                <a:spcPts val="0"/>
              </a:spcBef>
              <a:spcAft>
                <a:spcPts val="600"/>
              </a:spcAft>
            </a:pPr>
            <a:r>
              <a:rPr sz="1050" b="1" i="0">
                <a:solidFill>
                  <a:srgbClr val="F0F4F8"/>
                </a:solidFill>
                <a:latin typeface="Inter"/>
              </a:rPr>
              <a:t>Audit posture  —  </a:t>
            </a:r>
            <a:r>
              <a:rPr sz="1050" b="0" i="0">
                <a:solidFill>
                  <a:srgbClr val="94A3B8"/>
                </a:solidFill>
                <a:latin typeface="Inter"/>
              </a:rPr>
              <a:t>Customer's SOC 2 controls extend to the deployment — no shared-infra caveats.</a:t>
            </a:r>
          </a:p>
          <a:p>
            <a:pPr algn="l">
              <a:lnSpc>
                <a:spcPct val="110000"/>
              </a:lnSpc>
              <a:spcBef>
                <a:spcPts val="0"/>
              </a:spcBef>
              <a:spcAft>
                <a:spcPts val="600"/>
              </a:spcAft>
            </a:pPr>
            <a:r>
              <a:rPr sz="1050" b="1" i="0">
                <a:solidFill>
                  <a:srgbClr val="F0F4F8"/>
                </a:solidFill>
                <a:latin typeface="Inter"/>
              </a:rPr>
              <a:t>Business continuity  —  </a:t>
            </a:r>
            <a:r>
              <a:rPr sz="1050" b="0" i="0">
                <a:solidFill>
                  <a:srgbClr val="94A3B8"/>
                </a:solidFill>
                <a:latin typeface="Inter"/>
              </a:rPr>
              <a:t>Their DR procedures cover it; FINMA sees one control surface.</a:t>
            </a:r>
          </a:p>
          <a:p>
            <a:pPr algn="l">
              <a:lnSpc>
                <a:spcPct val="110000"/>
              </a:lnSpc>
              <a:spcBef>
                <a:spcPts val="0"/>
              </a:spcBef>
              <a:spcAft>
                <a:spcPts val="600"/>
              </a:spcAft>
            </a:pPr>
            <a:r>
              <a:rPr sz="1050" b="1" i="0">
                <a:solidFill>
                  <a:srgbClr val="F0F4F8"/>
                </a:solidFill>
                <a:latin typeface="Inter"/>
              </a:rPr>
              <a:t>Trust  —  </a:t>
            </a:r>
            <a:r>
              <a:rPr sz="1050" b="0" i="0">
                <a:solidFill>
                  <a:srgbClr val="94A3B8"/>
                </a:solidFill>
                <a:latin typeface="Inter"/>
              </a:rPr>
              <a:t>Compliance teams move faster when data never leaves their tenant.</a:t>
            </a:r>
          </a:p>
        </p:txBody>
      </p:sp>
      <p:sp>
        <p:nvSpPr>
          <p:cNvPr id="9" name="Rounded Rectangle 8"/>
          <p:cNvSpPr/>
          <p:nvPr/>
        </p:nvSpPr>
        <p:spPr>
          <a:xfrm>
            <a:off x="6217920" y="3035808"/>
            <a:ext cx="5184648" cy="2697480"/>
          </a:xfrm>
          <a:prstGeom prst="roundRect">
            <a:avLst>
              <a:gd name="adj" fmla="val 6000"/>
            </a:avLst>
          </a:prstGeom>
          <a:solidFill>
            <a:srgbClr val="0A1628"/>
          </a:solidFill>
          <a:ln w="9525">
            <a:solidFill>
              <a:srgbClr val="2A38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3200400"/>
            <a:ext cx="4754880" cy="2377440"/>
          </a:xfrm>
          <a:prstGeom prst="rect">
            <a:avLst/>
          </a:prstGeom>
          <a:noFill/>
        </p:spPr>
        <p:txBody>
          <a:bodyPr wrap="square" anchor="t" lIns="0" rIns="0" tIns="0" bIns="0">
            <a:spAutoFit/>
          </a:bodyPr>
          <a:lstStyle/>
          <a:p>
            <a:pPr algn="l">
              <a:lnSpc>
                <a:spcPct val="112000"/>
              </a:lnSpc>
              <a:spcBef>
                <a:spcPts val="0"/>
              </a:spcBef>
              <a:spcAft>
                <a:spcPts val="800"/>
              </a:spcAft>
            </a:pPr>
            <a:r>
              <a:rPr sz="1000" b="1" i="0" spc="180">
                <a:solidFill>
                  <a:srgbClr val="C9A961"/>
                </a:solidFill>
                <a:latin typeface="Inter"/>
              </a:rPr>
              <a:t>ALTERNATIVES I CONSIDERED</a:t>
            </a:r>
          </a:p>
          <a:p>
            <a:pPr algn="l">
              <a:lnSpc>
                <a:spcPct val="110000"/>
              </a:lnSpc>
              <a:spcBef>
                <a:spcPts val="0"/>
              </a:spcBef>
              <a:spcAft>
                <a:spcPts val="600"/>
              </a:spcAft>
            </a:pPr>
            <a:r>
              <a:rPr sz="1050" b="1" i="0">
                <a:solidFill>
                  <a:srgbClr val="F0F4F8"/>
                </a:solidFill>
                <a:latin typeface="Inter"/>
              </a:rPr>
              <a:t>Multi-tenant SaaS  —  </a:t>
            </a:r>
            <a:r>
              <a:rPr sz="1050" b="0" i="0">
                <a:solidFill>
                  <a:srgbClr val="94A3B8"/>
                </a:solidFill>
                <a:latin typeface="Inter"/>
              </a:rPr>
              <a:t>Fast to ship; residency caveats are hard for FINMA-grade firms. Fine for smaller customers.</a:t>
            </a:r>
          </a:p>
          <a:p>
            <a:pPr algn="l">
              <a:lnSpc>
                <a:spcPct val="110000"/>
              </a:lnSpc>
              <a:spcBef>
                <a:spcPts val="0"/>
              </a:spcBef>
              <a:spcAft>
                <a:spcPts val="600"/>
              </a:spcAft>
            </a:pPr>
            <a:r>
              <a:rPr sz="1050" b="1" i="0">
                <a:solidFill>
                  <a:srgbClr val="F0F4F8"/>
                </a:solidFill>
                <a:latin typeface="Inter"/>
              </a:rPr>
              <a:t>Sayari-managed dedicated tenant  —  </a:t>
            </a:r>
            <a:r>
              <a:rPr sz="1050" b="0" i="0">
                <a:solidFill>
                  <a:srgbClr val="94A3B8"/>
                </a:solidFill>
                <a:latin typeface="Inter"/>
              </a:rPr>
              <a:t>Single-tenant in customer's region, Sayari-operated. Reasonable middle ground.</a:t>
            </a:r>
          </a:p>
          <a:p>
            <a:pPr algn="l">
              <a:lnSpc>
                <a:spcPct val="110000"/>
              </a:lnSpc>
              <a:spcBef>
                <a:spcPts val="0"/>
              </a:spcBef>
              <a:spcAft>
                <a:spcPts val="600"/>
              </a:spcAft>
            </a:pPr>
            <a:r>
              <a:rPr sz="1050" b="1" i="0">
                <a:solidFill>
                  <a:srgbClr val="F0F4F8"/>
                </a:solidFill>
                <a:latin typeface="Inter"/>
              </a:rPr>
              <a:t>Hybrid (SaaS control plane, customer data plane)  —  </a:t>
            </a:r>
            <a:r>
              <a:rPr sz="1050" b="0" i="0">
                <a:solidFill>
                  <a:srgbClr val="94A3B8"/>
                </a:solidFill>
                <a:latin typeface="Inter"/>
              </a:rPr>
              <a:t>Clean responsibility split, more operational complexity.</a:t>
            </a:r>
          </a:p>
          <a:p>
            <a:pPr algn="l">
              <a:lnSpc>
                <a:spcPct val="110000"/>
              </a:lnSpc>
              <a:spcBef>
                <a:spcPts val="0"/>
              </a:spcBef>
              <a:spcAft>
                <a:spcPts val="600"/>
              </a:spcAft>
            </a:pPr>
            <a:r>
              <a:rPr sz="1050" b="1" i="0">
                <a:solidFill>
                  <a:srgbClr val="F0F4F8"/>
                </a:solidFill>
                <a:latin typeface="Inter"/>
              </a:rPr>
              <a:t>Docker Compose (today)  —  </a:t>
            </a:r>
            <a:r>
              <a:rPr sz="1050" b="0" i="0">
                <a:solidFill>
                  <a:srgbClr val="94A3B8"/>
                </a:solidFill>
                <a:latin typeface="Inter"/>
              </a:rPr>
              <a:t>What the take-home ships — one command, local. The on-ramp, not the destination.</a:t>
            </a:r>
          </a:p>
        </p:txBody>
      </p:sp>
      <p:sp>
        <p:nvSpPr>
          <p:cNvPr id="11" name="TextBox 10"/>
          <p:cNvSpPr txBox="1"/>
          <p:nvPr/>
        </p:nvSpPr>
        <p:spPr>
          <a:xfrm>
            <a:off x="777240" y="5943600"/>
            <a:ext cx="10625328" cy="548640"/>
          </a:xfrm>
          <a:prstGeom prst="rect">
            <a:avLst/>
          </a:prstGeom>
          <a:noFill/>
        </p:spPr>
        <p:txBody>
          <a:bodyPr wrap="square" anchor="t" lIns="0" rIns="0" tIns="0" bIns="0">
            <a:spAutoFit/>
          </a:bodyPr>
          <a:lstStyle/>
          <a:p>
            <a:pPr algn="l">
              <a:lnSpc>
                <a:spcPct val="110000"/>
              </a:lnSpc>
              <a:spcBef>
                <a:spcPts val="0"/>
              </a:spcBef>
              <a:spcAft>
                <a:spcPts val="0"/>
              </a:spcAft>
            </a:pPr>
            <a:r>
              <a:rPr sz="1050" b="0" i="1">
                <a:solidFill>
                  <a:srgbClr val="64748B"/>
                </a:solidFill>
                <a:latin typeface="Inter"/>
              </a:rPr>
              <a:t>I don't presume to know Sayari's existing enterprise deployment playbook — I'd want to learn that first. But for Meridian's compliance profile, customer-deployed is my default, reasoned from first principles.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777240" y="566928"/>
            <a:ext cx="10607040" cy="365760"/>
          </a:xfrm>
          <a:prstGeom prst="rect">
            <a:avLst/>
          </a:prstGeom>
          <a:noFill/>
        </p:spPr>
        <p:txBody>
          <a:bodyPr wrap="square" anchor="t" lIns="0" rIns="0" tIns="0" bIns="0">
            <a:spAutoFit/>
          </a:bodyPr>
          <a:lstStyle/>
          <a:p>
            <a:pPr algn="l">
              <a:lnSpc>
                <a:spcPct val="112000"/>
              </a:lnSpc>
              <a:spcBef>
                <a:spcPts val="0"/>
              </a:spcBef>
              <a:spcAft>
                <a:spcPts val="0"/>
              </a:spcAft>
            </a:pPr>
            <a:r>
              <a:rPr sz="1250" b="1" i="0" spc="220">
                <a:solidFill>
                  <a:srgbClr val="94A3B8"/>
                </a:solidFill>
                <a:latin typeface="Inter"/>
              </a:rPr>
              <a:t>SCOPE DECISIONS &amp; WHAT'S NEXT</a:t>
            </a:r>
          </a:p>
        </p:txBody>
      </p:sp>
      <p:sp>
        <p:nvSpPr>
          <p:cNvPr id="3" name="TextBox 2"/>
          <p:cNvSpPr txBox="1"/>
          <p:nvPr/>
        </p:nvSpPr>
        <p:spPr>
          <a:xfrm>
            <a:off x="777240" y="932688"/>
            <a:ext cx="1060704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0" i="0">
                <a:solidFill>
                  <a:srgbClr val="F0F4F8"/>
                </a:solidFill>
                <a:latin typeface="Cormorant Garamond"/>
              </a:rPr>
              <a:t>What I deferred, why, and what I'd build next</a:t>
            </a:r>
          </a:p>
        </p:txBody>
      </p:sp>
      <p:sp>
        <p:nvSpPr>
          <p:cNvPr id="4" name="Rectangle 3"/>
          <p:cNvSpPr/>
          <p:nvPr/>
        </p:nvSpPr>
        <p:spPr>
          <a:xfrm>
            <a:off x="777240" y="1783080"/>
            <a:ext cx="10607040" cy="11887"/>
          </a:xfrm>
          <a:prstGeom prst="rect">
            <a:avLst/>
          </a:prstGeom>
          <a:solidFill>
            <a:srgbClr val="2A38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1938528"/>
            <a:ext cx="5184648" cy="4434840"/>
          </a:xfrm>
          <a:prstGeom prst="roundRect">
            <a:avLst>
              <a:gd name="adj" fmla="val 6000"/>
            </a:avLst>
          </a:prstGeom>
          <a:solidFill>
            <a:srgbClr val="1A2436"/>
          </a:solidFill>
          <a:ln w="9525">
            <a:solidFill>
              <a:srgbClr val="2A38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21408"/>
            <a:ext cx="4754880" cy="4114800"/>
          </a:xfrm>
          <a:prstGeom prst="rect">
            <a:avLst/>
          </a:prstGeom>
          <a:noFill/>
        </p:spPr>
        <p:txBody>
          <a:bodyPr wrap="square" anchor="t" lIns="0" rIns="0" tIns="0" bIns="0">
            <a:spAutoFit/>
          </a:bodyPr>
          <a:lstStyle/>
          <a:p>
            <a:pPr algn="l">
              <a:lnSpc>
                <a:spcPct val="112000"/>
              </a:lnSpc>
              <a:spcBef>
                <a:spcPts val="0"/>
              </a:spcBef>
              <a:spcAft>
                <a:spcPts val="1000"/>
              </a:spcAft>
            </a:pPr>
            <a:r>
              <a:rPr sz="1000" b="1" i="0" spc="140">
                <a:solidFill>
                  <a:srgbClr val="C9A961"/>
                </a:solidFill>
                <a:latin typeface="Inter"/>
              </a:rPr>
              <a:t>DELIBERATELY DEFERRED  ·  8-DAY SCOPE</a:t>
            </a:r>
          </a:p>
          <a:p>
            <a:pPr algn="l">
              <a:lnSpc>
                <a:spcPct val="105000"/>
              </a:lnSpc>
              <a:spcBef>
                <a:spcPts val="0"/>
              </a:spcBef>
              <a:spcAft>
                <a:spcPts val="100"/>
              </a:spcAft>
            </a:pPr>
            <a:r>
              <a:rPr sz="1100" b="1" i="0">
                <a:solidFill>
                  <a:srgbClr val="F0F4F8"/>
                </a:solidFill>
                <a:latin typeface="Inter"/>
              </a:rPr>
              <a:t>Real identity provider</a:t>
            </a:r>
          </a:p>
          <a:p>
            <a:pPr algn="l">
              <a:lnSpc>
                <a:spcPct val="110000"/>
              </a:lnSpc>
              <a:spcBef>
                <a:spcPts val="0"/>
              </a:spcBef>
              <a:spcAft>
                <a:spcPts val="800"/>
              </a:spcAft>
            </a:pPr>
            <a:r>
              <a:rPr sz="1050" b="0" i="0">
                <a:solidFill>
                  <a:srgbClr val="94A3B8"/>
                </a:solidFill>
                <a:latin typeface="Inter"/>
              </a:rPr>
              <a:t>Demo login is a localStorage gate. Real SSO (Okta/Entra) is a known, mechanical add.</a:t>
            </a:r>
          </a:p>
          <a:p>
            <a:pPr algn="l">
              <a:lnSpc>
                <a:spcPct val="105000"/>
              </a:lnSpc>
              <a:spcBef>
                <a:spcPts val="0"/>
              </a:spcBef>
              <a:spcAft>
                <a:spcPts val="100"/>
              </a:spcAft>
            </a:pPr>
            <a:r>
              <a:rPr sz="1100" b="1" i="0">
                <a:solidFill>
                  <a:srgbClr val="F0F4F8"/>
                </a:solidFill>
                <a:latin typeface="Inter"/>
              </a:rPr>
              <a:t>Postgres in production</a:t>
            </a:r>
          </a:p>
          <a:p>
            <a:pPr algn="l">
              <a:lnSpc>
                <a:spcPct val="110000"/>
              </a:lnSpc>
              <a:spcBef>
                <a:spcPts val="0"/>
              </a:spcBef>
              <a:spcAft>
                <a:spcPts val="800"/>
              </a:spcAft>
            </a:pPr>
            <a:r>
              <a:rPr sz="1050" b="0" i="0">
                <a:solidFill>
                  <a:srgbClr val="94A3B8"/>
                </a:solidFill>
                <a:latin typeface="Inter"/>
              </a:rPr>
              <a:t>Schema exists; code falls back to files. No migrations committed.</a:t>
            </a:r>
          </a:p>
          <a:p>
            <a:pPr algn="l">
              <a:lnSpc>
                <a:spcPct val="105000"/>
              </a:lnSpc>
              <a:spcBef>
                <a:spcPts val="0"/>
              </a:spcBef>
              <a:spcAft>
                <a:spcPts val="100"/>
              </a:spcAft>
            </a:pPr>
            <a:r>
              <a:rPr sz="1100" b="1" i="0">
                <a:solidFill>
                  <a:srgbClr val="F0F4F8"/>
                </a:solidFill>
                <a:latin typeface="Inter"/>
              </a:rPr>
              <a:t>Live Sayari on every entity</a:t>
            </a:r>
          </a:p>
          <a:p>
            <a:pPr algn="l">
              <a:lnSpc>
                <a:spcPct val="110000"/>
              </a:lnSpc>
              <a:spcBef>
                <a:spcPts val="0"/>
              </a:spcBef>
              <a:spcAft>
                <a:spcPts val="800"/>
              </a:spcAft>
            </a:pPr>
            <a:r>
              <a:rPr sz="1050" b="0" i="0">
                <a:solidFill>
                  <a:srgbClr val="94A3B8"/>
                </a:solidFill>
                <a:latin typeface="Inter"/>
              </a:rPr>
              <a:t>CACHED replays real captured runs; live mode now takes credentials in-app.</a:t>
            </a:r>
          </a:p>
          <a:p>
            <a:pPr algn="l">
              <a:lnSpc>
                <a:spcPct val="105000"/>
              </a:lnSpc>
              <a:spcBef>
                <a:spcPts val="0"/>
              </a:spcBef>
              <a:spcAft>
                <a:spcPts val="100"/>
              </a:spcAft>
            </a:pPr>
            <a:r>
              <a:rPr sz="1100" b="1" i="0">
                <a:solidFill>
                  <a:srgbClr val="F0F4F8"/>
                </a:solidFill>
                <a:latin typeface="Inter"/>
              </a:rPr>
              <a:t>Prompt-injection hardening</a:t>
            </a:r>
          </a:p>
          <a:p>
            <a:pPr algn="l">
              <a:lnSpc>
                <a:spcPct val="110000"/>
              </a:lnSpc>
              <a:spcBef>
                <a:spcPts val="0"/>
              </a:spcBef>
              <a:spcAft>
                <a:spcPts val="800"/>
              </a:spcAft>
            </a:pPr>
            <a:r>
              <a:rPr sz="1050" b="0" i="0">
                <a:solidFill>
                  <a:srgbClr val="94A3B8"/>
                </a:solidFill>
                <a:latin typeface="Inter"/>
              </a:rPr>
              <a:t>System prompt forbids fabrication; explicit injection guards are a hardening pass.</a:t>
            </a:r>
          </a:p>
          <a:p>
            <a:pPr algn="l">
              <a:lnSpc>
                <a:spcPct val="105000"/>
              </a:lnSpc>
              <a:spcBef>
                <a:spcPts val="0"/>
              </a:spcBef>
              <a:spcAft>
                <a:spcPts val="100"/>
              </a:spcAft>
            </a:pPr>
            <a:r>
              <a:rPr sz="1100" b="1" i="0">
                <a:solidFill>
                  <a:srgbClr val="F0F4F8"/>
                </a:solidFill>
                <a:latin typeface="Inter"/>
              </a:rPr>
              <a:t>CI test suite</a:t>
            </a:r>
          </a:p>
          <a:p>
            <a:pPr algn="l">
              <a:lnSpc>
                <a:spcPct val="110000"/>
              </a:lnSpc>
              <a:spcBef>
                <a:spcPts val="0"/>
              </a:spcBef>
              <a:spcAft>
                <a:spcPts val="800"/>
              </a:spcAft>
            </a:pPr>
            <a:r>
              <a:rPr sz="1050" b="0" i="0">
                <a:solidFill>
                  <a:srgbClr val="94A3B8"/>
                </a:solidFill>
                <a:latin typeface="Inter"/>
              </a:rPr>
              <a:t>Type discipline + per-commit curl/behavioral verification; automated CI scoped out.</a:t>
            </a:r>
          </a:p>
        </p:txBody>
      </p:sp>
      <p:sp>
        <p:nvSpPr>
          <p:cNvPr id="7" name="Rounded Rectangle 6"/>
          <p:cNvSpPr/>
          <p:nvPr/>
        </p:nvSpPr>
        <p:spPr>
          <a:xfrm>
            <a:off x="6217920" y="1938528"/>
            <a:ext cx="5184648" cy="4434840"/>
          </a:xfrm>
          <a:prstGeom prst="roundRect">
            <a:avLst>
              <a:gd name="adj" fmla="val 6000"/>
            </a:avLst>
          </a:prstGeom>
          <a:solidFill>
            <a:srgbClr val="1A2436"/>
          </a:solidFill>
          <a:ln w="9525">
            <a:solidFill>
              <a:srgbClr val="8A7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46520" y="2121408"/>
            <a:ext cx="4754880" cy="4114800"/>
          </a:xfrm>
          <a:prstGeom prst="rect">
            <a:avLst/>
          </a:prstGeom>
          <a:noFill/>
        </p:spPr>
        <p:txBody>
          <a:bodyPr wrap="square" anchor="t" lIns="0" rIns="0" tIns="0" bIns="0">
            <a:spAutoFit/>
          </a:bodyPr>
          <a:lstStyle/>
          <a:p>
            <a:pPr algn="l">
              <a:lnSpc>
                <a:spcPct val="112000"/>
              </a:lnSpc>
              <a:spcBef>
                <a:spcPts val="0"/>
              </a:spcBef>
              <a:spcAft>
                <a:spcPts val="1000"/>
              </a:spcAft>
            </a:pPr>
            <a:r>
              <a:rPr sz="1000" b="1" i="0" spc="140">
                <a:solidFill>
                  <a:srgbClr val="C9A961"/>
                </a:solidFill>
                <a:latin typeface="Inter"/>
              </a:rPr>
              <a:t>WHAT I'D BUILD NEXT</a:t>
            </a:r>
          </a:p>
          <a:p>
            <a:pPr algn="l">
              <a:lnSpc>
                <a:spcPct val="105000"/>
              </a:lnSpc>
              <a:spcBef>
                <a:spcPts val="0"/>
              </a:spcBef>
              <a:spcAft>
                <a:spcPts val="100"/>
              </a:spcAft>
            </a:pPr>
            <a:r>
              <a:rPr sz="1100" b="1" i="0">
                <a:solidFill>
                  <a:srgbClr val="F0F4F8"/>
                </a:solidFill>
                <a:latin typeface="Inter"/>
              </a:rPr>
              <a:t>Bulk batch mode</a:t>
            </a:r>
          </a:p>
          <a:p>
            <a:pPr algn="l">
              <a:lnSpc>
                <a:spcPct val="110000"/>
              </a:lnSpc>
              <a:spcBef>
                <a:spcPts val="0"/>
              </a:spcBef>
              <a:spcAft>
                <a:spcPts val="900"/>
              </a:spcAft>
            </a:pPr>
            <a:r>
              <a:rPr sz="1050" b="0" i="0">
                <a:solidFill>
                  <a:srgbClr val="94A3B8"/>
                </a:solidFill>
                <a:latin typeface="Inter"/>
              </a:rPr>
              <a:t>Meridian's real workflow is 2,000-vendor quarterly screening — parallel agentic execution + aggregation.</a:t>
            </a:r>
          </a:p>
          <a:p>
            <a:pPr algn="l">
              <a:lnSpc>
                <a:spcPct val="105000"/>
              </a:lnSpc>
              <a:spcBef>
                <a:spcPts val="0"/>
              </a:spcBef>
              <a:spcAft>
                <a:spcPts val="100"/>
              </a:spcAft>
            </a:pPr>
            <a:r>
              <a:rPr sz="1100" b="1" i="0">
                <a:solidFill>
                  <a:srgbClr val="F0F4F8"/>
                </a:solidFill>
                <a:latin typeface="Inter"/>
              </a:rPr>
              <a:t>Webhook subscriptions</a:t>
            </a:r>
          </a:p>
          <a:p>
            <a:pPr algn="l">
              <a:lnSpc>
                <a:spcPct val="110000"/>
              </a:lnSpc>
              <a:spcBef>
                <a:spcPts val="0"/>
              </a:spcBef>
              <a:spcAft>
                <a:spcPts val="900"/>
              </a:spcAft>
            </a:pPr>
            <a:r>
              <a:rPr sz="1050" b="0" i="0">
                <a:solidFill>
                  <a:srgbClr val="94A3B8"/>
                </a:solidFill>
                <a:latin typeface="Inter"/>
              </a:rPr>
              <a:t>When ownership or a sanctions entry changes, notify the customer. Sayari graph as an event source.</a:t>
            </a:r>
          </a:p>
          <a:p>
            <a:pPr algn="l">
              <a:lnSpc>
                <a:spcPct val="105000"/>
              </a:lnSpc>
              <a:spcBef>
                <a:spcPts val="0"/>
              </a:spcBef>
              <a:spcAft>
                <a:spcPts val="100"/>
              </a:spcAft>
            </a:pPr>
            <a:r>
              <a:rPr sz="1100" b="1" i="0">
                <a:solidFill>
                  <a:srgbClr val="F0F4F8"/>
                </a:solidFill>
                <a:latin typeface="Inter"/>
              </a:rPr>
              <a:t>Configurable risk policies</a:t>
            </a:r>
          </a:p>
          <a:p>
            <a:pPr algn="l">
              <a:lnSpc>
                <a:spcPct val="110000"/>
              </a:lnSpc>
              <a:spcBef>
                <a:spcPts val="0"/>
              </a:spcBef>
              <a:spcAft>
                <a:spcPts val="900"/>
              </a:spcAft>
            </a:pPr>
            <a:r>
              <a:rPr sz="1050" b="0" i="0">
                <a:solidFill>
                  <a:srgbClr val="94A3B8"/>
                </a:solidFill>
                <a:latin typeface="Inter"/>
              </a:rPr>
              <a:t>Versioned, approval-gated, surfaced in the briefing as 'policy X flagged this entity.'</a:t>
            </a:r>
          </a:p>
          <a:p>
            <a:pPr algn="l">
              <a:lnSpc>
                <a:spcPct val="105000"/>
              </a:lnSpc>
              <a:spcBef>
                <a:spcPts val="0"/>
              </a:spcBef>
              <a:spcAft>
                <a:spcPts val="100"/>
              </a:spcAft>
            </a:pPr>
            <a:r>
              <a:rPr sz="1100" b="1" i="0">
                <a:solidFill>
                  <a:srgbClr val="F0F4F8"/>
                </a:solidFill>
                <a:latin typeface="Inter"/>
              </a:rPr>
              <a:t>Procurement integration</a:t>
            </a:r>
          </a:p>
          <a:p>
            <a:pPr algn="l">
              <a:lnSpc>
                <a:spcPct val="110000"/>
              </a:lnSpc>
              <a:spcBef>
                <a:spcPts val="0"/>
              </a:spcBef>
              <a:spcAft>
                <a:spcPts val="900"/>
              </a:spcAft>
            </a:pPr>
            <a:r>
              <a:rPr sz="1050" b="0" i="0">
                <a:solidFill>
                  <a:srgbClr val="94A3B8"/>
                </a:solidFill>
                <a:latin typeface="Inter"/>
              </a:rPr>
              <a:t>SAP Ariba, Coupa — embed screening where compliance officers already work.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9966960" y="310896"/>
            <a:ext cx="1463040" cy="274320"/>
          </a:xfrm>
          <a:prstGeom prst="rect">
            <a:avLst/>
          </a:prstGeom>
          <a:noFill/>
        </p:spPr>
        <p:txBody>
          <a:bodyPr wrap="square" anchor="t" lIns="0" rIns="0" tIns="0" bIns="0">
            <a:spAutoFit/>
          </a:bodyPr>
          <a:lstStyle/>
          <a:p>
            <a:pPr algn="r">
              <a:lnSpc>
                <a:spcPct val="112000"/>
              </a:lnSpc>
              <a:spcBef>
                <a:spcPts val="0"/>
              </a:spcBef>
              <a:spcAft>
                <a:spcPts val="0"/>
              </a:spcAft>
            </a:pPr>
            <a:r>
              <a:rPr sz="900" b="1" i="0" spc="200">
                <a:solidFill>
                  <a:srgbClr val="8A7440"/>
                </a:solidFill>
                <a:latin typeface="Inter"/>
              </a:rPr>
              <a:t>APPENDIX</a:t>
            </a:r>
          </a:p>
        </p:txBody>
      </p:sp>
      <p:sp>
        <p:nvSpPr>
          <p:cNvPr id="3" name="TextBox 2"/>
          <p:cNvSpPr txBox="1"/>
          <p:nvPr/>
        </p:nvSpPr>
        <p:spPr>
          <a:xfrm>
            <a:off x="777240" y="566928"/>
            <a:ext cx="10607040" cy="365760"/>
          </a:xfrm>
          <a:prstGeom prst="rect">
            <a:avLst/>
          </a:prstGeom>
          <a:noFill/>
        </p:spPr>
        <p:txBody>
          <a:bodyPr wrap="square" anchor="t" lIns="0" rIns="0" tIns="0" bIns="0">
            <a:spAutoFit/>
          </a:bodyPr>
          <a:lstStyle/>
          <a:p>
            <a:pPr algn="l">
              <a:lnSpc>
                <a:spcPct val="112000"/>
              </a:lnSpc>
              <a:spcBef>
                <a:spcPts val="0"/>
              </a:spcBef>
              <a:spcAft>
                <a:spcPts val="0"/>
              </a:spcAft>
            </a:pPr>
            <a:r>
              <a:rPr sz="1250" b="1" i="0" spc="220">
                <a:solidFill>
                  <a:srgbClr val="94A3B8"/>
                </a:solidFill>
                <a:latin typeface="Inter"/>
              </a:rPr>
              <a:t>OBSERVABILITY — THE DATA MODEL BEHIND THE UI</a:t>
            </a:r>
          </a:p>
        </p:txBody>
      </p:sp>
      <p:sp>
        <p:nvSpPr>
          <p:cNvPr id="4" name="TextBox 3"/>
          <p:cNvSpPr txBox="1"/>
          <p:nvPr/>
        </p:nvSpPr>
        <p:spPr>
          <a:xfrm>
            <a:off x="777240" y="932688"/>
            <a:ext cx="10607040" cy="91440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F0F4F8"/>
                </a:solidFill>
                <a:latin typeface="Cormorant Garamond"/>
              </a:rPr>
              <a:t>Every finding traces to its source</a:t>
            </a:r>
          </a:p>
        </p:txBody>
      </p:sp>
      <p:sp>
        <p:nvSpPr>
          <p:cNvPr id="5" name="Rectangle 4"/>
          <p:cNvSpPr/>
          <p:nvPr/>
        </p:nvSpPr>
        <p:spPr>
          <a:xfrm>
            <a:off x="777240" y="1783080"/>
            <a:ext cx="10607040" cy="11887"/>
          </a:xfrm>
          <a:prstGeom prst="rect">
            <a:avLst/>
          </a:prstGeom>
          <a:solidFill>
            <a:srgbClr val="2A38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77240" y="1938528"/>
            <a:ext cx="5184648" cy="1874519"/>
          </a:xfrm>
          <a:prstGeom prst="roundRect">
            <a:avLst>
              <a:gd name="adj" fmla="val 6000"/>
            </a:avLst>
          </a:prstGeom>
          <a:solidFill>
            <a:srgbClr val="050B14"/>
          </a:solidFill>
          <a:ln w="9525">
            <a:solidFill>
              <a:srgbClr val="2A38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2103120"/>
            <a:ext cx="4800600" cy="1554480"/>
          </a:xfrm>
          <a:prstGeom prst="rect">
            <a:avLst/>
          </a:prstGeom>
          <a:noFill/>
        </p:spPr>
        <p:txBody>
          <a:bodyPr wrap="square" anchor="t" lIns="0" rIns="0" tIns="0" bIns="0">
            <a:spAutoFit/>
          </a:bodyPr>
          <a:lstStyle/>
          <a:p>
            <a:pPr algn="l">
              <a:lnSpc>
                <a:spcPct val="112000"/>
              </a:lnSpc>
              <a:spcBef>
                <a:spcPts val="0"/>
              </a:spcBef>
              <a:spcAft>
                <a:spcPts val="600"/>
              </a:spcAft>
            </a:pPr>
            <a:r>
              <a:rPr sz="950" b="1" i="0" spc="160">
                <a:solidFill>
                  <a:srgbClr val="C9A961"/>
                </a:solidFill>
                <a:latin typeface="Inter"/>
              </a:rPr>
              <a:t>THE UNIVERSAL CONTRACT</a:t>
            </a:r>
          </a:p>
          <a:p>
            <a:pPr algn="l">
              <a:lnSpc>
                <a:spcPct val="112000"/>
              </a:lnSpc>
              <a:spcBef>
                <a:spcPts val="0"/>
              </a:spcBef>
              <a:spcAft>
                <a:spcPts val="500"/>
              </a:spcAft>
            </a:pPr>
            <a:r>
              <a:rPr sz="1250" b="0" i="0">
                <a:solidFill>
                  <a:srgbClr val="F0F4F8"/>
                </a:solidFill>
                <a:latin typeface="JetBrains Mono"/>
              </a:rPr>
              <a:t>CitedResult(data, source)</a:t>
            </a:r>
          </a:p>
          <a:p>
            <a:pPr algn="l">
              <a:lnSpc>
                <a:spcPct val="105000"/>
              </a:lnSpc>
              <a:spcBef>
                <a:spcPts val="0"/>
              </a:spcBef>
              <a:spcAft>
                <a:spcPts val="200"/>
              </a:spcAft>
            </a:pPr>
            <a:r>
              <a:rPr sz="950" b="0" i="0">
                <a:solidFill>
                  <a:srgbClr val="CBD5E1"/>
                </a:solidFill>
                <a:latin typeface="JetBrains Mono"/>
              </a:rPr>
              <a:t>  • source.entity_url</a:t>
            </a:r>
          </a:p>
          <a:p>
            <a:pPr algn="l">
              <a:lnSpc>
                <a:spcPct val="105000"/>
              </a:lnSpc>
              <a:spcBef>
                <a:spcPts val="0"/>
              </a:spcBef>
              <a:spcAft>
                <a:spcPts val="200"/>
              </a:spcAft>
            </a:pPr>
            <a:r>
              <a:rPr sz="950" b="0" i="0">
                <a:solidFill>
                  <a:srgbClr val="CBD5E1"/>
                </a:solidFill>
                <a:latin typeface="JetBrains Mono"/>
              </a:rPr>
              <a:t>  • source.raw_field_path</a:t>
            </a:r>
          </a:p>
          <a:p>
            <a:pPr algn="l">
              <a:lnSpc>
                <a:spcPct val="105000"/>
              </a:lnSpc>
              <a:spcBef>
                <a:spcPts val="0"/>
              </a:spcBef>
              <a:spcAft>
                <a:spcPts val="200"/>
              </a:spcAft>
            </a:pPr>
            <a:r>
              <a:rPr sz="950" b="0" i="0">
                <a:solidFill>
                  <a:srgbClr val="CBD5E1"/>
                </a:solidFill>
                <a:latin typeface="JetBrains Mono"/>
              </a:rPr>
              <a:t>  • source.cache_file</a:t>
            </a:r>
          </a:p>
          <a:p>
            <a:pPr algn="l">
              <a:lnSpc>
                <a:spcPct val="105000"/>
              </a:lnSpc>
              <a:spcBef>
                <a:spcPts val="0"/>
              </a:spcBef>
              <a:spcAft>
                <a:spcPts val="200"/>
              </a:spcAft>
            </a:pPr>
            <a:r>
              <a:rPr sz="950" b="0" i="0">
                <a:solidFill>
                  <a:srgbClr val="CBD5E1"/>
                </a:solidFill>
                <a:latin typeface="JetBrains Mono"/>
              </a:rPr>
              <a:t>  • source.api_endpoint</a:t>
            </a:r>
          </a:p>
        </p:txBody>
      </p:sp>
      <p:sp>
        <p:nvSpPr>
          <p:cNvPr id="8" name="Rounded Rectangle 7"/>
          <p:cNvSpPr/>
          <p:nvPr/>
        </p:nvSpPr>
        <p:spPr>
          <a:xfrm>
            <a:off x="6217920" y="1938528"/>
            <a:ext cx="5184648" cy="1874519"/>
          </a:xfrm>
          <a:prstGeom prst="roundRect">
            <a:avLst>
              <a:gd name="adj" fmla="val 6000"/>
            </a:avLst>
          </a:prstGeom>
          <a:solidFill>
            <a:srgbClr val="050B14"/>
          </a:solidFill>
          <a:ln w="9525">
            <a:solidFill>
              <a:srgbClr val="2A38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28232" y="2103120"/>
            <a:ext cx="4800600" cy="1554480"/>
          </a:xfrm>
          <a:prstGeom prst="rect">
            <a:avLst/>
          </a:prstGeom>
          <a:noFill/>
        </p:spPr>
        <p:txBody>
          <a:bodyPr wrap="square" anchor="t" lIns="0" rIns="0" tIns="0" bIns="0">
            <a:spAutoFit/>
          </a:bodyPr>
          <a:lstStyle/>
          <a:p>
            <a:pPr algn="l">
              <a:lnSpc>
                <a:spcPct val="112000"/>
              </a:lnSpc>
              <a:spcBef>
                <a:spcPts val="0"/>
              </a:spcBef>
              <a:spcAft>
                <a:spcPts val="600"/>
              </a:spcAft>
            </a:pPr>
            <a:r>
              <a:rPr sz="950" b="1" i="0" spc="140">
                <a:solidFill>
                  <a:srgbClr val="C9A961"/>
                </a:solidFill>
                <a:latin typeface="Inter"/>
              </a:rPr>
              <a:t>STREAMING EVENT PROTOCOL (SSE)</a:t>
            </a:r>
          </a:p>
          <a:p>
            <a:pPr algn="l">
              <a:lnSpc>
                <a:spcPct val="115000"/>
              </a:lnSpc>
              <a:spcBef>
                <a:spcPts val="0"/>
              </a:spcBef>
              <a:spcAft>
                <a:spcPts val="500"/>
              </a:spcAft>
            </a:pPr>
            <a:r>
              <a:rPr sz="900" b="0" i="0">
                <a:solidFill>
                  <a:srgbClr val="CBD5E1"/>
                </a:solidFill>
                <a:latin typeface="JetBrains Mono"/>
              </a:rPr>
              <a:t>Agent:  token · tool_call · tool_result · citation · flag · answer_meta · done · error</a:t>
            </a:r>
          </a:p>
          <a:p>
            <a:pPr algn="l">
              <a:lnSpc>
                <a:spcPct val="115000"/>
              </a:lnSpc>
              <a:spcBef>
                <a:spcPts val="0"/>
              </a:spcBef>
              <a:spcAft>
                <a:spcPts val="400"/>
              </a:spcAft>
            </a:pPr>
            <a:r>
              <a:rPr sz="900" b="0" i="0">
                <a:solidFill>
                  <a:srgbClr val="CBD5E1"/>
                </a:solidFill>
                <a:latin typeface="JetBrains Mono"/>
              </a:rPr>
              <a:t>Upload:  row_start · row_resolved (steps[] with per-call durations, findings, sources)</a:t>
            </a:r>
          </a:p>
        </p:txBody>
      </p:sp>
      <p:sp>
        <p:nvSpPr>
          <p:cNvPr id="10" name="Rounded Rectangle 9"/>
          <p:cNvSpPr/>
          <p:nvPr/>
        </p:nvSpPr>
        <p:spPr>
          <a:xfrm>
            <a:off x="777240" y="3968496"/>
            <a:ext cx="10625328" cy="1874519"/>
          </a:xfrm>
          <a:prstGeom prst="roundRect">
            <a:avLst>
              <a:gd name="adj" fmla="val 6000"/>
            </a:avLst>
          </a:prstGeom>
          <a:solidFill>
            <a:srgbClr val="1A2436"/>
          </a:solidFill>
          <a:ln w="9525">
            <a:solidFill>
              <a:srgbClr val="2A38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33087"/>
            <a:ext cx="10149840" cy="1554480"/>
          </a:xfrm>
          <a:prstGeom prst="rect">
            <a:avLst/>
          </a:prstGeom>
          <a:noFill/>
        </p:spPr>
        <p:txBody>
          <a:bodyPr wrap="square" anchor="t" lIns="0" rIns="0" tIns="0" bIns="0">
            <a:spAutoFit/>
          </a:bodyPr>
          <a:lstStyle/>
          <a:p>
            <a:pPr algn="l">
              <a:lnSpc>
                <a:spcPct val="112000"/>
              </a:lnSpc>
              <a:spcBef>
                <a:spcPts val="0"/>
              </a:spcBef>
              <a:spcAft>
                <a:spcPts val="800"/>
              </a:spcAft>
            </a:pPr>
            <a:r>
              <a:rPr sz="950" b="1" i="0" spc="120">
                <a:solidFill>
                  <a:srgbClr val="C9A961"/>
                </a:solidFill>
                <a:latin typeface="Inter"/>
              </a:rPr>
              <a:t>THREE-TIER PROGRESSIVE DISCLOSURE  ·  the Validate-and-Run trace</a:t>
            </a:r>
          </a:p>
          <a:p>
            <a:pPr algn="l">
              <a:lnSpc>
                <a:spcPct val="110000"/>
              </a:lnSpc>
              <a:spcBef>
                <a:spcPts val="0"/>
              </a:spcBef>
              <a:spcAft>
                <a:spcPts val="600"/>
              </a:spcAft>
            </a:pPr>
            <a:r>
              <a:rPr sz="1100" b="1" i="0">
                <a:solidFill>
                  <a:srgbClr val="F0F4F8"/>
                </a:solidFill>
                <a:latin typeface="Inter"/>
              </a:rPr>
              <a:t>Tier 1 — row summary    </a:t>
            </a:r>
            <a:r>
              <a:rPr sz="950" b="0" i="0">
                <a:solidFill>
                  <a:srgbClr val="94A3B8"/>
                </a:solidFill>
                <a:latin typeface="JetBrains Mono"/>
              </a:rPr>
              <a:t>row N · name · sanction chips · entity id · verify flag</a:t>
            </a:r>
          </a:p>
          <a:p>
            <a:pPr algn="l">
              <a:lnSpc>
                <a:spcPct val="110000"/>
              </a:lnSpc>
              <a:spcBef>
                <a:spcPts val="0"/>
              </a:spcBef>
              <a:spcAft>
                <a:spcPts val="600"/>
              </a:spcAft>
            </a:pPr>
            <a:r>
              <a:rPr sz="1100" b="1" i="0">
                <a:solidFill>
                  <a:srgbClr val="F0F4F8"/>
                </a:solidFill>
                <a:latin typeface="Inter"/>
              </a:rPr>
              <a:t>Tier 2 — expand    </a:t>
            </a:r>
            <a:r>
              <a:rPr sz="950" b="0" i="0">
                <a:solidFill>
                  <a:srgbClr val="94A3B8"/>
                </a:solidFill>
                <a:latin typeface="JetBrains Mono"/>
              </a:rPr>
              <a:t>per-API-call steps: endpoint, payload, candidate count, duration</a:t>
            </a:r>
          </a:p>
          <a:p>
            <a:pPr algn="l">
              <a:lnSpc>
                <a:spcPct val="110000"/>
              </a:lnSpc>
              <a:spcBef>
                <a:spcPts val="0"/>
              </a:spcBef>
              <a:spcAft>
                <a:spcPts val="600"/>
              </a:spcAft>
            </a:pPr>
            <a:r>
              <a:rPr sz="1100" b="1" i="0">
                <a:solidFill>
                  <a:srgbClr val="F0F4F8"/>
                </a:solidFill>
                <a:latin typeface="Inter"/>
              </a:rPr>
              <a:t>Tier 3 — full payload    </a:t>
            </a:r>
            <a:r>
              <a:rPr sz="950" b="0" i="0">
                <a:solidFill>
                  <a:srgbClr val="94A3B8"/>
                </a:solidFill>
                <a:latin typeface="JetBrains Mono"/>
              </a:rPr>
              <a:t>findings, identifiers, outcome banner, clickable source-cache links</a:t>
            </a:r>
          </a:p>
        </p:txBody>
      </p:sp>
      <p:sp>
        <p:nvSpPr>
          <p:cNvPr id="12" name="TextBox 11"/>
          <p:cNvSpPr txBox="1"/>
          <p:nvPr/>
        </p:nvSpPr>
        <p:spPr>
          <a:xfrm>
            <a:off x="777240" y="5989320"/>
            <a:ext cx="10625328" cy="502920"/>
          </a:xfrm>
          <a:prstGeom prst="rect">
            <a:avLst/>
          </a:prstGeom>
          <a:noFill/>
        </p:spPr>
        <p:txBody>
          <a:bodyPr wrap="square" anchor="t" lIns="0" rIns="0" tIns="0" bIns="0">
            <a:spAutoFit/>
          </a:bodyPr>
          <a:lstStyle/>
          <a:p>
            <a:pPr algn="l">
              <a:lnSpc>
                <a:spcPct val="105000"/>
              </a:lnSpc>
              <a:spcBef>
                <a:spcPts val="0"/>
              </a:spcBef>
              <a:spcAft>
                <a:spcPts val="200"/>
              </a:spcAft>
            </a:pPr>
            <a:r>
              <a:rPr sz="850" b="0" i="0">
                <a:solidFill>
                  <a:srgbClr val="8A7440"/>
                </a:solidFill>
                <a:latin typeface="JetBrains Mono"/>
              </a:rPr>
              <a:t>services/api/tools/compare_ofac_vs_sayari.py  ·  services/api/routers/uploads.py:550-610  ·  design-prototype/surfaces/upload.jsx</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9966960" y="310896"/>
            <a:ext cx="1463040" cy="274320"/>
          </a:xfrm>
          <a:prstGeom prst="rect">
            <a:avLst/>
          </a:prstGeom>
          <a:noFill/>
        </p:spPr>
        <p:txBody>
          <a:bodyPr wrap="square" anchor="t" lIns="0" rIns="0" tIns="0" bIns="0">
            <a:spAutoFit/>
          </a:bodyPr>
          <a:lstStyle/>
          <a:p>
            <a:pPr algn="r">
              <a:lnSpc>
                <a:spcPct val="112000"/>
              </a:lnSpc>
              <a:spcBef>
                <a:spcPts val="0"/>
              </a:spcBef>
              <a:spcAft>
                <a:spcPts val="0"/>
              </a:spcAft>
            </a:pPr>
            <a:r>
              <a:rPr sz="900" b="1" i="0" spc="200">
                <a:solidFill>
                  <a:srgbClr val="8A7440"/>
                </a:solidFill>
                <a:latin typeface="Inter"/>
              </a:rPr>
              <a:t>APPENDIX</a:t>
            </a:r>
          </a:p>
        </p:txBody>
      </p:sp>
      <p:sp>
        <p:nvSpPr>
          <p:cNvPr id="3" name="TextBox 2"/>
          <p:cNvSpPr txBox="1"/>
          <p:nvPr/>
        </p:nvSpPr>
        <p:spPr>
          <a:xfrm>
            <a:off x="777240" y="566928"/>
            <a:ext cx="10607040" cy="365760"/>
          </a:xfrm>
          <a:prstGeom prst="rect">
            <a:avLst/>
          </a:prstGeom>
          <a:noFill/>
        </p:spPr>
        <p:txBody>
          <a:bodyPr wrap="square" anchor="t" lIns="0" rIns="0" tIns="0" bIns="0">
            <a:spAutoFit/>
          </a:bodyPr>
          <a:lstStyle/>
          <a:p>
            <a:pPr algn="l">
              <a:lnSpc>
                <a:spcPct val="112000"/>
              </a:lnSpc>
              <a:spcBef>
                <a:spcPts val="0"/>
              </a:spcBef>
              <a:spcAft>
                <a:spcPts val="0"/>
              </a:spcAft>
            </a:pPr>
            <a:r>
              <a:rPr sz="1250" b="1" i="0" spc="220">
                <a:solidFill>
                  <a:srgbClr val="94A3B8"/>
                </a:solidFill>
                <a:latin typeface="Inter"/>
              </a:rPr>
              <a:t>HOW I WORKED WITH AI TOOLING</a:t>
            </a:r>
          </a:p>
        </p:txBody>
      </p:sp>
      <p:sp>
        <p:nvSpPr>
          <p:cNvPr id="4" name="TextBox 3"/>
          <p:cNvSpPr txBox="1"/>
          <p:nvPr/>
        </p:nvSpPr>
        <p:spPr>
          <a:xfrm>
            <a:off x="777240" y="932688"/>
            <a:ext cx="1060704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0" i="0">
                <a:solidFill>
                  <a:srgbClr val="F0F4F8"/>
                </a:solidFill>
                <a:latin typeface="Cormorant Garamond"/>
              </a:rPr>
              <a:t>AI-native workflow: three layers of judgment</a:t>
            </a:r>
          </a:p>
        </p:txBody>
      </p:sp>
      <p:sp>
        <p:nvSpPr>
          <p:cNvPr id="5" name="Rectangle 4"/>
          <p:cNvSpPr/>
          <p:nvPr/>
        </p:nvSpPr>
        <p:spPr>
          <a:xfrm>
            <a:off x="777240" y="1783080"/>
            <a:ext cx="10607040" cy="11887"/>
          </a:xfrm>
          <a:prstGeom prst="rect">
            <a:avLst/>
          </a:prstGeom>
          <a:solidFill>
            <a:srgbClr val="2A38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77240" y="1956816"/>
            <a:ext cx="3419856" cy="2743200"/>
          </a:xfrm>
          <a:prstGeom prst="roundRect">
            <a:avLst>
              <a:gd name="adj" fmla="val 6000"/>
            </a:avLst>
          </a:prstGeom>
          <a:solidFill>
            <a:srgbClr val="1A2436"/>
          </a:solidFill>
          <a:ln w="9525">
            <a:solidFill>
              <a:srgbClr val="2A38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956816"/>
            <a:ext cx="54864" cy="2743200"/>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2139696"/>
            <a:ext cx="2962656" cy="2468880"/>
          </a:xfrm>
          <a:prstGeom prst="rect">
            <a:avLst/>
          </a:prstGeom>
          <a:noFill/>
        </p:spPr>
        <p:txBody>
          <a:bodyPr wrap="square" anchor="t" lIns="0" rIns="0" tIns="0" bIns="0">
            <a:spAutoFit/>
          </a:bodyPr>
          <a:lstStyle/>
          <a:p>
            <a:pPr algn="l">
              <a:lnSpc>
                <a:spcPct val="112000"/>
              </a:lnSpc>
              <a:spcBef>
                <a:spcPts val="0"/>
              </a:spcBef>
              <a:spcAft>
                <a:spcPts val="100"/>
              </a:spcAft>
            </a:pPr>
            <a:r>
              <a:rPr sz="2100" b="0" i="0">
                <a:solidFill>
                  <a:srgbClr val="C9A961"/>
                </a:solidFill>
                <a:latin typeface="Cormorant Garamond"/>
              </a:rPr>
              <a:t>Claude</a:t>
            </a:r>
          </a:p>
          <a:p>
            <a:pPr algn="l">
              <a:lnSpc>
                <a:spcPct val="112000"/>
              </a:lnSpc>
              <a:spcBef>
                <a:spcPts val="0"/>
              </a:spcBef>
              <a:spcAft>
                <a:spcPts val="900"/>
              </a:spcAft>
            </a:pPr>
            <a:r>
              <a:rPr sz="900" b="1" i="0" spc="160">
                <a:solidFill>
                  <a:srgbClr val="64748B"/>
                </a:solidFill>
                <a:latin typeface="Inter"/>
              </a:rPr>
              <a:t>PLANNING + DESIGN</a:t>
            </a:r>
          </a:p>
          <a:p>
            <a:pPr algn="l">
              <a:lnSpc>
                <a:spcPct val="112000"/>
              </a:lnSpc>
              <a:spcBef>
                <a:spcPts val="0"/>
              </a:spcBef>
              <a:spcAft>
                <a:spcPts val="700"/>
              </a:spcAft>
            </a:pPr>
            <a:r>
              <a:rPr sz="1100" b="0" i="0">
                <a:solidFill>
                  <a:srgbClr val="8A7440"/>
                </a:solidFill>
                <a:latin typeface="Inter"/>
              </a:rPr>
              <a:t>—  </a:t>
            </a:r>
            <a:r>
              <a:rPr sz="1100" b="0" i="0">
                <a:solidFill>
                  <a:srgbClr val="94A3B8"/>
                </a:solidFill>
                <a:latin typeface="Inter"/>
              </a:rPr>
              <a:t>Architecture decisions, scope discussions, ADR drafting</a:t>
            </a:r>
          </a:p>
          <a:p>
            <a:pPr algn="l">
              <a:lnSpc>
                <a:spcPct val="112000"/>
              </a:lnSpc>
              <a:spcBef>
                <a:spcPts val="0"/>
              </a:spcBef>
              <a:spcAft>
                <a:spcPts val="700"/>
              </a:spcAft>
            </a:pPr>
            <a:r>
              <a:rPr sz="1100" b="0" i="0">
                <a:solidFill>
                  <a:srgbClr val="8A7440"/>
                </a:solidFill>
                <a:latin typeface="Inter"/>
              </a:rPr>
              <a:t>—  </a:t>
            </a:r>
            <a:r>
              <a:rPr sz="1100" b="0" i="0">
                <a:solidFill>
                  <a:srgbClr val="94A3B8"/>
                </a:solidFill>
                <a:latin typeface="Inter"/>
              </a:rPr>
              <a:t>Pushed back when I was over-scoping</a:t>
            </a:r>
          </a:p>
          <a:p>
            <a:pPr algn="l">
              <a:lnSpc>
                <a:spcPct val="112000"/>
              </a:lnSpc>
              <a:spcBef>
                <a:spcPts val="0"/>
              </a:spcBef>
              <a:spcAft>
                <a:spcPts val="700"/>
              </a:spcAft>
            </a:pPr>
            <a:r>
              <a:rPr sz="1100" b="0" i="0">
                <a:solidFill>
                  <a:srgbClr val="8A7440"/>
                </a:solidFill>
                <a:latin typeface="Inter"/>
              </a:rPr>
              <a:t>—  </a:t>
            </a:r>
            <a:r>
              <a:rPr sz="1100" b="0" i="0">
                <a:solidFill>
                  <a:srgbClr val="94A3B8"/>
                </a:solidFill>
                <a:latin typeface="Inter"/>
              </a:rPr>
              <a:t>Drafted locked-scope phase prompts with explicit verification asks</a:t>
            </a:r>
          </a:p>
        </p:txBody>
      </p:sp>
      <p:sp>
        <p:nvSpPr>
          <p:cNvPr id="9" name="Rounded Rectangle 8"/>
          <p:cNvSpPr/>
          <p:nvPr/>
        </p:nvSpPr>
        <p:spPr>
          <a:xfrm>
            <a:off x="4453128" y="1956816"/>
            <a:ext cx="3419856" cy="2743200"/>
          </a:xfrm>
          <a:prstGeom prst="roundRect">
            <a:avLst>
              <a:gd name="adj" fmla="val 6000"/>
            </a:avLst>
          </a:prstGeom>
          <a:solidFill>
            <a:srgbClr val="1A2436"/>
          </a:solidFill>
          <a:ln w="9525">
            <a:solidFill>
              <a:srgbClr val="2A38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453128" y="1956816"/>
            <a:ext cx="54864" cy="2743200"/>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90872" y="2139696"/>
            <a:ext cx="2962656" cy="2468880"/>
          </a:xfrm>
          <a:prstGeom prst="rect">
            <a:avLst/>
          </a:prstGeom>
          <a:noFill/>
        </p:spPr>
        <p:txBody>
          <a:bodyPr wrap="square" anchor="t" lIns="0" rIns="0" tIns="0" bIns="0">
            <a:spAutoFit/>
          </a:bodyPr>
          <a:lstStyle/>
          <a:p>
            <a:pPr algn="l">
              <a:lnSpc>
                <a:spcPct val="112000"/>
              </a:lnSpc>
              <a:spcBef>
                <a:spcPts val="0"/>
              </a:spcBef>
              <a:spcAft>
                <a:spcPts val="100"/>
              </a:spcAft>
            </a:pPr>
            <a:r>
              <a:rPr sz="2100" b="0" i="0">
                <a:solidFill>
                  <a:srgbClr val="C9A961"/>
                </a:solidFill>
                <a:latin typeface="Cormorant Garamond"/>
              </a:rPr>
              <a:t>Claude Code</a:t>
            </a:r>
          </a:p>
          <a:p>
            <a:pPr algn="l">
              <a:lnSpc>
                <a:spcPct val="112000"/>
              </a:lnSpc>
              <a:spcBef>
                <a:spcPts val="0"/>
              </a:spcBef>
              <a:spcAft>
                <a:spcPts val="900"/>
              </a:spcAft>
            </a:pPr>
            <a:r>
              <a:rPr sz="900" b="1" i="0" spc="160">
                <a:solidFill>
                  <a:srgbClr val="64748B"/>
                </a:solidFill>
                <a:latin typeface="Inter"/>
              </a:rPr>
              <a:t>IMPLEMENTATION</a:t>
            </a:r>
          </a:p>
          <a:p>
            <a:pPr algn="l">
              <a:lnSpc>
                <a:spcPct val="112000"/>
              </a:lnSpc>
              <a:spcBef>
                <a:spcPts val="0"/>
              </a:spcBef>
              <a:spcAft>
                <a:spcPts val="700"/>
              </a:spcAft>
            </a:pPr>
            <a:r>
              <a:rPr sz="1100" b="0" i="0">
                <a:solidFill>
                  <a:srgbClr val="8A7440"/>
                </a:solidFill>
                <a:latin typeface="Inter"/>
              </a:rPr>
              <a:t>—  </a:t>
            </a:r>
            <a:r>
              <a:rPr sz="1100" b="0" i="0">
                <a:solidFill>
                  <a:srgbClr val="94A3B8"/>
                </a:solidFill>
                <a:latin typeface="Inter"/>
              </a:rPr>
              <a:t>Executed locked-scope prompts as focused commits</a:t>
            </a:r>
          </a:p>
          <a:p>
            <a:pPr algn="l">
              <a:lnSpc>
                <a:spcPct val="112000"/>
              </a:lnSpc>
              <a:spcBef>
                <a:spcPts val="0"/>
              </a:spcBef>
              <a:spcAft>
                <a:spcPts val="700"/>
              </a:spcAft>
            </a:pPr>
            <a:r>
              <a:rPr sz="1100" b="0" i="0">
                <a:solidFill>
                  <a:srgbClr val="8A7440"/>
                </a:solidFill>
                <a:latin typeface="Inter"/>
              </a:rPr>
              <a:t>—  </a:t>
            </a:r>
            <a:r>
              <a:rPr sz="1100" b="0" i="0">
                <a:solidFill>
                  <a:srgbClr val="94A3B8"/>
                </a:solidFill>
                <a:latin typeface="Inter"/>
              </a:rPr>
              <a:t>Cited file:line in every change; ran the app + curl-verified in-session</a:t>
            </a:r>
          </a:p>
          <a:p>
            <a:pPr algn="l">
              <a:lnSpc>
                <a:spcPct val="112000"/>
              </a:lnSpc>
              <a:spcBef>
                <a:spcPts val="0"/>
              </a:spcBef>
              <a:spcAft>
                <a:spcPts val="700"/>
              </a:spcAft>
            </a:pPr>
            <a:r>
              <a:rPr sz="1100" b="0" i="0">
                <a:solidFill>
                  <a:srgbClr val="8A7440"/>
                </a:solidFill>
                <a:latin typeface="Inter"/>
              </a:rPr>
              <a:t>—  </a:t>
            </a:r>
            <a:r>
              <a:rPr sz="1100" b="0" i="0">
                <a:solidFill>
                  <a:srgbClr val="94A3B8"/>
                </a:solidFill>
                <a:latin typeface="Inter"/>
              </a:rPr>
              <a:t>Caught its own regressions — hooks-order bug, blank-row miscount, d3 coord transforms</a:t>
            </a:r>
          </a:p>
        </p:txBody>
      </p:sp>
      <p:sp>
        <p:nvSpPr>
          <p:cNvPr id="12" name="Rounded Rectangle 11"/>
          <p:cNvSpPr/>
          <p:nvPr/>
        </p:nvSpPr>
        <p:spPr>
          <a:xfrm>
            <a:off x="8129016" y="1956816"/>
            <a:ext cx="3419856" cy="2743200"/>
          </a:xfrm>
          <a:prstGeom prst="roundRect">
            <a:avLst>
              <a:gd name="adj" fmla="val 6000"/>
            </a:avLst>
          </a:prstGeom>
          <a:solidFill>
            <a:srgbClr val="1A2436"/>
          </a:solidFill>
          <a:ln w="9525">
            <a:solidFill>
              <a:srgbClr val="2A38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129016" y="1956816"/>
            <a:ext cx="54864" cy="2743200"/>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66760" y="2139696"/>
            <a:ext cx="2962656" cy="2468880"/>
          </a:xfrm>
          <a:prstGeom prst="rect">
            <a:avLst/>
          </a:prstGeom>
          <a:noFill/>
        </p:spPr>
        <p:txBody>
          <a:bodyPr wrap="square" anchor="t" lIns="0" rIns="0" tIns="0" bIns="0">
            <a:spAutoFit/>
          </a:bodyPr>
          <a:lstStyle/>
          <a:p>
            <a:pPr algn="l">
              <a:lnSpc>
                <a:spcPct val="112000"/>
              </a:lnSpc>
              <a:spcBef>
                <a:spcPts val="0"/>
              </a:spcBef>
              <a:spcAft>
                <a:spcPts val="100"/>
              </a:spcAft>
            </a:pPr>
            <a:r>
              <a:rPr sz="2100" b="0" i="0">
                <a:solidFill>
                  <a:srgbClr val="C9A961"/>
                </a:solidFill>
                <a:latin typeface="Cormorant Garamond"/>
              </a:rPr>
              <a:t>Me</a:t>
            </a:r>
          </a:p>
          <a:p>
            <a:pPr algn="l">
              <a:lnSpc>
                <a:spcPct val="112000"/>
              </a:lnSpc>
              <a:spcBef>
                <a:spcPts val="0"/>
              </a:spcBef>
              <a:spcAft>
                <a:spcPts val="900"/>
              </a:spcAft>
            </a:pPr>
            <a:r>
              <a:rPr sz="900" b="1" i="0" spc="160">
                <a:solidFill>
                  <a:srgbClr val="64748B"/>
                </a:solidFill>
                <a:latin typeface="Inter"/>
              </a:rPr>
              <a:t>VERIFICATION + JUDGMENT</a:t>
            </a:r>
          </a:p>
          <a:p>
            <a:pPr algn="l">
              <a:lnSpc>
                <a:spcPct val="112000"/>
              </a:lnSpc>
              <a:spcBef>
                <a:spcPts val="0"/>
              </a:spcBef>
              <a:spcAft>
                <a:spcPts val="700"/>
              </a:spcAft>
            </a:pPr>
            <a:r>
              <a:rPr sz="1100" b="0" i="0">
                <a:solidFill>
                  <a:srgbClr val="8A7440"/>
                </a:solidFill>
                <a:latin typeface="Inter"/>
              </a:rPr>
              <a:t>—  </a:t>
            </a:r>
            <a:r>
              <a:rPr sz="1100" b="0" i="0">
                <a:solidFill>
                  <a:srgbClr val="94A3B8"/>
                </a:solidFill>
                <a:latin typeface="Inter"/>
              </a:rPr>
              <a:t>Walked the running app after every change</a:t>
            </a:r>
          </a:p>
          <a:p>
            <a:pPr algn="l">
              <a:lnSpc>
                <a:spcPct val="112000"/>
              </a:lnSpc>
              <a:spcBef>
                <a:spcPts val="0"/>
              </a:spcBef>
              <a:spcAft>
                <a:spcPts val="700"/>
              </a:spcAft>
            </a:pPr>
            <a:r>
              <a:rPr sz="1100" b="0" i="0">
                <a:solidFill>
                  <a:srgbClr val="8A7440"/>
                </a:solidFill>
                <a:latin typeface="Inter"/>
              </a:rPr>
              <a:t>—  </a:t>
            </a:r>
            <a:r>
              <a:rPr sz="1100" b="0" i="0">
                <a:solidFill>
                  <a:srgbClr val="94A3B8"/>
                </a:solidFill>
                <a:latin typeface="Inter"/>
              </a:rPr>
              <a:t>Made the product and timeline calls</a:t>
            </a:r>
          </a:p>
          <a:p>
            <a:pPr algn="l">
              <a:lnSpc>
                <a:spcPct val="112000"/>
              </a:lnSpc>
              <a:spcBef>
                <a:spcPts val="0"/>
              </a:spcBef>
              <a:spcAft>
                <a:spcPts val="700"/>
              </a:spcAft>
            </a:pPr>
            <a:r>
              <a:rPr sz="1100" b="0" i="0">
                <a:solidFill>
                  <a:srgbClr val="8A7440"/>
                </a:solidFill>
                <a:latin typeface="Inter"/>
              </a:rPr>
              <a:t>—  </a:t>
            </a:r>
            <a:r>
              <a:rPr sz="1100" b="0" i="0">
                <a:solidFill>
                  <a:srgbClr val="94A3B8"/>
                </a:solidFill>
                <a:latin typeface="Inter"/>
              </a:rPr>
              <a:t>Pushed back on scope creep; rejected stale suggestions</a:t>
            </a:r>
          </a:p>
        </p:txBody>
      </p:sp>
      <p:sp>
        <p:nvSpPr>
          <p:cNvPr id="15" name="Rounded Rectangle 14"/>
          <p:cNvSpPr/>
          <p:nvPr/>
        </p:nvSpPr>
        <p:spPr>
          <a:xfrm>
            <a:off x="777240" y="4864608"/>
            <a:ext cx="10625328" cy="1417320"/>
          </a:xfrm>
          <a:prstGeom prst="roundRect">
            <a:avLst>
              <a:gd name="adj" fmla="val 6000"/>
            </a:avLst>
          </a:prstGeom>
          <a:solidFill>
            <a:srgbClr val="0A1628"/>
          </a:solidFill>
          <a:ln w="9525">
            <a:solidFill>
              <a:srgbClr val="8A7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5029200"/>
            <a:ext cx="10149840" cy="1143000"/>
          </a:xfrm>
          <a:prstGeom prst="rect">
            <a:avLst/>
          </a:prstGeom>
          <a:noFill/>
        </p:spPr>
        <p:txBody>
          <a:bodyPr wrap="square" anchor="t" lIns="0" rIns="0" tIns="0" bIns="0">
            <a:spAutoFit/>
          </a:bodyPr>
          <a:lstStyle/>
          <a:p>
            <a:pPr algn="l">
              <a:lnSpc>
                <a:spcPct val="112000"/>
              </a:lnSpc>
              <a:spcBef>
                <a:spcPts val="0"/>
              </a:spcBef>
              <a:spcAft>
                <a:spcPts val="600"/>
              </a:spcAft>
            </a:pPr>
            <a:r>
              <a:rPr sz="950" b="1" i="0" spc="160">
                <a:solidFill>
                  <a:srgbClr val="C9A961"/>
                </a:solidFill>
                <a:latin typeface="Inter"/>
              </a:rPr>
              <a:t>WHAT I LEARNED</a:t>
            </a:r>
          </a:p>
          <a:p>
            <a:pPr algn="l">
              <a:lnSpc>
                <a:spcPct val="118000"/>
              </a:lnSpc>
              <a:spcBef>
                <a:spcPts val="0"/>
              </a:spcBef>
              <a:spcAft>
                <a:spcPts val="400"/>
              </a:spcAft>
            </a:pPr>
            <a:r>
              <a:rPr sz="1200" b="0" i="0">
                <a:solidFill>
                  <a:srgbClr val="94A3B8"/>
                </a:solidFill>
                <a:latin typeface="Inter"/>
              </a:rPr>
              <a:t>AI tooling output is only as good as the verification layer above it. Locked-scope prompts + per-commit curl-and-walkthrough verification = production discipline. Scaling a team this way doesn't replace engineers — it moves them up to the judgment layer. That's the FDE pattern at scale.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9966960" y="310896"/>
            <a:ext cx="1463040" cy="274320"/>
          </a:xfrm>
          <a:prstGeom prst="rect">
            <a:avLst/>
          </a:prstGeom>
          <a:noFill/>
        </p:spPr>
        <p:txBody>
          <a:bodyPr wrap="square" anchor="t" lIns="0" rIns="0" tIns="0" bIns="0">
            <a:spAutoFit/>
          </a:bodyPr>
          <a:lstStyle/>
          <a:p>
            <a:pPr algn="r">
              <a:lnSpc>
                <a:spcPct val="112000"/>
              </a:lnSpc>
              <a:spcBef>
                <a:spcPts val="0"/>
              </a:spcBef>
              <a:spcAft>
                <a:spcPts val="0"/>
              </a:spcAft>
            </a:pPr>
            <a:r>
              <a:rPr sz="900" b="1" i="0" spc="200">
                <a:solidFill>
                  <a:srgbClr val="8A7440"/>
                </a:solidFill>
                <a:latin typeface="Inter"/>
              </a:rPr>
              <a:t>APPENDIX</a:t>
            </a:r>
          </a:p>
        </p:txBody>
      </p:sp>
      <p:sp>
        <p:nvSpPr>
          <p:cNvPr id="3" name="TextBox 2"/>
          <p:cNvSpPr txBox="1"/>
          <p:nvPr/>
        </p:nvSpPr>
        <p:spPr>
          <a:xfrm>
            <a:off x="777240" y="566928"/>
            <a:ext cx="10607040" cy="365760"/>
          </a:xfrm>
          <a:prstGeom prst="rect">
            <a:avLst/>
          </a:prstGeom>
          <a:noFill/>
        </p:spPr>
        <p:txBody>
          <a:bodyPr wrap="square" anchor="t" lIns="0" rIns="0" tIns="0" bIns="0">
            <a:spAutoFit/>
          </a:bodyPr>
          <a:lstStyle/>
          <a:p>
            <a:pPr algn="l">
              <a:lnSpc>
                <a:spcPct val="112000"/>
              </a:lnSpc>
              <a:spcBef>
                <a:spcPts val="0"/>
              </a:spcBef>
              <a:spcAft>
                <a:spcPts val="0"/>
              </a:spcAft>
            </a:pPr>
            <a:r>
              <a:rPr sz="1250" b="1" i="0" spc="220">
                <a:solidFill>
                  <a:srgbClr val="94A3B8"/>
                </a:solidFill>
                <a:latin typeface="Inter"/>
              </a:rPr>
              <a:t>TECH STACK</a:t>
            </a:r>
          </a:p>
        </p:txBody>
      </p:sp>
      <p:sp>
        <p:nvSpPr>
          <p:cNvPr id="4" name="TextBox 3"/>
          <p:cNvSpPr txBox="1"/>
          <p:nvPr/>
        </p:nvSpPr>
        <p:spPr>
          <a:xfrm>
            <a:off x="777240" y="932688"/>
            <a:ext cx="10607040" cy="914400"/>
          </a:xfrm>
          <a:prstGeom prst="rect">
            <a:avLst/>
          </a:prstGeom>
          <a:noFill/>
        </p:spPr>
        <p:txBody>
          <a:bodyPr wrap="square" anchor="t" lIns="0" rIns="0" tIns="0" bIns="0">
            <a:spAutoFit/>
          </a:bodyPr>
          <a:lstStyle/>
          <a:p>
            <a:pPr algn="l">
              <a:lnSpc>
                <a:spcPct val="100000"/>
              </a:lnSpc>
              <a:spcBef>
                <a:spcPts val="0"/>
              </a:spcBef>
              <a:spcAft>
                <a:spcPts val="0"/>
              </a:spcAft>
            </a:pPr>
            <a:r>
              <a:rPr sz="3400" b="0" i="0">
                <a:solidFill>
                  <a:srgbClr val="F0F4F8"/>
                </a:solidFill>
                <a:latin typeface="Cormorant Garamond"/>
              </a:rPr>
              <a:t>Tech stack</a:t>
            </a:r>
          </a:p>
        </p:txBody>
      </p:sp>
      <p:sp>
        <p:nvSpPr>
          <p:cNvPr id="5" name="Rectangle 4"/>
          <p:cNvSpPr/>
          <p:nvPr/>
        </p:nvSpPr>
        <p:spPr>
          <a:xfrm>
            <a:off x="777240" y="1627632"/>
            <a:ext cx="10607040" cy="11887"/>
          </a:xfrm>
          <a:prstGeom prst="rect">
            <a:avLst/>
          </a:prstGeom>
          <a:solidFill>
            <a:srgbClr val="2A38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77240" y="1993392"/>
            <a:ext cx="2578608" cy="4023360"/>
          </a:xfrm>
          <a:prstGeom prst="roundRect">
            <a:avLst>
              <a:gd name="adj" fmla="val 6000"/>
            </a:avLst>
          </a:prstGeom>
          <a:solidFill>
            <a:srgbClr val="1A2436"/>
          </a:solidFill>
          <a:ln w="9525">
            <a:solidFill>
              <a:srgbClr val="2A38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78408" y="2194560"/>
            <a:ext cx="2194560" cy="3657600"/>
          </a:xfrm>
          <a:prstGeom prst="rect">
            <a:avLst/>
          </a:prstGeom>
          <a:noFill/>
        </p:spPr>
        <p:txBody>
          <a:bodyPr wrap="square" anchor="t" lIns="0" rIns="0" tIns="0" bIns="0">
            <a:spAutoFit/>
          </a:bodyPr>
          <a:lstStyle/>
          <a:p>
            <a:pPr algn="l">
              <a:lnSpc>
                <a:spcPct val="112000"/>
              </a:lnSpc>
              <a:spcBef>
                <a:spcPts val="0"/>
              </a:spcBef>
              <a:spcAft>
                <a:spcPts val="300"/>
              </a:spcAft>
            </a:pPr>
            <a:r>
              <a:rPr sz="1800" b="0" i="0">
                <a:solidFill>
                  <a:srgbClr val="C9A961"/>
                </a:solidFill>
                <a:latin typeface="Cormorant Garamond"/>
              </a:rPr>
              <a:t>Frontend</a:t>
            </a:r>
          </a:p>
          <a:p>
            <a:pPr algn="l">
              <a:lnSpc>
                <a:spcPct val="110000"/>
              </a:lnSpc>
              <a:spcBef>
                <a:spcPts val="0"/>
              </a:spcBef>
              <a:spcAft>
                <a:spcPts val="1000"/>
              </a:spcAft>
            </a:pPr>
            <a:r>
              <a:rPr sz="800" b="0" i="0">
                <a:solidFill>
                  <a:srgbClr val="8A7440"/>
                </a:solidFill>
                <a:latin typeface="JetBrains Mono"/>
              </a:rPr>
              <a:t>design-prototype/</a:t>
            </a:r>
          </a:p>
          <a:p>
            <a:pPr algn="l">
              <a:lnSpc>
                <a:spcPct val="112000"/>
              </a:lnSpc>
              <a:spcBef>
                <a:spcPts val="0"/>
              </a:spcBef>
              <a:spcAft>
                <a:spcPts val="700"/>
              </a:spcAft>
            </a:pPr>
            <a:r>
              <a:rPr sz="1050" b="0" i="0">
                <a:solidFill>
                  <a:srgbClr val="8A7440"/>
                </a:solidFill>
                <a:latin typeface="Inter"/>
              </a:rPr>
              <a:t>—  </a:t>
            </a:r>
            <a:r>
              <a:rPr sz="1050" b="0" i="0">
                <a:solidFill>
                  <a:srgbClr val="94A3B8"/>
                </a:solidFill>
                <a:latin typeface="Inter"/>
              </a:rPr>
              <a:t>React 18 + Babel-standalone (no build)</a:t>
            </a:r>
          </a:p>
          <a:p>
            <a:pPr algn="l">
              <a:lnSpc>
                <a:spcPct val="112000"/>
              </a:lnSpc>
              <a:spcBef>
                <a:spcPts val="0"/>
              </a:spcBef>
              <a:spcAft>
                <a:spcPts val="700"/>
              </a:spcAft>
            </a:pPr>
            <a:r>
              <a:rPr sz="1050" b="0" i="0">
                <a:solidFill>
                  <a:srgbClr val="8A7440"/>
                </a:solidFill>
                <a:latin typeface="Inter"/>
              </a:rPr>
              <a:t>—  </a:t>
            </a:r>
            <a:r>
              <a:rPr sz="1050" b="0" i="0">
                <a:solidFill>
                  <a:srgbClr val="94A3B8"/>
                </a:solidFill>
                <a:latin typeface="Inter"/>
              </a:rPr>
              <a:t>d3-force graph · SheetJS · hash routing</a:t>
            </a:r>
          </a:p>
          <a:p>
            <a:pPr algn="l">
              <a:lnSpc>
                <a:spcPct val="112000"/>
              </a:lnSpc>
              <a:spcBef>
                <a:spcPts val="0"/>
              </a:spcBef>
              <a:spcAft>
                <a:spcPts val="700"/>
              </a:spcAft>
            </a:pPr>
            <a:r>
              <a:rPr sz="1050" b="0" i="0">
                <a:solidFill>
                  <a:srgbClr val="8A7440"/>
                </a:solidFill>
                <a:latin typeface="Inter"/>
              </a:rPr>
              <a:t>—  </a:t>
            </a:r>
            <a:r>
              <a:rPr sz="1050" b="0" i="0">
                <a:solidFill>
                  <a:srgbClr val="94A3B8"/>
                </a:solidFill>
                <a:latin typeface="Inter"/>
              </a:rPr>
              <a:t>Design tokens in tokens.css (CSS vars)</a:t>
            </a:r>
          </a:p>
        </p:txBody>
      </p:sp>
      <p:sp>
        <p:nvSpPr>
          <p:cNvPr id="8" name="Rounded Rectangle 7"/>
          <p:cNvSpPr/>
          <p:nvPr/>
        </p:nvSpPr>
        <p:spPr>
          <a:xfrm>
            <a:off x="3520440" y="1993392"/>
            <a:ext cx="2578608" cy="4023360"/>
          </a:xfrm>
          <a:prstGeom prst="roundRect">
            <a:avLst>
              <a:gd name="adj" fmla="val 6000"/>
            </a:avLst>
          </a:prstGeom>
          <a:solidFill>
            <a:srgbClr val="1A2436"/>
          </a:solidFill>
          <a:ln w="9525">
            <a:solidFill>
              <a:srgbClr val="2A38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721608" y="2194560"/>
            <a:ext cx="2194560" cy="3657600"/>
          </a:xfrm>
          <a:prstGeom prst="rect">
            <a:avLst/>
          </a:prstGeom>
          <a:noFill/>
        </p:spPr>
        <p:txBody>
          <a:bodyPr wrap="square" anchor="t" lIns="0" rIns="0" tIns="0" bIns="0">
            <a:spAutoFit/>
          </a:bodyPr>
          <a:lstStyle/>
          <a:p>
            <a:pPr algn="l">
              <a:lnSpc>
                <a:spcPct val="112000"/>
              </a:lnSpc>
              <a:spcBef>
                <a:spcPts val="0"/>
              </a:spcBef>
              <a:spcAft>
                <a:spcPts val="300"/>
              </a:spcAft>
            </a:pPr>
            <a:r>
              <a:rPr sz="1800" b="0" i="0">
                <a:solidFill>
                  <a:srgbClr val="C9A961"/>
                </a:solidFill>
                <a:latin typeface="Cormorant Garamond"/>
              </a:rPr>
              <a:t>Backend</a:t>
            </a:r>
          </a:p>
          <a:p>
            <a:pPr algn="l">
              <a:lnSpc>
                <a:spcPct val="110000"/>
              </a:lnSpc>
              <a:spcBef>
                <a:spcPts val="0"/>
              </a:spcBef>
              <a:spcAft>
                <a:spcPts val="1000"/>
              </a:spcAft>
            </a:pPr>
            <a:r>
              <a:rPr sz="800" b="0" i="0">
                <a:solidFill>
                  <a:srgbClr val="8A7440"/>
                </a:solidFill>
                <a:latin typeface="JetBrains Mono"/>
              </a:rPr>
              <a:t>services/api/</a:t>
            </a:r>
          </a:p>
          <a:p>
            <a:pPr algn="l">
              <a:lnSpc>
                <a:spcPct val="112000"/>
              </a:lnSpc>
              <a:spcBef>
                <a:spcPts val="0"/>
              </a:spcBef>
              <a:spcAft>
                <a:spcPts val="700"/>
              </a:spcAft>
            </a:pPr>
            <a:r>
              <a:rPr sz="1050" b="0" i="0">
                <a:solidFill>
                  <a:srgbClr val="8A7440"/>
                </a:solidFill>
                <a:latin typeface="Inter"/>
              </a:rPr>
              <a:t>—  </a:t>
            </a:r>
            <a:r>
              <a:rPr sz="1050" b="0" i="0">
                <a:solidFill>
                  <a:srgbClr val="94A3B8"/>
                </a:solidFill>
                <a:latin typeface="Inter"/>
              </a:rPr>
              <a:t>Python 3.12 · FastAPI · uvicorn</a:t>
            </a:r>
          </a:p>
          <a:p>
            <a:pPr algn="l">
              <a:lnSpc>
                <a:spcPct val="112000"/>
              </a:lnSpc>
              <a:spcBef>
                <a:spcPts val="0"/>
              </a:spcBef>
              <a:spcAft>
                <a:spcPts val="700"/>
              </a:spcAft>
            </a:pPr>
            <a:r>
              <a:rPr sz="1050" b="0" i="0">
                <a:solidFill>
                  <a:srgbClr val="8A7440"/>
                </a:solidFill>
                <a:latin typeface="Inter"/>
              </a:rPr>
              <a:t>—  </a:t>
            </a:r>
            <a:r>
              <a:rPr sz="1050" b="0" i="0">
                <a:solidFill>
                  <a:srgbClr val="94A3B8"/>
                </a:solidFill>
                <a:latin typeface="Inter"/>
              </a:rPr>
              <a:t>SSE streaming · in-memory OFAC matcher</a:t>
            </a:r>
          </a:p>
          <a:p>
            <a:pPr algn="l">
              <a:lnSpc>
                <a:spcPct val="112000"/>
              </a:lnSpc>
              <a:spcBef>
                <a:spcPts val="0"/>
              </a:spcBef>
              <a:spcAft>
                <a:spcPts val="700"/>
              </a:spcAft>
            </a:pPr>
            <a:r>
              <a:rPr sz="1050" b="0" i="0">
                <a:solidFill>
                  <a:srgbClr val="8A7440"/>
                </a:solidFill>
                <a:latin typeface="Inter"/>
              </a:rPr>
              <a:t>—  </a:t>
            </a:r>
            <a:r>
              <a:rPr sz="1050" b="0" i="0">
                <a:solidFill>
                  <a:srgbClr val="94A3B8"/>
                </a:solidFill>
                <a:latin typeface="Inter"/>
              </a:rPr>
              <a:t>Agent loop + in-memory credential store</a:t>
            </a:r>
          </a:p>
        </p:txBody>
      </p:sp>
      <p:sp>
        <p:nvSpPr>
          <p:cNvPr id="10" name="Rounded Rectangle 9"/>
          <p:cNvSpPr/>
          <p:nvPr/>
        </p:nvSpPr>
        <p:spPr>
          <a:xfrm>
            <a:off x="6263640" y="1993392"/>
            <a:ext cx="2578608" cy="4023360"/>
          </a:xfrm>
          <a:prstGeom prst="roundRect">
            <a:avLst>
              <a:gd name="adj" fmla="val 6000"/>
            </a:avLst>
          </a:prstGeom>
          <a:solidFill>
            <a:srgbClr val="1A2436"/>
          </a:solidFill>
          <a:ln w="9525">
            <a:solidFill>
              <a:srgbClr val="2A38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64807" y="2194560"/>
            <a:ext cx="2194560" cy="3657600"/>
          </a:xfrm>
          <a:prstGeom prst="rect">
            <a:avLst/>
          </a:prstGeom>
          <a:noFill/>
        </p:spPr>
        <p:txBody>
          <a:bodyPr wrap="square" anchor="t" lIns="0" rIns="0" tIns="0" bIns="0">
            <a:spAutoFit/>
          </a:bodyPr>
          <a:lstStyle/>
          <a:p>
            <a:pPr algn="l">
              <a:lnSpc>
                <a:spcPct val="112000"/>
              </a:lnSpc>
              <a:spcBef>
                <a:spcPts val="0"/>
              </a:spcBef>
              <a:spcAft>
                <a:spcPts val="300"/>
              </a:spcAft>
            </a:pPr>
            <a:r>
              <a:rPr sz="1800" b="0" i="0">
                <a:solidFill>
                  <a:srgbClr val="C9A961"/>
                </a:solidFill>
                <a:latin typeface="Cormorant Garamond"/>
              </a:rPr>
              <a:t>Engine + MCP</a:t>
            </a:r>
          </a:p>
          <a:p>
            <a:pPr algn="l">
              <a:lnSpc>
                <a:spcPct val="110000"/>
              </a:lnSpc>
              <a:spcBef>
                <a:spcPts val="0"/>
              </a:spcBef>
              <a:spcAft>
                <a:spcPts val="1000"/>
              </a:spcAft>
            </a:pPr>
            <a:r>
              <a:rPr sz="800" b="0" i="0">
                <a:solidFill>
                  <a:srgbClr val="8A7440"/>
                </a:solidFill>
                <a:latin typeface="JetBrains Mono"/>
              </a:rPr>
              <a:t>packages/engine/ · services/mcp/</a:t>
            </a:r>
          </a:p>
          <a:p>
            <a:pPr algn="l">
              <a:lnSpc>
                <a:spcPct val="112000"/>
              </a:lnSpc>
              <a:spcBef>
                <a:spcPts val="0"/>
              </a:spcBef>
              <a:spcAft>
                <a:spcPts val="700"/>
              </a:spcAft>
            </a:pPr>
            <a:r>
              <a:rPr sz="1050" b="0" i="0">
                <a:solidFill>
                  <a:srgbClr val="8A7440"/>
                </a:solidFill>
                <a:latin typeface="Inter"/>
              </a:rPr>
              <a:t>—  </a:t>
            </a:r>
            <a:r>
              <a:rPr sz="1050" b="0" i="0">
                <a:solidFill>
                  <a:srgbClr val="94A3B8"/>
                </a:solidFill>
                <a:latin typeface="Inter"/>
              </a:rPr>
              <a:t>Importable pure-Python engine</a:t>
            </a:r>
          </a:p>
          <a:p>
            <a:pPr algn="l">
              <a:lnSpc>
                <a:spcPct val="112000"/>
              </a:lnSpc>
              <a:spcBef>
                <a:spcPts val="0"/>
              </a:spcBef>
              <a:spcAft>
                <a:spcPts val="700"/>
              </a:spcAft>
            </a:pPr>
            <a:r>
              <a:rPr sz="1050" b="0" i="0">
                <a:solidFill>
                  <a:srgbClr val="8A7440"/>
                </a:solidFill>
                <a:latin typeface="Inter"/>
              </a:rPr>
              <a:t>—  </a:t>
            </a:r>
            <a:r>
              <a:rPr sz="1050" b="0" i="0">
                <a:solidFill>
                  <a:srgbClr val="94A3B8"/>
                </a:solidFill>
                <a:latin typeface="Inter"/>
              </a:rPr>
              <a:t>MCP server (mcp SDK) · 6 tools</a:t>
            </a:r>
          </a:p>
          <a:p>
            <a:pPr algn="l">
              <a:lnSpc>
                <a:spcPct val="112000"/>
              </a:lnSpc>
              <a:spcBef>
                <a:spcPts val="0"/>
              </a:spcBef>
              <a:spcAft>
                <a:spcPts val="700"/>
              </a:spcAft>
            </a:pPr>
            <a:r>
              <a:rPr sz="1050" b="0" i="0">
                <a:solidFill>
                  <a:srgbClr val="8A7440"/>
                </a:solidFill>
                <a:latin typeface="Inter"/>
              </a:rPr>
              <a:t>—  </a:t>
            </a:r>
            <a:r>
              <a:rPr sz="1050" b="0" i="0">
                <a:solidFill>
                  <a:srgbClr val="94A3B8"/>
                </a:solidFill>
                <a:latin typeface="Inter"/>
              </a:rPr>
              <a:t>Direct engine import — no HTTP hop</a:t>
            </a:r>
          </a:p>
        </p:txBody>
      </p:sp>
      <p:sp>
        <p:nvSpPr>
          <p:cNvPr id="12" name="Rounded Rectangle 11"/>
          <p:cNvSpPr/>
          <p:nvPr/>
        </p:nvSpPr>
        <p:spPr>
          <a:xfrm>
            <a:off x="9006840" y="1993392"/>
            <a:ext cx="2578608" cy="4023360"/>
          </a:xfrm>
          <a:prstGeom prst="roundRect">
            <a:avLst>
              <a:gd name="adj" fmla="val 6000"/>
            </a:avLst>
          </a:prstGeom>
          <a:solidFill>
            <a:srgbClr val="1A2436"/>
          </a:solidFill>
          <a:ln w="9525">
            <a:solidFill>
              <a:srgbClr val="2A38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08008" y="2194560"/>
            <a:ext cx="2194560" cy="3657600"/>
          </a:xfrm>
          <a:prstGeom prst="rect">
            <a:avLst/>
          </a:prstGeom>
          <a:noFill/>
        </p:spPr>
        <p:txBody>
          <a:bodyPr wrap="square" anchor="t" lIns="0" rIns="0" tIns="0" bIns="0">
            <a:spAutoFit/>
          </a:bodyPr>
          <a:lstStyle/>
          <a:p>
            <a:pPr algn="l">
              <a:lnSpc>
                <a:spcPct val="112000"/>
              </a:lnSpc>
              <a:spcBef>
                <a:spcPts val="0"/>
              </a:spcBef>
              <a:spcAft>
                <a:spcPts val="300"/>
              </a:spcAft>
            </a:pPr>
            <a:r>
              <a:rPr sz="1800" b="0" i="0">
                <a:solidFill>
                  <a:srgbClr val="C9A961"/>
                </a:solidFill>
                <a:latin typeface="Cormorant Garamond"/>
              </a:rPr>
              <a:t>Data + AI</a:t>
            </a:r>
          </a:p>
          <a:p>
            <a:pPr algn="l">
              <a:lnSpc>
                <a:spcPct val="110000"/>
              </a:lnSpc>
              <a:spcBef>
                <a:spcPts val="0"/>
              </a:spcBef>
              <a:spcAft>
                <a:spcPts val="1000"/>
              </a:spcAft>
            </a:pPr>
            <a:r>
              <a:rPr sz="800" b="0" i="0">
                <a:solidFill>
                  <a:srgbClr val="8A7440"/>
                </a:solidFill>
                <a:latin typeface="JetBrains Mono"/>
              </a:rPr>
              <a:t>output/ · db/ · Anthropic</a:t>
            </a:r>
          </a:p>
          <a:p>
            <a:pPr algn="l">
              <a:lnSpc>
                <a:spcPct val="112000"/>
              </a:lnSpc>
              <a:spcBef>
                <a:spcPts val="0"/>
              </a:spcBef>
              <a:spcAft>
                <a:spcPts val="700"/>
              </a:spcAft>
            </a:pPr>
            <a:r>
              <a:rPr sz="1050" b="0" i="0">
                <a:solidFill>
                  <a:srgbClr val="8A7440"/>
                </a:solidFill>
                <a:latin typeface="Inter"/>
              </a:rPr>
              <a:t>—  </a:t>
            </a:r>
            <a:r>
              <a:rPr sz="1050" b="0" i="0">
                <a:solidFill>
                  <a:srgbClr val="94A3B8"/>
                </a:solidFill>
                <a:latin typeface="Inter"/>
              </a:rPr>
              <a:t>File cache default · optional Postgres (6 tbl)</a:t>
            </a:r>
          </a:p>
          <a:p>
            <a:pPr algn="l">
              <a:lnSpc>
                <a:spcPct val="112000"/>
              </a:lnSpc>
              <a:spcBef>
                <a:spcPts val="0"/>
              </a:spcBef>
              <a:spcAft>
                <a:spcPts val="700"/>
              </a:spcAft>
            </a:pPr>
            <a:r>
              <a:rPr sz="1050" b="0" i="0">
                <a:solidFill>
                  <a:srgbClr val="8A7440"/>
                </a:solidFill>
                <a:latin typeface="Inter"/>
              </a:rPr>
              <a:t>—  </a:t>
            </a:r>
            <a:r>
              <a:rPr sz="1050" b="0" i="0">
                <a:solidFill>
                  <a:srgbClr val="94A3B8"/>
                </a:solidFill>
                <a:latin typeface="Inter"/>
              </a:rPr>
              <a:t>OFAC SDN 17,207 rows · WeasyPrint + HTML</a:t>
            </a:r>
          </a:p>
          <a:p>
            <a:pPr algn="l">
              <a:lnSpc>
                <a:spcPct val="112000"/>
              </a:lnSpc>
              <a:spcBef>
                <a:spcPts val="0"/>
              </a:spcBef>
              <a:spcAft>
                <a:spcPts val="700"/>
              </a:spcAft>
            </a:pPr>
            <a:r>
              <a:rPr sz="1050" b="0" i="0">
                <a:solidFill>
                  <a:srgbClr val="8A7440"/>
                </a:solidFill>
                <a:latin typeface="Inter"/>
              </a:rPr>
              <a:t>—  </a:t>
            </a:r>
            <a:r>
              <a:rPr sz="1050" b="0" i="0">
                <a:solidFill>
                  <a:srgbClr val="94A3B8"/>
                </a:solidFill>
                <a:latin typeface="Inter"/>
              </a:rPr>
              <a:t>Anthropic claude-sonnet-4-6 tool-use loop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9966960" y="310896"/>
            <a:ext cx="1463040" cy="274320"/>
          </a:xfrm>
          <a:prstGeom prst="rect">
            <a:avLst/>
          </a:prstGeom>
          <a:noFill/>
        </p:spPr>
        <p:txBody>
          <a:bodyPr wrap="square" anchor="t" lIns="0" rIns="0" tIns="0" bIns="0">
            <a:spAutoFit/>
          </a:bodyPr>
          <a:lstStyle/>
          <a:p>
            <a:pPr algn="r">
              <a:lnSpc>
                <a:spcPct val="112000"/>
              </a:lnSpc>
              <a:spcBef>
                <a:spcPts val="0"/>
              </a:spcBef>
              <a:spcAft>
                <a:spcPts val="0"/>
              </a:spcAft>
            </a:pPr>
            <a:r>
              <a:rPr sz="900" b="1" i="0" spc="200">
                <a:solidFill>
                  <a:srgbClr val="8A7440"/>
                </a:solidFill>
                <a:latin typeface="Inter"/>
              </a:rPr>
              <a:t>APPENDIX</a:t>
            </a:r>
          </a:p>
        </p:txBody>
      </p:sp>
      <p:sp>
        <p:nvSpPr>
          <p:cNvPr id="3" name="TextBox 2"/>
          <p:cNvSpPr txBox="1"/>
          <p:nvPr/>
        </p:nvSpPr>
        <p:spPr>
          <a:xfrm>
            <a:off x="777240" y="566928"/>
            <a:ext cx="10607040" cy="365760"/>
          </a:xfrm>
          <a:prstGeom prst="rect">
            <a:avLst/>
          </a:prstGeom>
          <a:noFill/>
        </p:spPr>
        <p:txBody>
          <a:bodyPr wrap="square" anchor="t" lIns="0" rIns="0" tIns="0" bIns="0">
            <a:spAutoFit/>
          </a:bodyPr>
          <a:lstStyle/>
          <a:p>
            <a:pPr algn="l">
              <a:lnSpc>
                <a:spcPct val="112000"/>
              </a:lnSpc>
              <a:spcBef>
                <a:spcPts val="0"/>
              </a:spcBef>
              <a:spcAft>
                <a:spcPts val="0"/>
              </a:spcAft>
            </a:pPr>
            <a:r>
              <a:rPr sz="1250" b="1" i="0" spc="220">
                <a:solidFill>
                  <a:srgbClr val="94A3B8"/>
                </a:solidFill>
                <a:latin typeface="Inter"/>
              </a:rPr>
              <a:t>DATA MODEL &amp; CACHE LAYOUT</a:t>
            </a:r>
          </a:p>
        </p:txBody>
      </p:sp>
      <p:sp>
        <p:nvSpPr>
          <p:cNvPr id="4" name="TextBox 3"/>
          <p:cNvSpPr txBox="1"/>
          <p:nvPr/>
        </p:nvSpPr>
        <p:spPr>
          <a:xfrm>
            <a:off x="777240" y="932688"/>
            <a:ext cx="10607040" cy="91440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F0F4F8"/>
                </a:solidFill>
                <a:latin typeface="Cormorant Garamond"/>
              </a:rPr>
              <a:t>File-first, database-optional</a:t>
            </a:r>
          </a:p>
        </p:txBody>
      </p:sp>
      <p:sp>
        <p:nvSpPr>
          <p:cNvPr id="5" name="Rectangle 4"/>
          <p:cNvSpPr/>
          <p:nvPr/>
        </p:nvSpPr>
        <p:spPr>
          <a:xfrm>
            <a:off x="777240" y="1783080"/>
            <a:ext cx="10607040" cy="11887"/>
          </a:xfrm>
          <a:prstGeom prst="rect">
            <a:avLst/>
          </a:prstGeom>
          <a:solidFill>
            <a:srgbClr val="2A38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77240" y="1938528"/>
            <a:ext cx="5184648" cy="3977639"/>
          </a:xfrm>
          <a:prstGeom prst="roundRect">
            <a:avLst>
              <a:gd name="adj" fmla="val 6000"/>
            </a:avLst>
          </a:prstGeom>
          <a:solidFill>
            <a:srgbClr val="1A2436"/>
          </a:solidFill>
          <a:ln w="9525">
            <a:solidFill>
              <a:srgbClr val="2A38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121408"/>
            <a:ext cx="4754880" cy="3657600"/>
          </a:xfrm>
          <a:prstGeom prst="rect">
            <a:avLst/>
          </a:prstGeom>
          <a:noFill/>
        </p:spPr>
        <p:txBody>
          <a:bodyPr wrap="square" anchor="t" lIns="0" rIns="0" tIns="0" bIns="0">
            <a:spAutoFit/>
          </a:bodyPr>
          <a:lstStyle/>
          <a:p>
            <a:pPr algn="l">
              <a:lnSpc>
                <a:spcPct val="112000"/>
              </a:lnSpc>
              <a:spcBef>
                <a:spcPts val="0"/>
              </a:spcBef>
              <a:spcAft>
                <a:spcPts val="900"/>
              </a:spcAft>
            </a:pPr>
            <a:r>
              <a:rPr sz="950" b="1" i="0" spc="120">
                <a:solidFill>
                  <a:srgbClr val="C9A961"/>
                </a:solidFill>
                <a:latin typeface="Inter"/>
              </a:rPr>
              <a:t>OPTIONAL POSTGRES SCHEMA  ·  db/schema.sql</a:t>
            </a:r>
          </a:p>
          <a:p>
            <a:pPr algn="l">
              <a:lnSpc>
                <a:spcPct val="110000"/>
              </a:lnSpc>
              <a:spcBef>
                <a:spcPts val="0"/>
              </a:spcBef>
              <a:spcAft>
                <a:spcPts val="700"/>
              </a:spcAft>
            </a:pPr>
            <a:r>
              <a:rPr sz="1100" b="0" i="0">
                <a:solidFill>
                  <a:srgbClr val="F0F4F8"/>
                </a:solidFill>
                <a:latin typeface="JetBrains Mono"/>
              </a:rPr>
              <a:t>ofac_sdn</a:t>
            </a:r>
            <a:r>
              <a:rPr sz="950" b="0" i="0">
                <a:solidFill>
                  <a:srgbClr val="64748B"/>
                </a:solidFill>
                <a:latin typeface="Inter"/>
              </a:rPr>
              <a:t>   17,207 rows · pg_trgm fuzzy match</a:t>
            </a:r>
          </a:p>
          <a:p>
            <a:pPr algn="l">
              <a:lnSpc>
                <a:spcPct val="110000"/>
              </a:lnSpc>
              <a:spcBef>
                <a:spcPts val="0"/>
              </a:spcBef>
              <a:spcAft>
                <a:spcPts val="700"/>
              </a:spcAft>
            </a:pPr>
            <a:r>
              <a:rPr sz="1100" b="0" i="0">
                <a:solidFill>
                  <a:srgbClr val="F0F4F8"/>
                </a:solidFill>
                <a:latin typeface="JetBrains Mono"/>
              </a:rPr>
              <a:t>entity_cache</a:t>
            </a:r>
            <a:r>
              <a:rPr sz="950" b="0" i="0">
                <a:solidFill>
                  <a:srgbClr val="64748B"/>
                </a:solidFill>
                <a:latin typeface="Inter"/>
              </a:rPr>
              <a:t>   mirrors output/raw/*.json</a:t>
            </a:r>
          </a:p>
          <a:p>
            <a:pPr algn="l">
              <a:lnSpc>
                <a:spcPct val="110000"/>
              </a:lnSpc>
              <a:spcBef>
                <a:spcPts val="0"/>
              </a:spcBef>
              <a:spcAft>
                <a:spcPts val="700"/>
              </a:spcAft>
            </a:pPr>
            <a:r>
              <a:rPr sz="1100" b="0" i="0">
                <a:solidFill>
                  <a:srgbClr val="F0F4F8"/>
                </a:solidFill>
                <a:latin typeface="JetBrains Mono"/>
              </a:rPr>
              <a:t>screening_run</a:t>
            </a:r>
            <a:r>
              <a:rPr sz="950" b="0" i="0">
                <a:solidFill>
                  <a:srgbClr val="64748B"/>
                </a:solidFill>
                <a:latin typeface="Inter"/>
              </a:rPr>
              <a:t>   one row per compare invocation</a:t>
            </a:r>
          </a:p>
          <a:p>
            <a:pPr algn="l">
              <a:lnSpc>
                <a:spcPct val="110000"/>
              </a:lnSpc>
              <a:spcBef>
                <a:spcPts val="0"/>
              </a:spcBef>
              <a:spcAft>
                <a:spcPts val="700"/>
              </a:spcAft>
            </a:pPr>
            <a:r>
              <a:rPr sz="1100" b="0" i="0">
                <a:solidFill>
                  <a:srgbClr val="F0F4F8"/>
                </a:solidFill>
                <a:latin typeface="JetBrains Mono"/>
              </a:rPr>
              <a:t>investigation</a:t>
            </a:r>
            <a:r>
              <a:rPr sz="950" b="0" i="0">
                <a:solidFill>
                  <a:srgbClr val="64748B"/>
                </a:solidFill>
                <a:latin typeface="Inter"/>
              </a:rPr>
              <a:t>   workflow record</a:t>
            </a:r>
          </a:p>
          <a:p>
            <a:pPr algn="l">
              <a:lnSpc>
                <a:spcPct val="110000"/>
              </a:lnSpc>
              <a:spcBef>
                <a:spcPts val="0"/>
              </a:spcBef>
              <a:spcAft>
                <a:spcPts val="700"/>
              </a:spcAft>
            </a:pPr>
            <a:r>
              <a:rPr sz="1100" b="0" i="0">
                <a:solidFill>
                  <a:srgbClr val="F0F4F8"/>
                </a:solidFill>
                <a:latin typeface="JetBrains Mono"/>
              </a:rPr>
              <a:t>entity_result</a:t>
            </a:r>
            <a:r>
              <a:rPr sz="950" b="0" i="0">
                <a:solidFill>
                  <a:srgbClr val="64748B"/>
                </a:solidFill>
                <a:latin typeface="Inter"/>
              </a:rPr>
              <a:t>   per-entity customer payload</a:t>
            </a:r>
          </a:p>
          <a:p>
            <a:pPr algn="l">
              <a:lnSpc>
                <a:spcPct val="110000"/>
              </a:lnSpc>
              <a:spcBef>
                <a:spcPts val="0"/>
              </a:spcBef>
              <a:spcAft>
                <a:spcPts val="700"/>
              </a:spcAft>
            </a:pPr>
            <a:r>
              <a:rPr sz="1100" b="0" i="0">
                <a:solidFill>
                  <a:srgbClr val="F0F4F8"/>
                </a:solidFill>
                <a:latin typeface="JetBrains Mono"/>
              </a:rPr>
              <a:t>disposition</a:t>
            </a:r>
            <a:r>
              <a:rPr sz="950" b="0" i="0">
                <a:solidFill>
                  <a:srgbClr val="64748B"/>
                </a:solidFill>
                <a:latin typeface="Inter"/>
              </a:rPr>
              <a:t>   analyst maker-checker decision</a:t>
            </a:r>
          </a:p>
        </p:txBody>
      </p:sp>
      <p:sp>
        <p:nvSpPr>
          <p:cNvPr id="8" name="TextBox 7"/>
          <p:cNvSpPr txBox="1"/>
          <p:nvPr/>
        </p:nvSpPr>
        <p:spPr>
          <a:xfrm>
            <a:off x="1005840" y="5440680"/>
            <a:ext cx="4754880" cy="457200"/>
          </a:xfrm>
          <a:prstGeom prst="rect">
            <a:avLst/>
          </a:prstGeom>
          <a:noFill/>
        </p:spPr>
        <p:txBody>
          <a:bodyPr wrap="square" anchor="t" lIns="0" rIns="0" tIns="0" bIns="0">
            <a:spAutoFit/>
          </a:bodyPr>
          <a:lstStyle/>
          <a:p>
            <a:pPr algn="l">
              <a:lnSpc>
                <a:spcPct val="110000"/>
              </a:lnSpc>
              <a:spcBef>
                <a:spcPts val="0"/>
              </a:spcBef>
              <a:spcAft>
                <a:spcPts val="400"/>
              </a:spcAft>
            </a:pPr>
            <a:r>
              <a:rPr sz="1000" b="0" i="1">
                <a:solidFill>
                  <a:srgbClr val="94A3B8"/>
                </a:solidFill>
                <a:latin typeface="Inter"/>
              </a:rPr>
              <a:t>The code path falls back to file storage when DATABASE_URL is unset.</a:t>
            </a:r>
          </a:p>
        </p:txBody>
      </p:sp>
      <p:sp>
        <p:nvSpPr>
          <p:cNvPr id="9" name="Rounded Rectangle 8"/>
          <p:cNvSpPr/>
          <p:nvPr/>
        </p:nvSpPr>
        <p:spPr>
          <a:xfrm>
            <a:off x="6217920" y="1938528"/>
            <a:ext cx="5184648" cy="3977639"/>
          </a:xfrm>
          <a:prstGeom prst="roundRect">
            <a:avLst>
              <a:gd name="adj" fmla="val 6000"/>
            </a:avLst>
          </a:prstGeom>
          <a:solidFill>
            <a:srgbClr val="1A2436"/>
          </a:solidFill>
          <a:ln w="9525">
            <a:solidFill>
              <a:srgbClr val="8A7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2121408"/>
            <a:ext cx="4754880" cy="3657600"/>
          </a:xfrm>
          <a:prstGeom prst="rect">
            <a:avLst/>
          </a:prstGeom>
          <a:noFill/>
        </p:spPr>
        <p:txBody>
          <a:bodyPr wrap="square" anchor="t" lIns="0" rIns="0" tIns="0" bIns="0">
            <a:spAutoFit/>
          </a:bodyPr>
          <a:lstStyle/>
          <a:p>
            <a:pPr algn="l">
              <a:lnSpc>
                <a:spcPct val="112000"/>
              </a:lnSpc>
              <a:spcBef>
                <a:spcPts val="0"/>
              </a:spcBef>
              <a:spcAft>
                <a:spcPts val="900"/>
              </a:spcAft>
            </a:pPr>
            <a:r>
              <a:rPr sz="950" b="1" i="0" spc="120">
                <a:solidFill>
                  <a:srgbClr val="C9A961"/>
                </a:solidFill>
                <a:latin typeface="Inter"/>
              </a:rPr>
              <a:t>THE ACTUAL DEFAULT  ·  output/</a:t>
            </a:r>
          </a:p>
          <a:p>
            <a:pPr algn="l">
              <a:lnSpc>
                <a:spcPct val="110000"/>
              </a:lnSpc>
              <a:spcBef>
                <a:spcPts val="0"/>
              </a:spcBef>
              <a:spcAft>
                <a:spcPts val="700"/>
              </a:spcAft>
            </a:pPr>
            <a:r>
              <a:rPr sz="1050" b="0" i="0">
                <a:solidFill>
                  <a:srgbClr val="F0F4F8"/>
                </a:solidFill>
                <a:latin typeface="JetBrains Mono"/>
              </a:rPr>
              <a:t>raw/*.json</a:t>
            </a:r>
            <a:r>
              <a:rPr sz="950" b="0" i="0">
                <a:solidFill>
                  <a:srgbClr val="64748B"/>
                </a:solidFill>
                <a:latin typeface="Inter"/>
              </a:rPr>
              <a:t>   100 cached entity profiles (real API)</a:t>
            </a:r>
          </a:p>
          <a:p>
            <a:pPr algn="l">
              <a:lnSpc>
                <a:spcPct val="110000"/>
              </a:lnSpc>
              <a:spcBef>
                <a:spcPts val="0"/>
              </a:spcBef>
              <a:spcAft>
                <a:spcPts val="700"/>
              </a:spcAft>
            </a:pPr>
            <a:r>
              <a:rPr sz="1050" b="0" i="0">
                <a:solidFill>
                  <a:srgbClr val="F0F4F8"/>
                </a:solidFill>
                <a:latin typeface="JetBrains Mono"/>
              </a:rPr>
              <a:t>raw/traversal/*.json</a:t>
            </a:r>
            <a:r>
              <a:rPr sz="950" b="0" i="0">
                <a:solidFill>
                  <a:srgbClr val="64748B"/>
                </a:solidFill>
                <a:latin typeface="Inter"/>
              </a:rPr>
              <a:t>   66 ownership graphs</a:t>
            </a:r>
          </a:p>
          <a:p>
            <a:pPr algn="l">
              <a:lnSpc>
                <a:spcPct val="110000"/>
              </a:lnSpc>
              <a:spcBef>
                <a:spcPts val="0"/>
              </a:spcBef>
              <a:spcAft>
                <a:spcPts val="700"/>
              </a:spcAft>
            </a:pPr>
            <a:r>
              <a:rPr sz="1050" b="0" i="0">
                <a:solidFill>
                  <a:srgbClr val="F0F4F8"/>
                </a:solidFill>
                <a:latin typeface="JetBrains Mono"/>
              </a:rPr>
              <a:t>runs/run_2026…/</a:t>
            </a:r>
            <a:r>
              <a:rPr sz="950" b="0" i="0">
                <a:solidFill>
                  <a:srgbClr val="64748B"/>
                </a:solidFill>
                <a:latin typeface="Inter"/>
              </a:rPr>
              <a:t>   pinned list_3 demo run (per-run cache)</a:t>
            </a:r>
          </a:p>
          <a:p>
            <a:pPr algn="l">
              <a:lnSpc>
                <a:spcPct val="110000"/>
              </a:lnSpc>
              <a:spcBef>
                <a:spcPts val="0"/>
              </a:spcBef>
              <a:spcAft>
                <a:spcPts val="700"/>
              </a:spcAft>
            </a:pPr>
            <a:r>
              <a:rPr sz="1050" b="0" i="0">
                <a:solidFill>
                  <a:srgbClr val="F0F4F8"/>
                </a:solidFill>
                <a:latin typeface="JetBrains Mono"/>
              </a:rPr>
              <a:t>agent_runs/golden_*.json</a:t>
            </a:r>
            <a:r>
              <a:rPr sz="950" b="0" i="0">
                <a:solidFill>
                  <a:srgbClr val="64748B"/>
                </a:solidFill>
                <a:latin typeface="Inter"/>
              </a:rPr>
              <a:t>   4 captured co-pilot SSE streams</a:t>
            </a:r>
          </a:p>
          <a:p>
            <a:pPr algn="l">
              <a:lnSpc>
                <a:spcPct val="110000"/>
              </a:lnSpc>
              <a:spcBef>
                <a:spcPts val="0"/>
              </a:spcBef>
              <a:spcAft>
                <a:spcPts val="700"/>
              </a:spcAft>
            </a:pPr>
            <a:r>
              <a:rPr sz="1050" b="0" i="0">
                <a:solidFill>
                  <a:srgbClr val="F0F4F8"/>
                </a:solidFill>
                <a:latin typeface="JetBrains Mono"/>
              </a:rPr>
              <a:t>entities.csv · summary.json</a:t>
            </a:r>
            <a:r>
              <a:rPr sz="950" b="0" i="0">
                <a:solidFill>
                  <a:srgbClr val="64748B"/>
                </a:solidFill>
                <a:latin typeface="Inter"/>
              </a:rPr>
              <a:t>   input index + macro summary</a:t>
            </a:r>
          </a:p>
        </p:txBody>
      </p:sp>
      <p:sp>
        <p:nvSpPr>
          <p:cNvPr id="11" name="TextBox 10"/>
          <p:cNvSpPr txBox="1"/>
          <p:nvPr/>
        </p:nvSpPr>
        <p:spPr>
          <a:xfrm>
            <a:off x="6446520" y="5440680"/>
            <a:ext cx="4754880" cy="457200"/>
          </a:xfrm>
          <a:prstGeom prst="rect">
            <a:avLst/>
          </a:prstGeom>
          <a:noFill/>
        </p:spPr>
        <p:txBody>
          <a:bodyPr wrap="square" anchor="t" lIns="0" rIns="0" tIns="0" bIns="0">
            <a:spAutoFit/>
          </a:bodyPr>
          <a:lstStyle/>
          <a:p>
            <a:pPr algn="l">
              <a:lnSpc>
                <a:spcPct val="110000"/>
              </a:lnSpc>
              <a:spcBef>
                <a:spcPts val="0"/>
              </a:spcBef>
              <a:spcAft>
                <a:spcPts val="400"/>
              </a:spcAft>
            </a:pPr>
            <a:r>
              <a:rPr sz="1000" b="0" i="1">
                <a:solidFill>
                  <a:srgbClr val="94A3B8"/>
                </a:solidFill>
                <a:latin typeface="Inter"/>
              </a:rPr>
              <a:t>Every file is a real Sayari response — auditable, greppable, committed to the repo.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9966960" y="310896"/>
            <a:ext cx="1463040" cy="274320"/>
          </a:xfrm>
          <a:prstGeom prst="rect">
            <a:avLst/>
          </a:prstGeom>
          <a:noFill/>
        </p:spPr>
        <p:txBody>
          <a:bodyPr wrap="square" anchor="t" lIns="0" rIns="0" tIns="0" bIns="0">
            <a:spAutoFit/>
          </a:bodyPr>
          <a:lstStyle/>
          <a:p>
            <a:pPr algn="r">
              <a:lnSpc>
                <a:spcPct val="112000"/>
              </a:lnSpc>
              <a:spcBef>
                <a:spcPts val="0"/>
              </a:spcBef>
              <a:spcAft>
                <a:spcPts val="0"/>
              </a:spcAft>
            </a:pPr>
            <a:r>
              <a:rPr sz="900" b="1" i="0" spc="200">
                <a:solidFill>
                  <a:srgbClr val="8A7440"/>
                </a:solidFill>
                <a:latin typeface="Inter"/>
              </a:rPr>
              <a:t>APPENDIX</a:t>
            </a:r>
          </a:p>
        </p:txBody>
      </p:sp>
      <p:sp>
        <p:nvSpPr>
          <p:cNvPr id="3" name="TextBox 2"/>
          <p:cNvSpPr txBox="1"/>
          <p:nvPr/>
        </p:nvSpPr>
        <p:spPr>
          <a:xfrm>
            <a:off x="777240" y="566928"/>
            <a:ext cx="10607040" cy="365760"/>
          </a:xfrm>
          <a:prstGeom prst="rect">
            <a:avLst/>
          </a:prstGeom>
          <a:noFill/>
        </p:spPr>
        <p:txBody>
          <a:bodyPr wrap="square" anchor="t" lIns="0" rIns="0" tIns="0" bIns="0">
            <a:spAutoFit/>
          </a:bodyPr>
          <a:lstStyle/>
          <a:p>
            <a:pPr algn="l">
              <a:lnSpc>
                <a:spcPct val="112000"/>
              </a:lnSpc>
              <a:spcBef>
                <a:spcPts val="0"/>
              </a:spcBef>
              <a:spcAft>
                <a:spcPts val="0"/>
              </a:spcAft>
            </a:pPr>
            <a:r>
              <a:rPr sz="1250" b="1" i="0" spc="220">
                <a:solidFill>
                  <a:srgbClr val="94A3B8"/>
                </a:solidFill>
                <a:latin typeface="Inter"/>
              </a:rPr>
              <a:t>SECURITY POSTURE</a:t>
            </a:r>
          </a:p>
        </p:txBody>
      </p:sp>
      <p:sp>
        <p:nvSpPr>
          <p:cNvPr id="4" name="TextBox 3"/>
          <p:cNvSpPr txBox="1"/>
          <p:nvPr/>
        </p:nvSpPr>
        <p:spPr>
          <a:xfrm>
            <a:off x="777240" y="932688"/>
            <a:ext cx="10607040" cy="91440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F0F4F8"/>
                </a:solidFill>
                <a:latin typeface="Cormorant Garamond"/>
              </a:rPr>
              <a:t>What's protected, and how</a:t>
            </a:r>
          </a:p>
        </p:txBody>
      </p:sp>
      <p:sp>
        <p:nvSpPr>
          <p:cNvPr id="5" name="Rectangle 4"/>
          <p:cNvSpPr/>
          <p:nvPr/>
        </p:nvSpPr>
        <p:spPr>
          <a:xfrm>
            <a:off x="777240" y="1783080"/>
            <a:ext cx="10607040" cy="11887"/>
          </a:xfrm>
          <a:prstGeom prst="rect">
            <a:avLst/>
          </a:prstGeom>
          <a:solidFill>
            <a:srgbClr val="2A38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77240" y="1938528"/>
            <a:ext cx="5184648" cy="2084831"/>
          </a:xfrm>
          <a:prstGeom prst="roundRect">
            <a:avLst>
              <a:gd name="adj" fmla="val 6000"/>
            </a:avLst>
          </a:prstGeom>
          <a:solidFill>
            <a:srgbClr val="1A2436"/>
          </a:solidFill>
          <a:ln w="9525">
            <a:solidFill>
              <a:srgbClr val="2A38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5" y="2084832"/>
            <a:ext cx="4764024" cy="1828800"/>
          </a:xfrm>
          <a:prstGeom prst="rect">
            <a:avLst/>
          </a:prstGeom>
          <a:noFill/>
        </p:spPr>
        <p:txBody>
          <a:bodyPr wrap="square" anchor="t" lIns="0" rIns="0" tIns="0" bIns="0">
            <a:spAutoFit/>
          </a:bodyPr>
          <a:lstStyle/>
          <a:p>
            <a:pPr algn="l">
              <a:lnSpc>
                <a:spcPct val="112000"/>
              </a:lnSpc>
              <a:spcBef>
                <a:spcPts val="0"/>
              </a:spcBef>
              <a:spcAft>
                <a:spcPts val="600"/>
              </a:spcAft>
            </a:pPr>
            <a:r>
              <a:rPr sz="1700" b="0" i="0">
                <a:solidFill>
                  <a:srgbClr val="C9A961"/>
                </a:solidFill>
                <a:latin typeface="Cormorant Garamond"/>
              </a:rPr>
              <a:t>Credentials</a:t>
            </a:r>
          </a:p>
          <a:p>
            <a:pPr algn="l">
              <a:lnSpc>
                <a:spcPct val="110000"/>
              </a:lnSpc>
              <a:spcBef>
                <a:spcPts val="0"/>
              </a:spcBef>
              <a:spcAft>
                <a:spcPts val="400"/>
              </a:spcAft>
            </a:pPr>
            <a:r>
              <a:rPr sz="1000" b="0" i="0">
                <a:solidFill>
                  <a:srgbClr val="8A7440"/>
                </a:solidFill>
                <a:latin typeface="Inter"/>
              </a:rPr>
              <a:t>—  </a:t>
            </a:r>
            <a:r>
              <a:rPr sz="1000" b="0" i="0">
                <a:solidFill>
                  <a:srgbClr val="94A3B8"/>
                </a:solidFill>
                <a:latin typeface="Inter"/>
              </a:rPr>
              <a:t>In-memory store — never written to disk or browser</a:t>
            </a:r>
          </a:p>
          <a:p>
            <a:pPr algn="l">
              <a:lnSpc>
                <a:spcPct val="110000"/>
              </a:lnSpc>
              <a:spcBef>
                <a:spcPts val="0"/>
              </a:spcBef>
              <a:spcAft>
                <a:spcPts val="400"/>
              </a:spcAft>
            </a:pPr>
            <a:r>
              <a:rPr sz="1000" b="0" i="0">
                <a:solidFill>
                  <a:srgbClr val="8A7440"/>
                </a:solidFill>
                <a:latin typeface="Inter"/>
              </a:rPr>
              <a:t>—  </a:t>
            </a:r>
            <a:r>
              <a:rPr sz="1000" b="0" i="0">
                <a:solidFill>
                  <a:srgbClr val="94A3B8"/>
                </a:solidFill>
                <a:latin typeface="Inter"/>
              </a:rPr>
              <a:t>Cleared on restart; store-over-env priority</a:t>
            </a:r>
          </a:p>
          <a:p>
            <a:pPr algn="l">
              <a:lnSpc>
                <a:spcPct val="110000"/>
              </a:lnSpc>
              <a:spcBef>
                <a:spcPts val="0"/>
              </a:spcBef>
              <a:spcAft>
                <a:spcPts val="400"/>
              </a:spcAft>
            </a:pPr>
            <a:r>
              <a:rPr sz="1000" b="0" i="0">
                <a:solidFill>
                  <a:srgbClr val="8A7440"/>
                </a:solidFill>
                <a:latin typeface="Inter"/>
              </a:rPr>
              <a:t>—  </a:t>
            </a:r>
            <a:r>
              <a:rPr sz="1000" b="0" i="0">
                <a:solidFill>
                  <a:srgbClr val="94A3B8"/>
                </a:solidFill>
                <a:latin typeface="Inter"/>
              </a:rPr>
              <a:t>Entered in-app at the point a LIVE feature needs them</a:t>
            </a:r>
          </a:p>
        </p:txBody>
      </p:sp>
      <p:sp>
        <p:nvSpPr>
          <p:cNvPr id="8" name="TextBox 7"/>
          <p:cNvSpPr txBox="1"/>
          <p:nvPr/>
        </p:nvSpPr>
        <p:spPr>
          <a:xfrm>
            <a:off x="996695" y="3767328"/>
            <a:ext cx="4764024" cy="201168"/>
          </a:xfrm>
          <a:prstGeom prst="rect">
            <a:avLst/>
          </a:prstGeom>
          <a:noFill/>
        </p:spPr>
        <p:txBody>
          <a:bodyPr wrap="square" anchor="t" lIns="0" rIns="0" tIns="0" bIns="0">
            <a:spAutoFit/>
          </a:bodyPr>
          <a:lstStyle/>
          <a:p>
            <a:pPr algn="l">
              <a:lnSpc>
                <a:spcPct val="112000"/>
              </a:lnSpc>
              <a:spcBef>
                <a:spcPts val="0"/>
              </a:spcBef>
              <a:spcAft>
                <a:spcPts val="0"/>
              </a:spcAft>
            </a:pPr>
            <a:r>
              <a:rPr sz="760" b="0" i="0">
                <a:solidFill>
                  <a:srgbClr val="8A7440"/>
                </a:solidFill>
                <a:latin typeface="JetBrains Mono"/>
              </a:rPr>
              <a:t>services/api/credentials.py:1-68</a:t>
            </a:r>
          </a:p>
        </p:txBody>
      </p:sp>
      <p:sp>
        <p:nvSpPr>
          <p:cNvPr id="9" name="Rounded Rectangle 8"/>
          <p:cNvSpPr/>
          <p:nvPr/>
        </p:nvSpPr>
        <p:spPr>
          <a:xfrm>
            <a:off x="6217920" y="1938528"/>
            <a:ext cx="5184648" cy="2084831"/>
          </a:xfrm>
          <a:prstGeom prst="roundRect">
            <a:avLst>
              <a:gd name="adj" fmla="val 6000"/>
            </a:avLst>
          </a:prstGeom>
          <a:solidFill>
            <a:srgbClr val="1A2436"/>
          </a:solidFill>
          <a:ln w="9525">
            <a:solidFill>
              <a:srgbClr val="2A38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7376" y="2084832"/>
            <a:ext cx="4764024" cy="1828800"/>
          </a:xfrm>
          <a:prstGeom prst="rect">
            <a:avLst/>
          </a:prstGeom>
          <a:noFill/>
        </p:spPr>
        <p:txBody>
          <a:bodyPr wrap="square" anchor="t" lIns="0" rIns="0" tIns="0" bIns="0">
            <a:spAutoFit/>
          </a:bodyPr>
          <a:lstStyle/>
          <a:p>
            <a:pPr algn="l">
              <a:lnSpc>
                <a:spcPct val="112000"/>
              </a:lnSpc>
              <a:spcBef>
                <a:spcPts val="0"/>
              </a:spcBef>
              <a:spcAft>
                <a:spcPts val="600"/>
              </a:spcAft>
            </a:pPr>
            <a:r>
              <a:rPr sz="1700" b="0" i="0">
                <a:solidFill>
                  <a:srgbClr val="C9A961"/>
                </a:solidFill>
                <a:latin typeface="Cormorant Garamond"/>
              </a:rPr>
              <a:t>Secrets</a:t>
            </a:r>
          </a:p>
          <a:p>
            <a:pPr algn="l">
              <a:lnSpc>
                <a:spcPct val="110000"/>
              </a:lnSpc>
              <a:spcBef>
                <a:spcPts val="0"/>
              </a:spcBef>
              <a:spcAft>
                <a:spcPts val="400"/>
              </a:spcAft>
            </a:pPr>
            <a:r>
              <a:rPr sz="1000" b="0" i="0">
                <a:solidFill>
                  <a:srgbClr val="8A7440"/>
                </a:solidFill>
                <a:latin typeface="Inter"/>
              </a:rPr>
              <a:t>—  </a:t>
            </a:r>
            <a:r>
              <a:rPr sz="1000" b="0" i="0">
                <a:solidFill>
                  <a:srgbClr val="94A3B8"/>
                </a:solidFill>
                <a:latin typeface="Inter"/>
              </a:rPr>
              <a:t>.env is gitignored — verified clean history</a:t>
            </a:r>
          </a:p>
          <a:p>
            <a:pPr algn="l">
              <a:lnSpc>
                <a:spcPct val="110000"/>
              </a:lnSpc>
              <a:spcBef>
                <a:spcPts val="0"/>
              </a:spcBef>
              <a:spcAft>
                <a:spcPts val="400"/>
              </a:spcAft>
            </a:pPr>
            <a:r>
              <a:rPr sz="1000" b="0" i="0">
                <a:solidFill>
                  <a:srgbClr val="8A7440"/>
                </a:solidFill>
                <a:latin typeface="Inter"/>
              </a:rPr>
              <a:t>—  </a:t>
            </a:r>
            <a:r>
              <a:rPr sz="1000" b="0" i="0">
                <a:solidFill>
                  <a:srgbClr val="94A3B8"/>
                </a:solidFill>
                <a:latin typeface="Inter"/>
              </a:rPr>
              <a:t>No credential ever committed (full-history scan)</a:t>
            </a:r>
          </a:p>
          <a:p>
            <a:pPr algn="l">
              <a:lnSpc>
                <a:spcPct val="110000"/>
              </a:lnSpc>
              <a:spcBef>
                <a:spcPts val="0"/>
              </a:spcBef>
              <a:spcAft>
                <a:spcPts val="400"/>
              </a:spcAft>
            </a:pPr>
            <a:r>
              <a:rPr sz="1000" b="0" i="0">
                <a:solidFill>
                  <a:srgbClr val="8A7440"/>
                </a:solidFill>
                <a:latin typeface="Inter"/>
              </a:rPr>
              <a:t>—  </a:t>
            </a:r>
            <a:r>
              <a:rPr sz="1000" b="0" i="0">
                <a:solidFill>
                  <a:srgbClr val="94A3B8"/>
                </a:solidFill>
                <a:latin typeface="Inter"/>
              </a:rPr>
              <a:t>Production: swap to Secret Manager / Vault</a:t>
            </a:r>
          </a:p>
        </p:txBody>
      </p:sp>
      <p:sp>
        <p:nvSpPr>
          <p:cNvPr id="11" name="TextBox 10"/>
          <p:cNvSpPr txBox="1"/>
          <p:nvPr/>
        </p:nvSpPr>
        <p:spPr>
          <a:xfrm>
            <a:off x="6437376" y="3767328"/>
            <a:ext cx="4764024" cy="201168"/>
          </a:xfrm>
          <a:prstGeom prst="rect">
            <a:avLst/>
          </a:prstGeom>
          <a:noFill/>
        </p:spPr>
        <p:txBody>
          <a:bodyPr wrap="square" anchor="t" lIns="0" rIns="0" tIns="0" bIns="0">
            <a:spAutoFit/>
          </a:bodyPr>
          <a:lstStyle/>
          <a:p>
            <a:pPr algn="l">
              <a:lnSpc>
                <a:spcPct val="112000"/>
              </a:lnSpc>
              <a:spcBef>
                <a:spcPts val="0"/>
              </a:spcBef>
              <a:spcAft>
                <a:spcPts val="0"/>
              </a:spcAft>
            </a:pPr>
            <a:r>
              <a:rPr sz="760" b="0" i="0">
                <a:solidFill>
                  <a:srgbClr val="8A7440"/>
                </a:solidFill>
                <a:latin typeface="JetBrains Mono"/>
              </a:rPr>
              <a:t>packages/engine/client.py:17-23</a:t>
            </a:r>
          </a:p>
        </p:txBody>
      </p:sp>
      <p:sp>
        <p:nvSpPr>
          <p:cNvPr id="12" name="Rounded Rectangle 11"/>
          <p:cNvSpPr/>
          <p:nvPr/>
        </p:nvSpPr>
        <p:spPr>
          <a:xfrm>
            <a:off x="777240" y="4160520"/>
            <a:ext cx="5184648" cy="2084831"/>
          </a:xfrm>
          <a:prstGeom prst="roundRect">
            <a:avLst>
              <a:gd name="adj" fmla="val 6000"/>
            </a:avLst>
          </a:prstGeom>
          <a:solidFill>
            <a:srgbClr val="1A2436"/>
          </a:solidFill>
          <a:ln w="9525">
            <a:solidFill>
              <a:srgbClr val="2A38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5" y="4306824"/>
            <a:ext cx="4764024" cy="1828800"/>
          </a:xfrm>
          <a:prstGeom prst="rect">
            <a:avLst/>
          </a:prstGeom>
          <a:noFill/>
        </p:spPr>
        <p:txBody>
          <a:bodyPr wrap="square" anchor="t" lIns="0" rIns="0" tIns="0" bIns="0">
            <a:spAutoFit/>
          </a:bodyPr>
          <a:lstStyle/>
          <a:p>
            <a:pPr algn="l">
              <a:lnSpc>
                <a:spcPct val="112000"/>
              </a:lnSpc>
              <a:spcBef>
                <a:spcPts val="0"/>
              </a:spcBef>
              <a:spcAft>
                <a:spcPts val="600"/>
              </a:spcAft>
            </a:pPr>
            <a:r>
              <a:rPr sz="1700" b="0" i="0">
                <a:solidFill>
                  <a:srgbClr val="C9A961"/>
                </a:solidFill>
                <a:latin typeface="Cormorant Garamond"/>
              </a:rPr>
              <a:t>Data provenance</a:t>
            </a:r>
          </a:p>
          <a:p>
            <a:pPr algn="l">
              <a:lnSpc>
                <a:spcPct val="110000"/>
              </a:lnSpc>
              <a:spcBef>
                <a:spcPts val="0"/>
              </a:spcBef>
              <a:spcAft>
                <a:spcPts val="400"/>
              </a:spcAft>
            </a:pPr>
            <a:r>
              <a:rPr sz="1000" b="0" i="0">
                <a:solidFill>
                  <a:srgbClr val="8A7440"/>
                </a:solidFill>
                <a:latin typeface="Inter"/>
              </a:rPr>
              <a:t>—  </a:t>
            </a:r>
            <a:r>
              <a:rPr sz="1000" b="0" i="0">
                <a:solidFill>
                  <a:srgbClr val="94A3B8"/>
                </a:solidFill>
                <a:latin typeface="Inter"/>
              </a:rPr>
              <a:t>Every value cites its cache file — no fabrication</a:t>
            </a:r>
          </a:p>
          <a:p>
            <a:pPr algn="l">
              <a:lnSpc>
                <a:spcPct val="110000"/>
              </a:lnSpc>
              <a:spcBef>
                <a:spcPts val="0"/>
              </a:spcBef>
              <a:spcAft>
                <a:spcPts val="400"/>
              </a:spcAft>
            </a:pPr>
            <a:r>
              <a:rPr sz="1000" b="0" i="0">
                <a:solidFill>
                  <a:srgbClr val="8A7440"/>
                </a:solidFill>
                <a:latin typeface="Inter"/>
              </a:rPr>
              <a:t>—  </a:t>
            </a:r>
            <a:r>
              <a:rPr sz="1000" b="0" i="0">
                <a:solidFill>
                  <a:srgbClr val="94A3B8"/>
                </a:solidFill>
                <a:latin typeface="Inter"/>
              </a:rPr>
              <a:t>The agent's only data source is the typed tools</a:t>
            </a:r>
          </a:p>
          <a:p>
            <a:pPr algn="l">
              <a:lnSpc>
                <a:spcPct val="110000"/>
              </a:lnSpc>
              <a:spcBef>
                <a:spcPts val="0"/>
              </a:spcBef>
              <a:spcAft>
                <a:spcPts val="400"/>
              </a:spcAft>
            </a:pPr>
            <a:r>
              <a:rPr sz="1000" b="0" i="0">
                <a:solidFill>
                  <a:srgbClr val="8A7440"/>
                </a:solidFill>
                <a:latin typeface="Inter"/>
              </a:rPr>
              <a:t>—  </a:t>
            </a:r>
            <a:r>
              <a:rPr sz="1000" b="0" i="0">
                <a:solidFill>
                  <a:srgbClr val="94A3B8"/>
                </a:solidFill>
                <a:latin typeface="Inter"/>
              </a:rPr>
              <a:t>Trust is structural, not prompt-engineered</a:t>
            </a:r>
          </a:p>
        </p:txBody>
      </p:sp>
      <p:sp>
        <p:nvSpPr>
          <p:cNvPr id="14" name="TextBox 13"/>
          <p:cNvSpPr txBox="1"/>
          <p:nvPr/>
        </p:nvSpPr>
        <p:spPr>
          <a:xfrm>
            <a:off x="996695" y="5989320"/>
            <a:ext cx="4764024" cy="201168"/>
          </a:xfrm>
          <a:prstGeom prst="rect">
            <a:avLst/>
          </a:prstGeom>
          <a:noFill/>
        </p:spPr>
        <p:txBody>
          <a:bodyPr wrap="square" anchor="t" lIns="0" rIns="0" tIns="0" bIns="0">
            <a:spAutoFit/>
          </a:bodyPr>
          <a:lstStyle/>
          <a:p>
            <a:pPr algn="l">
              <a:lnSpc>
                <a:spcPct val="112000"/>
              </a:lnSpc>
              <a:spcBef>
                <a:spcPts val="0"/>
              </a:spcBef>
              <a:spcAft>
                <a:spcPts val="0"/>
              </a:spcAft>
            </a:pPr>
            <a:r>
              <a:rPr sz="760" b="0" i="0">
                <a:solidFill>
                  <a:srgbClr val="8A7440"/>
                </a:solidFill>
                <a:latin typeface="JetBrains Mono"/>
              </a:rPr>
              <a:t>services/api/agent/runner.py:131-133</a:t>
            </a:r>
          </a:p>
        </p:txBody>
      </p:sp>
      <p:sp>
        <p:nvSpPr>
          <p:cNvPr id="15" name="Rounded Rectangle 14"/>
          <p:cNvSpPr/>
          <p:nvPr/>
        </p:nvSpPr>
        <p:spPr>
          <a:xfrm>
            <a:off x="6217920" y="4160520"/>
            <a:ext cx="5184648" cy="2084831"/>
          </a:xfrm>
          <a:prstGeom prst="roundRect">
            <a:avLst>
              <a:gd name="adj" fmla="val 6000"/>
            </a:avLst>
          </a:prstGeom>
          <a:solidFill>
            <a:srgbClr val="1A2436"/>
          </a:solidFill>
          <a:ln w="9525">
            <a:solidFill>
              <a:srgbClr val="2A38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7376" y="4306824"/>
            <a:ext cx="4764024" cy="1828800"/>
          </a:xfrm>
          <a:prstGeom prst="rect">
            <a:avLst/>
          </a:prstGeom>
          <a:noFill/>
        </p:spPr>
        <p:txBody>
          <a:bodyPr wrap="square" anchor="t" lIns="0" rIns="0" tIns="0" bIns="0">
            <a:spAutoFit/>
          </a:bodyPr>
          <a:lstStyle/>
          <a:p>
            <a:pPr algn="l">
              <a:lnSpc>
                <a:spcPct val="112000"/>
              </a:lnSpc>
              <a:spcBef>
                <a:spcPts val="0"/>
              </a:spcBef>
              <a:spcAft>
                <a:spcPts val="600"/>
              </a:spcAft>
            </a:pPr>
            <a:r>
              <a:rPr sz="1700" b="0" i="0">
                <a:solidFill>
                  <a:srgbClr val="C9A961"/>
                </a:solidFill>
                <a:latin typeface="Cormorant Garamond"/>
              </a:rPr>
              <a:t>Hardening pending</a:t>
            </a:r>
          </a:p>
          <a:p>
            <a:pPr algn="l">
              <a:lnSpc>
                <a:spcPct val="110000"/>
              </a:lnSpc>
              <a:spcBef>
                <a:spcPts val="0"/>
              </a:spcBef>
              <a:spcAft>
                <a:spcPts val="400"/>
              </a:spcAft>
            </a:pPr>
            <a:r>
              <a:rPr sz="1000" b="0" i="0">
                <a:solidFill>
                  <a:srgbClr val="8A7440"/>
                </a:solidFill>
                <a:latin typeface="Inter"/>
              </a:rPr>
              <a:t>—  </a:t>
            </a:r>
            <a:r>
              <a:rPr sz="1000" b="0" i="0">
                <a:solidFill>
                  <a:srgbClr val="94A3B8"/>
                </a:solidFill>
                <a:latin typeface="Inter"/>
              </a:rPr>
              <a:t>Real IdP (Okta / Entra) — login is a demo gate today</a:t>
            </a:r>
          </a:p>
          <a:p>
            <a:pPr algn="l">
              <a:lnSpc>
                <a:spcPct val="110000"/>
              </a:lnSpc>
              <a:spcBef>
                <a:spcPts val="0"/>
              </a:spcBef>
              <a:spcAft>
                <a:spcPts val="400"/>
              </a:spcAft>
            </a:pPr>
            <a:r>
              <a:rPr sz="1000" b="0" i="0">
                <a:solidFill>
                  <a:srgbClr val="8A7440"/>
                </a:solidFill>
                <a:latin typeface="Inter"/>
              </a:rPr>
              <a:t>—  </a:t>
            </a:r>
            <a:r>
              <a:rPr sz="1000" b="0" i="0">
                <a:solidFill>
                  <a:srgbClr val="94A3B8"/>
                </a:solidFill>
                <a:latin typeface="Inter"/>
              </a:rPr>
              <a:t>Prompt-injection guards on agentic input</a:t>
            </a:r>
          </a:p>
          <a:p>
            <a:pPr algn="l">
              <a:lnSpc>
                <a:spcPct val="110000"/>
              </a:lnSpc>
              <a:spcBef>
                <a:spcPts val="0"/>
              </a:spcBef>
              <a:spcAft>
                <a:spcPts val="400"/>
              </a:spcAft>
            </a:pPr>
            <a:r>
              <a:rPr sz="1000" b="0" i="0">
                <a:solidFill>
                  <a:srgbClr val="8A7440"/>
                </a:solidFill>
                <a:latin typeface="Inter"/>
              </a:rPr>
              <a:t>—  </a:t>
            </a:r>
            <a:r>
              <a:rPr sz="1000" b="0" i="0">
                <a:solidFill>
                  <a:srgbClr val="94A3B8"/>
                </a:solidFill>
                <a:latin typeface="Inter"/>
              </a:rPr>
              <a:t>Rate limiting + per-route audit log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9966960" y="310896"/>
            <a:ext cx="1463040" cy="274320"/>
          </a:xfrm>
          <a:prstGeom prst="rect">
            <a:avLst/>
          </a:prstGeom>
          <a:noFill/>
        </p:spPr>
        <p:txBody>
          <a:bodyPr wrap="square" anchor="t" lIns="0" rIns="0" tIns="0" bIns="0">
            <a:spAutoFit/>
          </a:bodyPr>
          <a:lstStyle/>
          <a:p>
            <a:pPr algn="r">
              <a:lnSpc>
                <a:spcPct val="112000"/>
              </a:lnSpc>
              <a:spcBef>
                <a:spcPts val="0"/>
              </a:spcBef>
              <a:spcAft>
                <a:spcPts val="0"/>
              </a:spcAft>
            </a:pPr>
            <a:r>
              <a:rPr sz="900" b="1" i="0" spc="200">
                <a:solidFill>
                  <a:srgbClr val="8A7440"/>
                </a:solidFill>
                <a:latin typeface="Inter"/>
              </a:rPr>
              <a:t>APPENDIX</a:t>
            </a:r>
          </a:p>
        </p:txBody>
      </p:sp>
      <p:sp>
        <p:nvSpPr>
          <p:cNvPr id="3" name="TextBox 2"/>
          <p:cNvSpPr txBox="1"/>
          <p:nvPr/>
        </p:nvSpPr>
        <p:spPr>
          <a:xfrm>
            <a:off x="777240" y="566928"/>
            <a:ext cx="10607040" cy="365760"/>
          </a:xfrm>
          <a:prstGeom prst="rect">
            <a:avLst/>
          </a:prstGeom>
          <a:noFill/>
        </p:spPr>
        <p:txBody>
          <a:bodyPr wrap="square" anchor="t" lIns="0" rIns="0" tIns="0" bIns="0">
            <a:spAutoFit/>
          </a:bodyPr>
          <a:lstStyle/>
          <a:p>
            <a:pPr algn="l">
              <a:lnSpc>
                <a:spcPct val="112000"/>
              </a:lnSpc>
              <a:spcBef>
                <a:spcPts val="0"/>
              </a:spcBef>
              <a:spcAft>
                <a:spcPts val="0"/>
              </a:spcAft>
            </a:pPr>
            <a:r>
              <a:rPr sz="1250" b="1" i="0" spc="220">
                <a:solidFill>
                  <a:srgbClr val="94A3B8"/>
                </a:solidFill>
                <a:latin typeface="Inter"/>
              </a:rPr>
              <a:t>WHERE THINGS LIVE</a:t>
            </a:r>
          </a:p>
        </p:txBody>
      </p:sp>
      <p:sp>
        <p:nvSpPr>
          <p:cNvPr id="4" name="TextBox 3"/>
          <p:cNvSpPr txBox="1"/>
          <p:nvPr/>
        </p:nvSpPr>
        <p:spPr>
          <a:xfrm>
            <a:off x="777240" y="932688"/>
            <a:ext cx="10607040" cy="914400"/>
          </a:xfrm>
          <a:prstGeom prst="rect">
            <a:avLst/>
          </a:prstGeom>
          <a:noFill/>
        </p:spPr>
        <p:txBody>
          <a:bodyPr wrap="square" anchor="t" lIns="0" rIns="0" tIns="0" bIns="0">
            <a:spAutoFit/>
          </a:bodyPr>
          <a:lstStyle/>
          <a:p>
            <a:pPr algn="l">
              <a:lnSpc>
                <a:spcPct val="100000"/>
              </a:lnSpc>
              <a:spcBef>
                <a:spcPts val="0"/>
              </a:spcBef>
              <a:spcAft>
                <a:spcPts val="0"/>
              </a:spcAft>
            </a:pPr>
            <a:r>
              <a:rPr sz="3400" b="0" i="0">
                <a:solidFill>
                  <a:srgbClr val="F0F4F8"/>
                </a:solidFill>
                <a:latin typeface="Cormorant Garamond"/>
              </a:rPr>
              <a:t>Key files</a:t>
            </a:r>
          </a:p>
        </p:txBody>
      </p:sp>
      <p:sp>
        <p:nvSpPr>
          <p:cNvPr id="5" name="Rectangle 4"/>
          <p:cNvSpPr/>
          <p:nvPr/>
        </p:nvSpPr>
        <p:spPr>
          <a:xfrm>
            <a:off x="777240" y="1627632"/>
            <a:ext cx="10607040" cy="11887"/>
          </a:xfrm>
          <a:prstGeom prst="rect">
            <a:avLst/>
          </a:prstGeom>
          <a:solidFill>
            <a:srgbClr val="2A38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865376"/>
            <a:ext cx="5184648" cy="274320"/>
          </a:xfrm>
          <a:prstGeom prst="rect">
            <a:avLst/>
          </a:prstGeom>
          <a:noFill/>
        </p:spPr>
        <p:txBody>
          <a:bodyPr wrap="square" anchor="t" lIns="0" rIns="0" tIns="0" bIns="0">
            <a:spAutoFit/>
          </a:bodyPr>
          <a:lstStyle/>
          <a:p>
            <a:pPr algn="l">
              <a:lnSpc>
                <a:spcPct val="112000"/>
              </a:lnSpc>
              <a:spcBef>
                <a:spcPts val="0"/>
              </a:spcBef>
              <a:spcAft>
                <a:spcPts val="0"/>
              </a:spcAft>
            </a:pPr>
            <a:r>
              <a:rPr sz="1000" b="1" i="0" spc="160">
                <a:solidFill>
                  <a:srgbClr val="C9A961"/>
                </a:solidFill>
                <a:latin typeface="Inter"/>
              </a:rPr>
              <a:t>FRONTEND</a:t>
            </a:r>
          </a:p>
        </p:txBody>
      </p:sp>
      <p:sp>
        <p:nvSpPr>
          <p:cNvPr id="7" name="TextBox 6"/>
          <p:cNvSpPr txBox="1"/>
          <p:nvPr/>
        </p:nvSpPr>
        <p:spPr>
          <a:xfrm>
            <a:off x="777240" y="2212848"/>
            <a:ext cx="5184648" cy="4206240"/>
          </a:xfrm>
          <a:prstGeom prst="rect">
            <a:avLst/>
          </a:prstGeom>
          <a:noFill/>
        </p:spPr>
        <p:txBody>
          <a:bodyPr wrap="square" anchor="t" lIns="0" rIns="0" tIns="0" bIns="0">
            <a:spAutoFit/>
          </a:bodyPr>
          <a:lstStyle/>
          <a:p>
            <a:pPr algn="l">
              <a:lnSpc>
                <a:spcPct val="105000"/>
              </a:lnSpc>
              <a:spcBef>
                <a:spcPts val="0"/>
              </a:spcBef>
              <a:spcAft>
                <a:spcPts val="0"/>
              </a:spcAft>
            </a:pPr>
            <a:r>
              <a:rPr sz="930" b="0" i="0">
                <a:solidFill>
                  <a:srgbClr val="F0F4F8"/>
                </a:solidFill>
                <a:latin typeface="JetBrains Mono"/>
              </a:rPr>
              <a:t>design-prototype/index.html</a:t>
            </a:r>
          </a:p>
          <a:p>
            <a:pPr algn="l">
              <a:lnSpc>
                <a:spcPct val="100000"/>
              </a:lnSpc>
              <a:spcBef>
                <a:spcPts val="0"/>
              </a:spcBef>
              <a:spcAft>
                <a:spcPts val="700"/>
              </a:spcAft>
            </a:pPr>
            <a:r>
              <a:rPr sz="930" b="0" i="0">
                <a:solidFill>
                  <a:srgbClr val="64748B"/>
                </a:solidFill>
                <a:latin typeface="Inter"/>
              </a:rPr>
              <a:t>Babel-standalone loader — the no-build evidence</a:t>
            </a:r>
          </a:p>
          <a:p>
            <a:pPr algn="l">
              <a:lnSpc>
                <a:spcPct val="105000"/>
              </a:lnSpc>
              <a:spcBef>
                <a:spcPts val="0"/>
              </a:spcBef>
              <a:spcAft>
                <a:spcPts val="0"/>
              </a:spcAft>
            </a:pPr>
            <a:r>
              <a:rPr sz="930" b="0" i="0">
                <a:solidFill>
                  <a:srgbClr val="F0F4F8"/>
                </a:solidFill>
                <a:latin typeface="JetBrains Mono"/>
              </a:rPr>
              <a:t>design-prototype/app.jsx</a:t>
            </a:r>
          </a:p>
          <a:p>
            <a:pPr algn="l">
              <a:lnSpc>
                <a:spcPct val="100000"/>
              </a:lnSpc>
              <a:spcBef>
                <a:spcPts val="0"/>
              </a:spcBef>
              <a:spcAft>
                <a:spcPts val="700"/>
              </a:spcAft>
            </a:pPr>
            <a:r>
              <a:rPr sz="930" b="0" i="0">
                <a:solidFill>
                  <a:srgbClr val="64748B"/>
                </a:solidFill>
                <a:latin typeface="Inter"/>
              </a:rPr>
              <a:t>Hash router + app shell</a:t>
            </a:r>
          </a:p>
          <a:p>
            <a:pPr algn="l">
              <a:lnSpc>
                <a:spcPct val="105000"/>
              </a:lnSpc>
              <a:spcBef>
                <a:spcPts val="0"/>
              </a:spcBef>
              <a:spcAft>
                <a:spcPts val="0"/>
              </a:spcAft>
            </a:pPr>
            <a:r>
              <a:rPr sz="930" b="0" i="0">
                <a:solidFill>
                  <a:srgbClr val="F0F4F8"/>
                </a:solidFill>
                <a:latin typeface="JetBrains Mono"/>
              </a:rPr>
              <a:t>design-prototype/surfaces/compare.jsx</a:t>
            </a:r>
          </a:p>
          <a:p>
            <a:pPr algn="l">
              <a:lnSpc>
                <a:spcPct val="100000"/>
              </a:lnSpc>
              <a:spcBef>
                <a:spcPts val="0"/>
              </a:spcBef>
              <a:spcAft>
                <a:spcPts val="700"/>
              </a:spcAft>
            </a:pPr>
            <a:r>
              <a:rPr sz="930" b="0" i="0">
                <a:solidFill>
                  <a:srgbClr val="64748B"/>
                </a:solidFill>
                <a:latin typeface="Inter"/>
              </a:rPr>
              <a:t>Compare hero + Run Composition</a:t>
            </a:r>
          </a:p>
          <a:p>
            <a:pPr algn="l">
              <a:lnSpc>
                <a:spcPct val="105000"/>
              </a:lnSpc>
              <a:spcBef>
                <a:spcPts val="0"/>
              </a:spcBef>
              <a:spcAft>
                <a:spcPts val="0"/>
              </a:spcAft>
            </a:pPr>
            <a:r>
              <a:rPr sz="930" b="0" i="0">
                <a:solidFill>
                  <a:srgbClr val="F0F4F8"/>
                </a:solidFill>
                <a:latin typeface="JetBrains Mono"/>
              </a:rPr>
              <a:t>design-prototype/surfaces/entity.jsx</a:t>
            </a:r>
          </a:p>
          <a:p>
            <a:pPr algn="l">
              <a:lnSpc>
                <a:spcPct val="100000"/>
              </a:lnSpc>
              <a:spcBef>
                <a:spcPts val="0"/>
              </a:spcBef>
              <a:spcAft>
                <a:spcPts val="700"/>
              </a:spcAft>
            </a:pPr>
            <a:r>
              <a:rPr sz="930" b="0" i="0">
                <a:solidFill>
                  <a:srgbClr val="64748B"/>
                </a:solidFill>
                <a:latin typeface="Inter"/>
              </a:rPr>
              <a:t>Entity detail + ownership graph</a:t>
            </a:r>
          </a:p>
          <a:p>
            <a:pPr algn="l">
              <a:lnSpc>
                <a:spcPct val="105000"/>
              </a:lnSpc>
              <a:spcBef>
                <a:spcPts val="0"/>
              </a:spcBef>
              <a:spcAft>
                <a:spcPts val="0"/>
              </a:spcAft>
            </a:pPr>
            <a:r>
              <a:rPr sz="930" b="0" i="0">
                <a:solidFill>
                  <a:srgbClr val="F0F4F8"/>
                </a:solidFill>
                <a:latin typeface="JetBrains Mono"/>
              </a:rPr>
              <a:t>design-prototype/surfaces/upload.jsx</a:t>
            </a:r>
          </a:p>
          <a:p>
            <a:pPr algn="l">
              <a:lnSpc>
                <a:spcPct val="100000"/>
              </a:lnSpc>
              <a:spcBef>
                <a:spcPts val="0"/>
              </a:spcBef>
              <a:spcAft>
                <a:spcPts val="700"/>
              </a:spcAft>
            </a:pPr>
            <a:r>
              <a:rPr sz="930" b="0" i="0">
                <a:solidFill>
                  <a:srgbClr val="64748B"/>
                </a:solidFill>
                <a:latin typeface="Inter"/>
              </a:rPr>
              <a:t>Validate-and-Run SSE trace</a:t>
            </a:r>
          </a:p>
          <a:p>
            <a:pPr algn="l">
              <a:lnSpc>
                <a:spcPct val="105000"/>
              </a:lnSpc>
              <a:spcBef>
                <a:spcPts val="0"/>
              </a:spcBef>
              <a:spcAft>
                <a:spcPts val="0"/>
              </a:spcAft>
            </a:pPr>
            <a:r>
              <a:rPr sz="930" b="0" i="0">
                <a:solidFill>
                  <a:srgbClr val="F0F4F8"/>
                </a:solidFill>
                <a:latin typeface="JetBrains Mono"/>
              </a:rPr>
              <a:t>design-prototype/surfaces/copilot.jsx</a:t>
            </a:r>
          </a:p>
          <a:p>
            <a:pPr algn="l">
              <a:lnSpc>
                <a:spcPct val="100000"/>
              </a:lnSpc>
              <a:spcBef>
                <a:spcPts val="0"/>
              </a:spcBef>
              <a:spcAft>
                <a:spcPts val="700"/>
              </a:spcAft>
            </a:pPr>
            <a:r>
              <a:rPr sz="930" b="0" i="0">
                <a:solidFill>
                  <a:srgbClr val="64748B"/>
                </a:solidFill>
                <a:latin typeface="Inter"/>
              </a:rPr>
              <a:t>Grounded co-pilot</a:t>
            </a:r>
          </a:p>
          <a:p>
            <a:pPr algn="l">
              <a:lnSpc>
                <a:spcPct val="105000"/>
              </a:lnSpc>
              <a:spcBef>
                <a:spcPts val="0"/>
              </a:spcBef>
              <a:spcAft>
                <a:spcPts val="0"/>
              </a:spcAft>
            </a:pPr>
            <a:r>
              <a:rPr sz="930" b="0" i="0">
                <a:solidFill>
                  <a:srgbClr val="F0F4F8"/>
                </a:solidFill>
                <a:latin typeface="JetBrains Mono"/>
              </a:rPr>
              <a:t>design-prototype/components/primitives.jsx</a:t>
            </a:r>
          </a:p>
          <a:p>
            <a:pPr algn="l">
              <a:lnSpc>
                <a:spcPct val="100000"/>
              </a:lnSpc>
              <a:spcBef>
                <a:spcPts val="0"/>
              </a:spcBef>
              <a:spcAft>
                <a:spcPts val="700"/>
              </a:spcAft>
            </a:pPr>
            <a:r>
              <a:rPr sz="930" b="0" i="0">
                <a:solidFill>
                  <a:srgbClr val="64748B"/>
                </a:solidFill>
                <a:latin typeface="Inter"/>
              </a:rPr>
              <a:t>CitedValue · CredentialsModal</a:t>
            </a:r>
          </a:p>
        </p:txBody>
      </p:sp>
      <p:sp>
        <p:nvSpPr>
          <p:cNvPr id="8" name="TextBox 7"/>
          <p:cNvSpPr txBox="1"/>
          <p:nvPr/>
        </p:nvSpPr>
        <p:spPr>
          <a:xfrm>
            <a:off x="6217920" y="1865376"/>
            <a:ext cx="5184648" cy="274320"/>
          </a:xfrm>
          <a:prstGeom prst="rect">
            <a:avLst/>
          </a:prstGeom>
          <a:noFill/>
        </p:spPr>
        <p:txBody>
          <a:bodyPr wrap="square" anchor="t" lIns="0" rIns="0" tIns="0" bIns="0">
            <a:spAutoFit/>
          </a:bodyPr>
          <a:lstStyle/>
          <a:p>
            <a:pPr algn="l">
              <a:lnSpc>
                <a:spcPct val="112000"/>
              </a:lnSpc>
              <a:spcBef>
                <a:spcPts val="0"/>
              </a:spcBef>
              <a:spcAft>
                <a:spcPts val="0"/>
              </a:spcAft>
            </a:pPr>
            <a:r>
              <a:rPr sz="1000" b="1" i="0" spc="160">
                <a:solidFill>
                  <a:srgbClr val="C9A961"/>
                </a:solidFill>
                <a:latin typeface="Inter"/>
              </a:rPr>
              <a:t>BACKEND</a:t>
            </a:r>
          </a:p>
        </p:txBody>
      </p:sp>
      <p:sp>
        <p:nvSpPr>
          <p:cNvPr id="9" name="TextBox 8"/>
          <p:cNvSpPr txBox="1"/>
          <p:nvPr/>
        </p:nvSpPr>
        <p:spPr>
          <a:xfrm>
            <a:off x="6217920" y="2212848"/>
            <a:ext cx="5184648" cy="4206240"/>
          </a:xfrm>
          <a:prstGeom prst="rect">
            <a:avLst/>
          </a:prstGeom>
          <a:noFill/>
        </p:spPr>
        <p:txBody>
          <a:bodyPr wrap="square" anchor="t" lIns="0" rIns="0" tIns="0" bIns="0">
            <a:spAutoFit/>
          </a:bodyPr>
          <a:lstStyle/>
          <a:p>
            <a:pPr algn="l">
              <a:lnSpc>
                <a:spcPct val="105000"/>
              </a:lnSpc>
              <a:spcBef>
                <a:spcPts val="0"/>
              </a:spcBef>
              <a:spcAft>
                <a:spcPts val="0"/>
              </a:spcAft>
            </a:pPr>
            <a:r>
              <a:rPr sz="930" b="0" i="0">
                <a:solidFill>
                  <a:srgbClr val="F0F4F8"/>
                </a:solidFill>
                <a:latin typeface="JetBrains Mono"/>
              </a:rPr>
              <a:t>services/api/main.py</a:t>
            </a:r>
          </a:p>
          <a:p>
            <a:pPr algn="l">
              <a:lnSpc>
                <a:spcPct val="100000"/>
              </a:lnSpc>
              <a:spcBef>
                <a:spcPts val="0"/>
              </a:spcBef>
              <a:spcAft>
                <a:spcPts val="700"/>
              </a:spcAft>
            </a:pPr>
            <a:r>
              <a:rPr sz="930" b="0" i="0">
                <a:solidFill>
                  <a:srgbClr val="64748B"/>
                </a:solidFill>
                <a:latin typeface="Inter"/>
              </a:rPr>
              <a:t>FastAPI tools API + SSE + static mounts</a:t>
            </a:r>
          </a:p>
          <a:p>
            <a:pPr algn="l">
              <a:lnSpc>
                <a:spcPct val="105000"/>
              </a:lnSpc>
              <a:spcBef>
                <a:spcPts val="0"/>
              </a:spcBef>
              <a:spcAft>
                <a:spcPts val="0"/>
              </a:spcAft>
            </a:pPr>
            <a:r>
              <a:rPr sz="930" b="0" i="0">
                <a:solidFill>
                  <a:srgbClr val="F0F4F8"/>
                </a:solidFill>
                <a:latin typeface="JetBrains Mono"/>
              </a:rPr>
              <a:t>packages/engine/profile.py</a:t>
            </a:r>
          </a:p>
          <a:p>
            <a:pPr algn="l">
              <a:lnSpc>
                <a:spcPct val="100000"/>
              </a:lnSpc>
              <a:spcBef>
                <a:spcPts val="0"/>
              </a:spcBef>
              <a:spcAft>
                <a:spcPts val="700"/>
              </a:spcAft>
            </a:pPr>
            <a:r>
              <a:rPr sz="930" b="0" i="0">
                <a:solidFill>
                  <a:srgbClr val="64748B"/>
                </a:solidFill>
                <a:latin typeface="Inter"/>
              </a:rPr>
              <a:t>extract_profile — single source of truth</a:t>
            </a:r>
          </a:p>
          <a:p>
            <a:pPr algn="l">
              <a:lnSpc>
                <a:spcPct val="105000"/>
              </a:lnSpc>
              <a:spcBef>
                <a:spcPts val="0"/>
              </a:spcBef>
              <a:spcAft>
                <a:spcPts val="0"/>
              </a:spcAft>
            </a:pPr>
            <a:r>
              <a:rPr sz="930" b="0" i="0">
                <a:solidFill>
                  <a:srgbClr val="F0F4F8"/>
                </a:solidFill>
                <a:latin typeface="JetBrains Mono"/>
              </a:rPr>
              <a:t>packages/engine/resolve.py</a:t>
            </a:r>
          </a:p>
          <a:p>
            <a:pPr algn="l">
              <a:lnSpc>
                <a:spcPct val="100000"/>
              </a:lnSpc>
              <a:spcBef>
                <a:spcPts val="0"/>
              </a:spcBef>
              <a:spcAft>
                <a:spcPts val="700"/>
              </a:spcAft>
            </a:pPr>
            <a:r>
              <a:rPr sz="930" b="0" i="0">
                <a:solidFill>
                  <a:srgbClr val="64748B"/>
                </a:solidFill>
                <a:latin typeface="Inter"/>
              </a:rPr>
              <a:t>PINNED_IDS with audit comments</a:t>
            </a:r>
          </a:p>
          <a:p>
            <a:pPr algn="l">
              <a:lnSpc>
                <a:spcPct val="105000"/>
              </a:lnSpc>
              <a:spcBef>
                <a:spcPts val="0"/>
              </a:spcBef>
              <a:spcAft>
                <a:spcPts val="0"/>
              </a:spcAft>
            </a:pPr>
            <a:r>
              <a:rPr sz="930" b="0" i="0">
                <a:solidFill>
                  <a:srgbClr val="F0F4F8"/>
                </a:solidFill>
                <a:latin typeface="JetBrains Mono"/>
              </a:rPr>
              <a:t>services/api/tools/compare_ofac_vs_sayari.py</a:t>
            </a:r>
          </a:p>
          <a:p>
            <a:pPr algn="l">
              <a:lnSpc>
                <a:spcPct val="100000"/>
              </a:lnSpc>
              <a:spcBef>
                <a:spcPts val="0"/>
              </a:spcBef>
              <a:spcAft>
                <a:spcPts val="700"/>
              </a:spcAft>
            </a:pPr>
            <a:r>
              <a:rPr sz="930" b="0" i="0">
                <a:solidFill>
                  <a:srgbClr val="64748B"/>
                </a:solidFill>
                <a:latin typeface="Inter"/>
              </a:rPr>
              <a:t>The headline reconciliation</a:t>
            </a:r>
          </a:p>
          <a:p>
            <a:pPr algn="l">
              <a:lnSpc>
                <a:spcPct val="105000"/>
              </a:lnSpc>
              <a:spcBef>
                <a:spcPts val="0"/>
              </a:spcBef>
              <a:spcAft>
                <a:spcPts val="0"/>
              </a:spcAft>
            </a:pPr>
            <a:r>
              <a:rPr sz="930" b="0" i="0">
                <a:solidFill>
                  <a:srgbClr val="F0F4F8"/>
                </a:solidFill>
                <a:latin typeface="JetBrains Mono"/>
              </a:rPr>
              <a:t>services/api/tools/traverse_ownership.py</a:t>
            </a:r>
          </a:p>
          <a:p>
            <a:pPr algn="l">
              <a:lnSpc>
                <a:spcPct val="100000"/>
              </a:lnSpc>
              <a:spcBef>
                <a:spcPts val="0"/>
              </a:spcBef>
              <a:spcAft>
                <a:spcPts val="700"/>
              </a:spcAft>
            </a:pPr>
            <a:r>
              <a:rPr sz="930" b="0" i="0">
                <a:solidFill>
                  <a:srgbClr val="64748B"/>
                </a:solidFill>
                <a:latin typeface="Inter"/>
              </a:rPr>
              <a:t>Cache-first ownership traversal</a:t>
            </a:r>
          </a:p>
          <a:p>
            <a:pPr algn="l">
              <a:lnSpc>
                <a:spcPct val="105000"/>
              </a:lnSpc>
              <a:spcBef>
                <a:spcPts val="0"/>
              </a:spcBef>
              <a:spcAft>
                <a:spcPts val="0"/>
              </a:spcAft>
            </a:pPr>
            <a:r>
              <a:rPr sz="930" b="0" i="0">
                <a:solidFill>
                  <a:srgbClr val="F0F4F8"/>
                </a:solidFill>
                <a:latin typeface="JetBrains Mono"/>
              </a:rPr>
              <a:t>services/api/tools/generate_briefing.py</a:t>
            </a:r>
          </a:p>
          <a:p>
            <a:pPr algn="l">
              <a:lnSpc>
                <a:spcPct val="100000"/>
              </a:lnSpc>
              <a:spcBef>
                <a:spcPts val="0"/>
              </a:spcBef>
              <a:spcAft>
                <a:spcPts val="700"/>
              </a:spcAft>
            </a:pPr>
            <a:r>
              <a:rPr sz="930" b="0" i="0">
                <a:solidFill>
                  <a:srgbClr val="64748B"/>
                </a:solidFill>
                <a:latin typeface="Inter"/>
              </a:rPr>
              <a:t>WeasyPrint + HTML fallback</a:t>
            </a:r>
          </a:p>
          <a:p>
            <a:pPr algn="l">
              <a:lnSpc>
                <a:spcPct val="105000"/>
              </a:lnSpc>
              <a:spcBef>
                <a:spcPts val="0"/>
              </a:spcBef>
              <a:spcAft>
                <a:spcPts val="0"/>
              </a:spcAft>
            </a:pPr>
            <a:r>
              <a:rPr sz="930" b="0" i="0">
                <a:solidFill>
                  <a:srgbClr val="F0F4F8"/>
                </a:solidFill>
                <a:latin typeface="JetBrains Mono"/>
              </a:rPr>
              <a:t>services/api/agent/runner.py</a:t>
            </a:r>
          </a:p>
          <a:p>
            <a:pPr algn="l">
              <a:lnSpc>
                <a:spcPct val="100000"/>
              </a:lnSpc>
              <a:spcBef>
                <a:spcPts val="0"/>
              </a:spcBef>
              <a:spcAft>
                <a:spcPts val="700"/>
              </a:spcAft>
            </a:pPr>
            <a:r>
              <a:rPr sz="930" b="0" i="0">
                <a:solidFill>
                  <a:srgbClr val="64748B"/>
                </a:solidFill>
                <a:latin typeface="Inter"/>
              </a:rPr>
              <a:t>Claude tool-use loop (SSE)</a:t>
            </a:r>
          </a:p>
          <a:p>
            <a:pPr algn="l">
              <a:lnSpc>
                <a:spcPct val="105000"/>
              </a:lnSpc>
              <a:spcBef>
                <a:spcPts val="0"/>
              </a:spcBef>
              <a:spcAft>
                <a:spcPts val="0"/>
              </a:spcAft>
            </a:pPr>
            <a:r>
              <a:rPr sz="930" b="0" i="0">
                <a:solidFill>
                  <a:srgbClr val="F0F4F8"/>
                </a:solidFill>
                <a:latin typeface="JetBrains Mono"/>
              </a:rPr>
              <a:t>services/mcp/server.py</a:t>
            </a:r>
          </a:p>
          <a:p>
            <a:pPr algn="l">
              <a:lnSpc>
                <a:spcPct val="100000"/>
              </a:lnSpc>
              <a:spcBef>
                <a:spcPts val="0"/>
              </a:spcBef>
              <a:spcAft>
                <a:spcPts val="700"/>
              </a:spcAft>
            </a:pPr>
            <a:r>
              <a:rPr sz="930" b="0" i="0">
                <a:solidFill>
                  <a:srgbClr val="64748B"/>
                </a:solidFill>
                <a:latin typeface="Inter"/>
              </a:rPr>
              <a:t>MCP server — 6 tools</a:t>
            </a:r>
          </a:p>
        </p:txBody>
      </p:sp>
      <p:sp>
        <p:nvSpPr>
          <p:cNvPr id="10" name="TextBox 9"/>
          <p:cNvSpPr txBox="1"/>
          <p:nvPr/>
        </p:nvSpPr>
        <p:spPr>
          <a:xfrm>
            <a:off x="777240" y="6355080"/>
            <a:ext cx="10625328" cy="365760"/>
          </a:xfrm>
          <a:prstGeom prst="rect">
            <a:avLst/>
          </a:prstGeom>
          <a:noFill/>
        </p:spPr>
        <p:txBody>
          <a:bodyPr wrap="square" anchor="t" lIns="0" rIns="0" tIns="0" bIns="0">
            <a:spAutoFit/>
          </a:bodyPr>
          <a:lstStyle/>
          <a:p>
            <a:pPr algn="l">
              <a:lnSpc>
                <a:spcPct val="112000"/>
              </a:lnSpc>
              <a:spcBef>
                <a:spcPts val="0"/>
              </a:spcBef>
              <a:spcAft>
                <a:spcPts val="0"/>
              </a:spcAft>
            </a:pPr>
            <a:r>
              <a:rPr sz="900" b="0" i="0">
                <a:solidFill>
                  <a:srgbClr val="8A7440"/>
                </a:solidFill>
                <a:latin typeface="JetBrains Mono"/>
              </a:rPr>
              <a:t>All paths resolve at  github.com/pnemrow/meridian-sentinel/blob/master/&lt;path&gt;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9966960" y="310896"/>
            <a:ext cx="1463040" cy="274320"/>
          </a:xfrm>
          <a:prstGeom prst="rect">
            <a:avLst/>
          </a:prstGeom>
          <a:noFill/>
        </p:spPr>
        <p:txBody>
          <a:bodyPr wrap="square" anchor="t" lIns="0" rIns="0" tIns="0" bIns="0">
            <a:spAutoFit/>
          </a:bodyPr>
          <a:lstStyle/>
          <a:p>
            <a:pPr algn="r">
              <a:lnSpc>
                <a:spcPct val="112000"/>
              </a:lnSpc>
              <a:spcBef>
                <a:spcPts val="0"/>
              </a:spcBef>
              <a:spcAft>
                <a:spcPts val="0"/>
              </a:spcAft>
            </a:pPr>
            <a:r>
              <a:rPr sz="900" b="1" i="0" spc="200">
                <a:solidFill>
                  <a:srgbClr val="8A7440"/>
                </a:solidFill>
                <a:latin typeface="Inter"/>
              </a:rPr>
              <a:t>APPENDIX</a:t>
            </a:r>
          </a:p>
        </p:txBody>
      </p:sp>
      <p:sp>
        <p:nvSpPr>
          <p:cNvPr id="3" name="Rectangle 2"/>
          <p:cNvSpPr/>
          <p:nvPr/>
        </p:nvSpPr>
        <p:spPr>
          <a:xfrm>
            <a:off x="0" y="0"/>
            <a:ext cx="12191695" cy="64008"/>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371600"/>
            <a:ext cx="10424160" cy="914400"/>
          </a:xfrm>
          <a:prstGeom prst="rect">
            <a:avLst/>
          </a:prstGeom>
          <a:noFill/>
        </p:spPr>
        <p:txBody>
          <a:bodyPr wrap="square" anchor="t" lIns="0" rIns="0" tIns="0" bIns="0">
            <a:spAutoFit/>
          </a:bodyPr>
          <a:lstStyle/>
          <a:p>
            <a:pPr algn="l">
              <a:lnSpc>
                <a:spcPct val="112000"/>
              </a:lnSpc>
              <a:spcBef>
                <a:spcPts val="0"/>
              </a:spcBef>
              <a:spcAft>
                <a:spcPts val="0"/>
              </a:spcAft>
            </a:pPr>
            <a:r>
              <a:rPr sz="5200" b="0" i="0">
                <a:solidFill>
                  <a:srgbClr val="F0F4F8"/>
                </a:solidFill>
                <a:latin typeface="Cormorant Garamond"/>
              </a:rPr>
              <a:t>Thank you</a:t>
            </a:r>
          </a:p>
        </p:txBody>
      </p:sp>
      <p:sp>
        <p:nvSpPr>
          <p:cNvPr id="5" name="TextBox 4"/>
          <p:cNvSpPr txBox="1"/>
          <p:nvPr/>
        </p:nvSpPr>
        <p:spPr>
          <a:xfrm>
            <a:off x="868680" y="2697480"/>
            <a:ext cx="10424160" cy="1828800"/>
          </a:xfrm>
          <a:prstGeom prst="rect">
            <a:avLst/>
          </a:prstGeom>
          <a:noFill/>
        </p:spPr>
        <p:txBody>
          <a:bodyPr wrap="square" anchor="t" lIns="0" rIns="0" tIns="0" bIns="0">
            <a:spAutoFit/>
          </a:bodyPr>
          <a:lstStyle/>
          <a:p/>
          <a:p>
            <a:pPr algn="l">
              <a:lnSpc>
                <a:spcPct val="110000"/>
              </a:lnSpc>
              <a:spcBef>
                <a:spcPts val="0"/>
              </a:spcBef>
              <a:spcAft>
                <a:spcPts val="1000"/>
              </a:spcAft>
            </a:pPr>
            <a:r>
              <a:rPr sz="1300" b="1" i="0">
                <a:solidFill>
                  <a:srgbClr val="C9A961"/>
                </a:solidFill>
                <a:latin typeface="Inter"/>
              </a:rPr>
              <a:t>Deck + ADRs    </a:t>
            </a:r>
            <a:r>
              <a:rPr sz="1200" b="0" i="0">
                <a:solidFill>
                  <a:srgbClr val="94A3B8"/>
                </a:solidFill>
                <a:latin typeface="JetBrains Mono"/>
              </a:rPr>
              <a:t>github.com/pnemrow/meridian-sentinel/tree/master/docs/walkthrough</a:t>
            </a:r>
          </a:p>
          <a:p>
            <a:pPr algn="l">
              <a:lnSpc>
                <a:spcPct val="110000"/>
              </a:lnSpc>
              <a:spcBef>
                <a:spcPts val="0"/>
              </a:spcBef>
              <a:spcAft>
                <a:spcPts val="1000"/>
              </a:spcAft>
            </a:pPr>
            <a:r>
              <a:rPr sz="1300" b="1" i="0">
                <a:solidFill>
                  <a:srgbClr val="C9A961"/>
                </a:solidFill>
                <a:latin typeface="Inter"/>
              </a:rPr>
              <a:t>Run it    </a:t>
            </a:r>
            <a:r>
              <a:rPr sz="1200" b="0" i="0">
                <a:solidFill>
                  <a:srgbClr val="94A3B8"/>
                </a:solidFill>
                <a:latin typeface="JetBrains Mono"/>
              </a:rPr>
              <a:t>git clone … &amp;&amp; docker compose up   →   localhost:8000/ui/</a:t>
            </a:r>
          </a:p>
          <a:p>
            <a:pPr algn="l">
              <a:lnSpc>
                <a:spcPct val="110000"/>
              </a:lnSpc>
              <a:spcBef>
                <a:spcPts val="0"/>
              </a:spcBef>
              <a:spcAft>
                <a:spcPts val="1000"/>
              </a:spcAft>
            </a:pPr>
            <a:r>
              <a:rPr sz="1300" b="1" i="0">
                <a:solidFill>
                  <a:srgbClr val="C9A961"/>
                </a:solidFill>
                <a:latin typeface="Inter"/>
              </a:rPr>
              <a:t>Repo    </a:t>
            </a:r>
            <a:r>
              <a:rPr sz="1200" b="0" i="0">
                <a:solidFill>
                  <a:srgbClr val="94A3B8"/>
                </a:solidFill>
                <a:latin typeface="JetBrains Mono"/>
              </a:rPr>
              <a:t>github.com/pnemrow/meridian-sentinel</a:t>
            </a:r>
          </a:p>
          <a:p>
            <a:pPr algn="l">
              <a:lnSpc>
                <a:spcPct val="115000"/>
              </a:lnSpc>
              <a:spcBef>
                <a:spcPts val="400"/>
              </a:spcBef>
              <a:spcAft>
                <a:spcPts val="0"/>
              </a:spcAft>
            </a:pPr>
            <a:r>
              <a:rPr sz="1300" b="0" i="0">
                <a:solidFill>
                  <a:srgbClr val="94A3B8"/>
                </a:solidFill>
                <a:latin typeface="Inter"/>
              </a:rPr>
              <a:t>I'd love a deeper session — architecture, code walkthrough, or a whiteboard on scaling.</a:t>
            </a:r>
          </a:p>
        </p:txBody>
      </p:sp>
      <p:sp>
        <p:nvSpPr>
          <p:cNvPr id="6" name="TextBox 5"/>
          <p:cNvSpPr txBox="1"/>
          <p:nvPr/>
        </p:nvSpPr>
        <p:spPr>
          <a:xfrm>
            <a:off x="868680" y="4754880"/>
            <a:ext cx="10424160" cy="822960"/>
          </a:xfrm>
          <a:prstGeom prst="rect">
            <a:avLst/>
          </a:prstGeom>
          <a:noFill/>
        </p:spPr>
        <p:txBody>
          <a:bodyPr wrap="square" anchor="t" lIns="0" rIns="0" tIns="0" bIns="0">
            <a:spAutoFit/>
          </a:bodyPr>
          <a:lstStyle/>
          <a:p>
            <a:pPr algn="l">
              <a:lnSpc>
                <a:spcPct val="112000"/>
              </a:lnSpc>
              <a:spcBef>
                <a:spcPts val="0"/>
              </a:spcBef>
              <a:spcAft>
                <a:spcPts val="200"/>
              </a:spcAft>
            </a:pPr>
            <a:r>
              <a:rPr sz="1400" b="1" i="0">
                <a:solidFill>
                  <a:srgbClr val="F0F4F8"/>
                </a:solidFill>
                <a:latin typeface="Inter"/>
              </a:rPr>
              <a:t>Peter Nemrow</a:t>
            </a:r>
          </a:p>
          <a:p>
            <a:pPr algn="l">
              <a:lnSpc>
                <a:spcPct val="112000"/>
              </a:lnSpc>
              <a:spcBef>
                <a:spcPts val="0"/>
              </a:spcBef>
              <a:spcAft>
                <a:spcPts val="0"/>
              </a:spcAft>
            </a:pPr>
            <a:r>
              <a:rPr sz="1100" b="0" i="0">
                <a:solidFill>
                  <a:srgbClr val="94A3B8"/>
                </a:solidFill>
                <a:latin typeface="JetBrains Mono"/>
              </a:rPr>
              <a:t>pnemrow@gmail.com</a:t>
            </a:r>
          </a:p>
        </p:txBody>
      </p:sp>
      <p:sp>
        <p:nvSpPr>
          <p:cNvPr id="7" name="TextBox 6"/>
          <p:cNvSpPr txBox="1"/>
          <p:nvPr/>
        </p:nvSpPr>
        <p:spPr>
          <a:xfrm>
            <a:off x="868680" y="5897880"/>
            <a:ext cx="10424160" cy="640080"/>
          </a:xfrm>
          <a:prstGeom prst="rect">
            <a:avLst/>
          </a:prstGeom>
          <a:noFill/>
        </p:spPr>
        <p:txBody>
          <a:bodyPr wrap="square" anchor="t" lIns="0" rIns="0" tIns="0" bIns="0">
            <a:spAutoFit/>
          </a:bodyPr>
          <a:lstStyle/>
          <a:p>
            <a:pPr algn="l">
              <a:lnSpc>
                <a:spcPct val="105000"/>
              </a:lnSpc>
              <a:spcBef>
                <a:spcPts val="0"/>
              </a:spcBef>
              <a:spcAft>
                <a:spcPts val="0"/>
              </a:spcAft>
            </a:pPr>
            <a:r>
              <a:rPr sz="1900" b="0" i="1">
                <a:solidFill>
                  <a:srgbClr val="C9A961"/>
                </a:solidFill>
                <a:latin typeface="Cormorant Garamond"/>
              </a:rPr>
              <a:t>“Built with the assumption that someone will deploy this to a real customer in eight weeks.”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