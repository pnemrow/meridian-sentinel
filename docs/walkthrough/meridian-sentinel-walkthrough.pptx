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a clean 15-second framing. I built Meridian Sentinel as my take-home — a counterparty intelligence platform for commodities firms. Today I want to walk you through three things: who the customer is and why this use case maps to Sayari's product, what I actually built, and the architectural decisions I'd defend to a customer. Then we'll go to a live demo running on localhost. Every file reference in this deck is a clickable link to the exact code in the repo. You'll get the deck and a one-page leave-behind afterward, so you don't need to take notes. The whole thing runs with one command — docker compose up — and the cached demo path needs zero credentials, so anyone on your team can clone it and reproduce exactly what you'll see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architecture, the customer. Meridian Energy Trading is a Geneva-based commodities firm — I made them up, but the pain is real, and it reflects the way FINMA has been tightening its stance on beneficial-ownership screening. They trade crude, LNG, refined products, base metals, and onboard over 2,000 counterparties. Their problem is that traditional OFAC name-match produces too many false positives and misses ownership-layered exposure — a vendor isn't sanctioned, but their ultimate beneficial owner three hops up is. Manual beneficial-owner research takes their analysts four to six hours per entity. This is exactly the problem Sayari's commercial world model solves. I built the application layer that turns Sayari's graph into actual compliance-officer decisions. That's the FDE pattern Hunter described: customer-grounded application development that feeds the product flywheel. I wanted to demonstrate I understand the business you're in, not just that I can write code.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built is a counterparty intelligence platform with three pillars. First, a deterministic engine — a compliance officer uploads a vendor list, the engine resolves each name to a Sayari entity, traverses ownership, screens OFAC, and produces an audit-defensible briefing. The key commitment is that no LLM touches the numbers; every value traces to a Sayari field in a cached JSON file on disk. Second, a grounded co-pilot — a Claude tool-use loop over those same typed tools, streamed token-by-token, that cites every claim and is forbidden from fabricating. Cached mode replays four real captured runs, so the full co-pilot demonstration costs zero API spend. Third, MCP-exposed tools — the same six capabilities available to Claude Desktop by direct engine import. The band at the bottom is the finding the whole thing produces: of fifty vendors, forty are OFAC-exposed; a fair name-screen catches thirty-three; four are hidden behind ownership, invisible to any name-screen; three are lost to name variation. Those four red ones are the headline, and you'll watch the system surface them live in a moment. Every file reference on this slide is a clickable link to the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you through the actual product, running locally. [Open localhost:8000/ui/] This is the investigations dashboard. I'll open the Q1 2026 Vendor Onboarding case — Meridian's quarterly screening batch, fifty counterparties. The first thing on the Compare surface is the Run Composition line — fifty in, forty-nine resolved, forty-five sanctioned by some regime, forty exposed to OFAC. I'll expand it: the tree shows how those nest, and the funnel below is the OFAC subset. The headline: a fair, transliteration-aware name screen catches thirty-three of the forty; it misses seven — three to name variation, and four that are not on the SDN at all, blocked under OFAC's fifty-percent rule because a sanctioned party owns them. Sayari catches all forty. [Click MiG Corporation] MiG's name isn't on the SDN, so a name screen finds nothing — but Sayari shows it sanctioned across multiple regimes, and the ownership graph traces it to United Aircraft Corporation, which IS on the SDN and owns nearly seventy-five percent. Same vendor: name-screen says clean, Sayari finds a controlling sanctioned parent. Every value is clickable down to the raw cached Sayari response. Finally [Co-Pilot] the grounded agent answers the same question conversationally — every step cites a cache file, and it can't fabricate, because the typed tools are its only data source.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A React frontend served as static files — deliberately Babel-standalone with no build step. A FastAPI service that is the spine: it exposes the typed tools as HTTP endpoints, streams Server-Sent Events, holds the in-memory OFAC matcher, runs the agent loop, and manages an in-memory credential store. Below that, an importable pure-Python engine for resolution, profile extraction, and caching. The MCP server imports that same engine directly, so Claude Desktop and the browser share one source of truth. External calls go to the Sayari SDK, a local OFAC feed of seventeen thousand rows, and Anthropic. Persistence is file-first — every artifact is a JSON file you can open and grep — with an optional six-table Postgres path the code falls back from. The thing that ties it together is the CitedResult envelope: every tool returns data plus its source, which is what makes the whole UI auditable.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decisions to defend, because how I made them matters more than what they are. First: no LLM in the data path. The engine produces every number; the agent can only call typed tools that return cited results. I considered RAG and rejected it — embedding JSON destroys the field structure that makes citations possible. For a compliance customer, trust has to be structural, not prompt-engineered. Second: the OFAC baseline. My early matcher was ASCII-only and inadvertently flattered Sayari. I rebuilt it with unidecode transliteration, scored at the same threshold. That moved Sayari's comparison number from forty-one down to thirty-three — and the argument still wins, because the ownership gap is real regardless of baseline quality. Steelmanning the thing you compare against is the honest move. Third: pinned entity IDs. Sayari's default resolution returned a degree-780 back-office LLC for Sberbank instead of the real parent. I pinned four marquee entities to verified IDs, each with a comment explaining the evidence and how to re-verify. Every reference here is clickable.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deployment. The take-home ships as Docker Compose: one command, runs locally. That's the on-ramp, not the destination. For a FINMA-regulated commodities firm, my default is customer-deployed containers in their own cloud tenant. Their counterparty data is subject to Swiss banking secrecy and GDPR — they need data residency. Customer-deployed means their existing SOC 2 controls extend to the platform, and their DR procedures already cover it. The trade-off is that Sayari has to ship templates, runbooks, and an upgrade path — that's FDE work. I considered multi-tenant SaaS, a Sayari-managed tenant, and a hybrid split, and I list the trade-offs. But I'd want to learn Sayari's existing playbook before committing. If you have a different default for financial services, I'd defer to it. This is my reasoning from first principles.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to close on. First, what I deferred — being honest about it. Real identity-provider integration is stubbed; the demo login is a localStorage gate. Production Postgres is designed but the default is file storage. Some marquee entities are served from cached real runs rather than live calls on every load. Prompt-injection guards are a hardening pass. And there's no automated CI; I relied on type discipline and per-commit curl and behavioral verification. Each was a deliberate choice to spend the time on the engine, the observability, and the architecture rather than on hardening that's mostly mechanical. Second, what I'd build next. Meridian's real workflow is quarterly two-thousand-vendor batches — bulk mode with parallel agentic execution. Webhook subscriptions so the customer's compliance system knows when Sayari's graph changes. Customer-configurable risk policies with versioning. And procurement integration — Ariba, Coupa — to embed screening where compliance officers already live. That last one is the FDE pattern: meet customers in the tools they already use.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observability comes up, this is the slide. The universal contract is the CitedResult envelope: every tool returns data plus a source — entity URL, field path, cache file, API endpoint. Nothing renders without that provenance. The streaming layer is Server-Sent Events with distinct event types for agent reasoning, tool calls, and upload rows. The UI matches with three-tier disclosure — a compact row, an expansion showing each API call, and a full payload panel with clickable links to the raw cached JSON. That's what lets an auditor answer 'why did the system flag this entity' weeks later.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for Alec especially, who made the same career jump I'm making. Three layers. Claude as a thinking partner — architecture, scope, ADR drafting, and pushing back when I over-scoped. Claude Code as the execution engine — locked-scope prompts shipped as focused commits, file-and-line cited in each, and it ran the app and curl-verified each change in-session. It caught its own regressions: a React hooks-order bug that silently blanked a component, a blank-row miscount in the parser, a d3 coordinate bug in the graph. And me as the verification and judgment layer — I walked the running app after every change and made the product calls. What I learned is that AI output is only as good as the verification gate above it. The discipline isn't 'use AI to go faster' — it's 'design the gates so AI output earns trust.' Scale a team this way and you move engineers up to the judgment layer. That's the FDE pattern at scale.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stack, four columns. Two things worth flagging. First, the frontend is React rendered by Babel-standalone in the browser with no build step — every JSX file is readable as text and runs as-is. The design tokens live as CSS variables, not a framework config. Second, the data layer defaults to file-based caching for inspectability, with an optional six-table Postgres path the code falls back from. The OFAC feed is seventeen thousand rows in memory, and PDF briefings use WeasyPrint with an HTML fallback.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model is file-first. The optional Postgres schema on the left has six tables — OFAC data, entity cache, screening runs, investigations, per-entity results, and dispositions — with pg_trgm fuzzy matching. But the actual default, on the right, is the file cache under output: a hundred cached entity profiles, sixty-six ownership graphs, the pinned demo run, and four captured co-pilot streams — all real Sayari responses, committed so the demo reproduces on any clone with zero credentials. For a proof of concept, file-first is the right call: every artifact is inspectable with cat or grep, which matters when your whole pitch is 'trace every finding to its source.'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where I'd expect probing. Credentials live in an in-memory store, never written to disk or browser, cleared on restart, and the store takes priority over environment variables so an in-app entry overrides .env without a restart. Secrets: .env is gitignored, and I ran a full git-history scan to confirm no credential was ever committed. The deepest property is data provenance: every value cites its cache file, and the agent's only data source is the typed tools, so it's structurally incapable of fabricating. The honest gaps: real identity-provider integration, explicit prompt-injection guards, and per-route rate limiting and audit logging.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to dig into the code, these are the files I'd start with — and every file name on this slide is a clickable link straight to it on GitHub. On the frontend: the index.html Babel loader, the hash router, and the four surfaces. On the backend: the FastAPI main, the profile extractor, the resolver with the pinned IDs, the compare reconciliation, the cache-first traversal, the briefing generator, the agent loop, and the MCP server.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the time. The full deck, the ADRs, and the one-page leave-behind are all in the repo under docs/walkthrough — the links here are clickable. The whole thing runs with one command, so anyone on your team can reproduce what you saw today. I'd love a deeper session: architecture, a code walkthrough, or a whiteboard on a scaling problem. Looking forward to the next conversation.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pnemrow/meridian-sentinel"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pnemrow/meridian-sentinel/blob/master/packages/engine/profile.py#L26-L118" TargetMode="External"/><Relationship Id="rId3" Type="http://schemas.openxmlformats.org/officeDocument/2006/relationships/hyperlink" Target="https://github.com/pnemrow/meridian-sentinel/blob/master/services/api/agent/runner.py" TargetMode="External"/><Relationship Id="rId4" Type="http://schemas.openxmlformats.org/officeDocument/2006/relationships/hyperlink" Target="https://github.com/pnemrow/meridian-sentinel/blob/master/services/mcp/server.py#L305-L333" TargetMode="Externa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pnemrow/meridian-sentinel/blob/master/packages/engine/profile.py#L26-L118" TargetMode="External"/><Relationship Id="rId3" Type="http://schemas.openxmlformats.org/officeDocument/2006/relationships/hyperlink" Target="https://github.com/pnemrow/meridian-sentinel/blob/master/services/api/agent/runner.py" TargetMode="External"/><Relationship Id="rId4" Type="http://schemas.openxmlformats.org/officeDocument/2006/relationships/hyperlink" Target="https://github.com/pnemrow/meridian-sentinel/blob/master/services/api/ofac/matcher.py#L76-L102" TargetMode="External"/><Relationship Id="rId5" Type="http://schemas.openxmlformats.org/officeDocument/2006/relationships/hyperlink" Target="https://github.com/pnemrow/meridian-sentinel/blob/master/services/api/tools/screen_ofac.py#L37-L98" TargetMode="External"/><Relationship Id="rId6" Type="http://schemas.openxmlformats.org/officeDocument/2006/relationships/hyperlink" Target="https://github.com/pnemrow/meridian-sentinel/blob/master/packages/engine/resolve.py#L15-L34" TargetMode="Externa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pnemrow/meridian-sentinel/blob/master/services/api/tools/compare_ofac_vs_sayari.py" TargetMode="External"/><Relationship Id="rId3" Type="http://schemas.openxmlformats.org/officeDocument/2006/relationships/hyperlink" Target="https://github.com/pnemrow/meridian-sentinel/blob/master/services/api/routers/uploads.py#L550-L610" TargetMode="External"/><Relationship Id="rId4" Type="http://schemas.openxmlformats.org/officeDocument/2006/relationships/hyperlink" Target="https://github.com/pnemrow/meridian-sentinel/blob/master/design-prototype/surfaces/upload.jsx" TargetMode="Externa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pnemrow/meridian-sentinel/blob/master/services/api/credentials.py#L1-L68" TargetMode="External"/><Relationship Id="rId3" Type="http://schemas.openxmlformats.org/officeDocument/2006/relationships/hyperlink" Target="https://github.com/pnemrow/meridian-sentinel/blob/master/packages/engine/client.py#L17-L23" TargetMode="External"/><Relationship Id="rId4" Type="http://schemas.openxmlformats.org/officeDocument/2006/relationships/hyperlink" Target="https://github.com/pnemrow/meridian-sentinel/blob/master/services/api/agent/runner.py#L131-L133" TargetMode="Externa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pnemrow/meridian-sentinel/blob/master/design-prototype/index.html" TargetMode="External"/><Relationship Id="rId3" Type="http://schemas.openxmlformats.org/officeDocument/2006/relationships/hyperlink" Target="https://github.com/pnemrow/meridian-sentinel/blob/master/design-prototype/app.jsx" TargetMode="External"/><Relationship Id="rId4" Type="http://schemas.openxmlformats.org/officeDocument/2006/relationships/hyperlink" Target="https://github.com/pnemrow/meridian-sentinel/blob/master/design-prototype/surfaces/compare.jsx" TargetMode="External"/><Relationship Id="rId5" Type="http://schemas.openxmlformats.org/officeDocument/2006/relationships/hyperlink" Target="https://github.com/pnemrow/meridian-sentinel/blob/master/design-prototype/surfaces/entity.jsx" TargetMode="External"/><Relationship Id="rId6" Type="http://schemas.openxmlformats.org/officeDocument/2006/relationships/hyperlink" Target="https://github.com/pnemrow/meridian-sentinel/blob/master/design-prototype/surfaces/upload.jsx" TargetMode="External"/><Relationship Id="rId7" Type="http://schemas.openxmlformats.org/officeDocument/2006/relationships/hyperlink" Target="https://github.com/pnemrow/meridian-sentinel/blob/master/design-prototype/surfaces/copilot.jsx" TargetMode="External"/><Relationship Id="rId8" Type="http://schemas.openxmlformats.org/officeDocument/2006/relationships/hyperlink" Target="https://github.com/pnemrow/meridian-sentinel/blob/master/design-prototype/components/primitives.jsx" TargetMode="External"/><Relationship Id="rId9" Type="http://schemas.openxmlformats.org/officeDocument/2006/relationships/hyperlink" Target="https://github.com/pnemrow/meridian-sentinel/blob/master/services/api/main.py" TargetMode="External"/><Relationship Id="rId10" Type="http://schemas.openxmlformats.org/officeDocument/2006/relationships/hyperlink" Target="https://github.com/pnemrow/meridian-sentinel/blob/master/packages/engine/profile.py" TargetMode="External"/><Relationship Id="rId11" Type="http://schemas.openxmlformats.org/officeDocument/2006/relationships/hyperlink" Target="https://github.com/pnemrow/meridian-sentinel/blob/master/packages/engine/resolve.py" TargetMode="External"/><Relationship Id="rId12" Type="http://schemas.openxmlformats.org/officeDocument/2006/relationships/hyperlink" Target="https://github.com/pnemrow/meridian-sentinel/blob/master/services/api/tools/compare_ofac_vs_sayari.py" TargetMode="External"/><Relationship Id="rId13" Type="http://schemas.openxmlformats.org/officeDocument/2006/relationships/hyperlink" Target="https://github.com/pnemrow/meridian-sentinel/blob/master/services/api/tools/traverse_ownership.py" TargetMode="External"/><Relationship Id="rId14" Type="http://schemas.openxmlformats.org/officeDocument/2006/relationships/hyperlink" Target="https://github.com/pnemrow/meridian-sentinel/blob/master/services/api/tools/generate_briefing.py" TargetMode="External"/><Relationship Id="rId15" Type="http://schemas.openxmlformats.org/officeDocument/2006/relationships/hyperlink" Target="https://github.com/pnemrow/meridian-sentinel/blob/master/services/api/agent/runner.py" TargetMode="External"/><Relationship Id="rId16" Type="http://schemas.openxmlformats.org/officeDocument/2006/relationships/hyperlink" Target="https://github.com/pnemrow/meridian-sentinel/blob/master/services/mcp/server.py" TargetMode="External"/><Relationship Id="rId17" Type="http://schemas.openxmlformats.org/officeDocument/2006/relationships/hyperlink" Target="https://github.com/pnemrow/meridian-sentinel" TargetMode="External"/><Relationship Id="rId1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pnemrow/meridian-sentinel/tree/master/docs/walkthrough" TargetMode="External"/><Relationship Id="rId3" Type="http://schemas.openxmlformats.org/officeDocument/2006/relationships/hyperlink" Target="https://github.com/pnemrow/meridian-sentinel" TargetMode="External"/><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286000"/>
            <a:ext cx="10424160" cy="1280160"/>
          </a:xfrm>
          <a:prstGeom prst="rect">
            <a:avLst/>
          </a:prstGeom>
          <a:noFill/>
        </p:spPr>
        <p:txBody>
          <a:bodyPr wrap="square" anchor="t" lIns="0" rIns="0" tIns="0" bIns="0">
            <a:spAutoFit/>
          </a:bodyPr>
          <a:lstStyle/>
          <a:p>
            <a:pPr algn="l">
              <a:lnSpc>
                <a:spcPct val="100000"/>
              </a:lnSpc>
              <a:spcBef>
                <a:spcPts val="0"/>
              </a:spcBef>
              <a:spcAft>
                <a:spcPts val="0"/>
              </a:spcAft>
            </a:pPr>
            <a:r>
              <a:rPr sz="6400" b="0" i="0">
                <a:solidFill>
                  <a:srgbClr val="F0F4F8"/>
                </a:solidFill>
                <a:latin typeface="Cormorant Garamond"/>
              </a:rPr>
              <a:t>Meridian </a:t>
            </a:r>
            <a:r>
              <a:rPr sz="6400" b="0" i="0">
                <a:solidFill>
                  <a:srgbClr val="8A7440"/>
                </a:solidFill>
                <a:latin typeface="Cormorant Garamond"/>
              </a:rPr>
              <a:t>— </a:t>
            </a:r>
            <a:r>
              <a:rPr sz="6400" b="0" i="1">
                <a:solidFill>
                  <a:srgbClr val="C9A961"/>
                </a:solidFill>
                <a:latin typeface="Cormorant Garamond"/>
              </a:rPr>
              <a:t>Sentinel</a:t>
            </a:r>
          </a:p>
        </p:txBody>
      </p:sp>
      <p:sp>
        <p:nvSpPr>
          <p:cNvPr id="4" name="TextBox 3"/>
          <p:cNvSpPr txBox="1"/>
          <p:nvPr/>
        </p:nvSpPr>
        <p:spPr>
          <a:xfrm>
            <a:off x="868680" y="3410712"/>
            <a:ext cx="10424160" cy="457200"/>
          </a:xfrm>
          <a:prstGeom prst="rect">
            <a:avLst/>
          </a:prstGeom>
          <a:noFill/>
        </p:spPr>
        <p:txBody>
          <a:bodyPr wrap="square" anchor="t" lIns="0" rIns="0" tIns="0" bIns="0">
            <a:spAutoFit/>
          </a:bodyPr>
          <a:lstStyle/>
          <a:p>
            <a:pPr algn="l">
              <a:lnSpc>
                <a:spcPct val="112000"/>
              </a:lnSpc>
              <a:spcBef>
                <a:spcPts val="0"/>
              </a:spcBef>
              <a:spcAft>
                <a:spcPts val="0"/>
              </a:spcAft>
            </a:pPr>
            <a:r>
              <a:rPr sz="1400" b="1" i="0" spc="260">
                <a:solidFill>
                  <a:srgbClr val="C9A961"/>
                </a:solidFill>
                <a:latin typeface="Inter"/>
              </a:rPr>
              <a:t>COUNTERPARTY INTELLIGENCE FOR COMMODITIES COMPLIANCE</a:t>
            </a:r>
          </a:p>
        </p:txBody>
      </p:sp>
      <p:sp>
        <p:nvSpPr>
          <p:cNvPr id="5" name="TextBox 4"/>
          <p:cNvSpPr txBox="1"/>
          <p:nvPr/>
        </p:nvSpPr>
        <p:spPr>
          <a:xfrm>
            <a:off x="868680" y="4114800"/>
            <a:ext cx="10424160" cy="914400"/>
          </a:xfrm>
          <a:prstGeom prst="rect">
            <a:avLst/>
          </a:prstGeom>
          <a:noFill/>
        </p:spPr>
        <p:txBody>
          <a:bodyPr wrap="square" anchor="t" lIns="0" rIns="0" tIns="0" bIns="0">
            <a:spAutoFit/>
          </a:bodyPr>
          <a:lstStyle/>
          <a:p>
            <a:pPr algn="l">
              <a:lnSpc>
                <a:spcPct val="112000"/>
              </a:lnSpc>
              <a:spcBef>
                <a:spcPts val="0"/>
              </a:spcBef>
              <a:spcAft>
                <a:spcPts val="300"/>
              </a:spcAft>
            </a:pPr>
            <a:r>
              <a:rPr sz="1500" b="0" i="0">
                <a:solidFill>
                  <a:srgbClr val="F0F4F8"/>
                </a:solidFill>
                <a:latin typeface="Inter"/>
              </a:rPr>
              <a:t>Peter Nemrow</a:t>
            </a:r>
          </a:p>
          <a:p>
            <a:pPr algn="l">
              <a:lnSpc>
                <a:spcPct val="112000"/>
              </a:lnSpc>
              <a:spcBef>
                <a:spcPts val="0"/>
              </a:spcBef>
              <a:spcAft>
                <a:spcPts val="300"/>
              </a:spcAft>
            </a:pPr>
            <a:r>
              <a:rPr sz="1300" b="0" i="0">
                <a:solidFill>
                  <a:srgbClr val="94A3B8"/>
                </a:solidFill>
                <a:latin typeface="Inter"/>
              </a:rPr>
              <a:t>Sayari  ·  Forward Deployed Engineer  ·  Take-Home Review</a:t>
            </a:r>
          </a:p>
          <a:p>
            <a:pPr algn="l">
              <a:lnSpc>
                <a:spcPct val="112000"/>
              </a:lnSpc>
              <a:spcBef>
                <a:spcPts val="0"/>
              </a:spcBef>
              <a:spcAft>
                <a:spcPts val="400"/>
              </a:spcAft>
            </a:pPr>
            <a:r>
              <a:rPr sz="1300" b="0" i="0">
                <a:solidFill>
                  <a:srgbClr val="94A3B8"/>
                </a:solidFill>
                <a:latin typeface="Inter"/>
              </a:rPr>
              <a:t>June 2026</a:t>
            </a:r>
          </a:p>
        </p:txBody>
      </p:sp>
      <p:cxnSp>
        <p:nvCxnSpPr>
          <p:cNvPr id="6" name="Connector 5"/>
          <p:cNvCxnSpPr/>
          <p:nvPr/>
        </p:nvCxnSpPr>
        <p:spPr>
          <a:xfrm flipV="1">
            <a:off x="8951976" y="4242816"/>
            <a:ext cx="1280160" cy="457200"/>
          </a:xfrm>
          <a:prstGeom prst="line">
            <a:avLst/>
          </a:prstGeom>
          <a:ln w="12700">
            <a:solidFill>
              <a:srgbClr val="1F2A4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951976" y="4700016"/>
            <a:ext cx="1005839" cy="1005840"/>
          </a:xfrm>
          <a:prstGeom prst="line">
            <a:avLst/>
          </a:prstGeom>
          <a:ln w="12700">
            <a:solidFill>
              <a:srgbClr val="1F2A4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232136" y="4242816"/>
            <a:ext cx="1005840" cy="640080"/>
          </a:xfrm>
          <a:prstGeom prst="line">
            <a:avLst/>
          </a:prstGeom>
          <a:ln w="12700">
            <a:solidFill>
              <a:srgbClr val="1F2A4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957815" y="5705856"/>
            <a:ext cx="1463040" cy="182880"/>
          </a:xfrm>
          <a:prstGeom prst="line">
            <a:avLst/>
          </a:prstGeom>
          <a:ln w="12700">
            <a:solidFill>
              <a:srgbClr val="1F2A4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237976" y="4882896"/>
            <a:ext cx="182879" cy="1005840"/>
          </a:xfrm>
          <a:prstGeom prst="line">
            <a:avLst/>
          </a:prstGeom>
          <a:ln w="12700">
            <a:solidFill>
              <a:srgbClr val="1F2A40"/>
            </a:solidFill>
          </a:ln>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8869680" y="4617720"/>
            <a:ext cx="164592" cy="164592"/>
          </a:xfrm>
          <a:prstGeom prst="ellipse">
            <a:avLst/>
          </a:prstGeom>
          <a:solidFill>
            <a:srgbClr val="8A7440"/>
          </a:solidFill>
          <a:ln w="12700">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149840" y="4160520"/>
            <a:ext cx="164592" cy="164592"/>
          </a:xfrm>
          <a:prstGeom prst="ellipse">
            <a:avLst/>
          </a:prstGeom>
          <a:solidFill>
            <a:srgbClr val="0A1628"/>
          </a:solidFill>
          <a:ln w="12700">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155680" y="4800600"/>
            <a:ext cx="164592" cy="164592"/>
          </a:xfrm>
          <a:prstGeom prst="ellipse">
            <a:avLst/>
          </a:prstGeom>
          <a:solidFill>
            <a:srgbClr val="8A7440"/>
          </a:solidFill>
          <a:ln w="12700">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875519" y="5623560"/>
            <a:ext cx="164592" cy="164592"/>
          </a:xfrm>
          <a:prstGeom prst="ellipse">
            <a:avLst/>
          </a:prstGeom>
          <a:solidFill>
            <a:srgbClr val="0A1628"/>
          </a:solidFill>
          <a:ln w="12700">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338559" y="5806440"/>
            <a:ext cx="164592" cy="164592"/>
          </a:xfrm>
          <a:prstGeom prst="ellipse">
            <a:avLst/>
          </a:prstGeom>
          <a:solidFill>
            <a:srgbClr val="0A1628"/>
          </a:solidFill>
          <a:ln w="12700">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6053328"/>
            <a:ext cx="10424160" cy="548640"/>
          </a:xfrm>
          <a:prstGeom prst="rect">
            <a:avLst/>
          </a:prstGeom>
          <a:noFill/>
        </p:spPr>
        <p:txBody>
          <a:bodyPr wrap="square" anchor="t" lIns="0" rIns="0" tIns="0" bIns="0">
            <a:spAutoFit/>
          </a:bodyPr>
          <a:lstStyle/>
          <a:p>
            <a:pPr algn="l">
              <a:lnSpc>
                <a:spcPct val="112000"/>
              </a:lnSpc>
              <a:spcBef>
                <a:spcPts val="0"/>
              </a:spcBef>
              <a:spcAft>
                <a:spcPts val="200"/>
              </a:spcAft>
            </a:pPr>
            <a:r>
              <a:rPr sz="1000" b="0" i="0">
                <a:solidFill>
                  <a:srgbClr val="8A7440"/>
                </a:solidFill>
                <a:latin typeface="JetBrains Mono"/>
                <a:hlinkClick r:id="rId2"/>
              </a:rPr>
              <a:t>github.com/pnemrow/meridian-sentinel</a:t>
            </a:r>
          </a:p>
          <a:p>
            <a:pPr algn="l">
              <a:lnSpc>
                <a:spcPct val="112000"/>
              </a:lnSpc>
              <a:spcBef>
                <a:spcPts val="0"/>
              </a:spcBef>
              <a:spcAft>
                <a:spcPts val="400"/>
              </a:spcAft>
            </a:pPr>
            <a:r>
              <a:rPr sz="1000" b="0" i="0">
                <a:solidFill>
                  <a:srgbClr val="64748B"/>
                </a:solidFill>
                <a:latin typeface="Inter"/>
              </a:rPr>
              <a:t>Powered by the Sayari API  ·  Anthropic Claude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0"/>
              </a:spcAft>
            </a:pPr>
            <a:r>
              <a:rPr sz="1250" b="1" i="0" spc="220">
                <a:solidFill>
                  <a:srgbClr val="94A3B8"/>
                </a:solidFill>
                <a:latin typeface="Inter"/>
              </a:rPr>
              <a:t>THE CUSTOMER — AND WHY THIS IS SAYARI'S WEDGE</a:t>
            </a:r>
          </a:p>
        </p:txBody>
      </p:sp>
      <p:sp>
        <p:nvSpPr>
          <p:cNvPr id="3" name="TextBox 2"/>
          <p:cNvSpPr txBox="1"/>
          <p:nvPr/>
        </p:nvSpPr>
        <p:spPr>
          <a:xfrm>
            <a:off x="777240" y="932688"/>
            <a:ext cx="10607040" cy="914400"/>
          </a:xfrm>
          <a:prstGeom prst="rect">
            <a:avLst/>
          </a:prstGeom>
          <a:noFill/>
        </p:spPr>
        <p:txBody>
          <a:bodyPr wrap="square" anchor="t" lIns="0" rIns="0" tIns="0" bIns="0">
            <a:spAutoFit/>
          </a:bodyPr>
          <a:lstStyle/>
          <a:p>
            <a:pPr algn="l">
              <a:lnSpc>
                <a:spcPct val="100000"/>
              </a:lnSpc>
              <a:spcBef>
                <a:spcPts val="0"/>
              </a:spcBef>
              <a:spcAft>
                <a:spcPts val="0"/>
              </a:spcAft>
            </a:pPr>
            <a:r>
              <a:rPr sz="4000" b="0" i="0">
                <a:solidFill>
                  <a:srgbClr val="F0F4F8"/>
                </a:solidFill>
                <a:latin typeface="Cormorant Garamond"/>
              </a:rPr>
              <a:t>Meridian Energy Trading SA</a:t>
            </a:r>
          </a:p>
        </p:txBody>
      </p:sp>
      <p:sp>
        <p:nvSpPr>
          <p:cNvPr id="4" name="TextBox 3"/>
          <p:cNvSpPr txBox="1"/>
          <p:nvPr/>
        </p:nvSpPr>
        <p:spPr>
          <a:xfrm>
            <a:off x="777240" y="1700784"/>
            <a:ext cx="10607040" cy="365760"/>
          </a:xfrm>
          <a:prstGeom prst="rect">
            <a:avLst/>
          </a:prstGeom>
          <a:noFill/>
        </p:spPr>
        <p:txBody>
          <a:bodyPr wrap="square" anchor="t" lIns="0" rIns="0" tIns="0" bIns="0">
            <a:spAutoFit/>
          </a:bodyPr>
          <a:lstStyle/>
          <a:p>
            <a:pPr algn="l">
              <a:lnSpc>
                <a:spcPct val="112000"/>
              </a:lnSpc>
              <a:spcBef>
                <a:spcPts val="0"/>
              </a:spcBef>
              <a:spcAft>
                <a:spcPts val="0"/>
              </a:spcAft>
            </a:pPr>
            <a:r>
              <a:rPr sz="1250" b="1" i="0" spc="180">
                <a:solidFill>
                  <a:srgbClr val="C9A961"/>
                </a:solidFill>
                <a:latin typeface="Inter"/>
              </a:rPr>
              <a:t>GENEVA  ·  COMMODITIES  ·  $22B AUM  ·  FINMA-REGULATED</a:t>
            </a:r>
          </a:p>
        </p:txBody>
      </p:sp>
      <p:sp>
        <p:nvSpPr>
          <p:cNvPr id="5" name="Rectangle 4"/>
          <p:cNvSpPr/>
          <p:nvPr/>
        </p:nvSpPr>
        <p:spPr>
          <a:xfrm>
            <a:off x="777240" y="2212848"/>
            <a:ext cx="10607040" cy="11887"/>
          </a:xfrm>
          <a:prstGeom prst="rect">
            <a:avLst/>
          </a:prstGeom>
          <a:solidFill>
            <a:srgbClr val="2A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2487168"/>
            <a:ext cx="3419856" cy="3611880"/>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87168"/>
            <a:ext cx="54864" cy="3611880"/>
          </a:xfrm>
          <a:prstGeom prst="rect">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1" y="2724912"/>
            <a:ext cx="2962656" cy="3200400"/>
          </a:xfrm>
          <a:prstGeom prst="rect">
            <a:avLst/>
          </a:prstGeom>
          <a:noFill/>
        </p:spPr>
        <p:txBody>
          <a:bodyPr wrap="square" anchor="t" lIns="0" rIns="0" tIns="0" bIns="0">
            <a:spAutoFit/>
          </a:bodyPr>
          <a:lstStyle/>
          <a:p>
            <a:pPr algn="l">
              <a:lnSpc>
                <a:spcPct val="112000"/>
              </a:lnSpc>
              <a:spcBef>
                <a:spcPts val="0"/>
              </a:spcBef>
              <a:spcAft>
                <a:spcPts val="1000"/>
              </a:spcAft>
            </a:pPr>
            <a:r>
              <a:rPr sz="2000" b="0" i="0">
                <a:solidFill>
                  <a:srgbClr val="F0F4F8"/>
                </a:solidFill>
                <a:latin typeface="Cormorant Garamond"/>
              </a:rPr>
              <a:t>The business</a:t>
            </a:r>
          </a:p>
          <a:p>
            <a:pPr algn="l">
              <a:lnSpc>
                <a:spcPct val="112000"/>
              </a:lnSpc>
              <a:spcBef>
                <a:spcPts val="0"/>
              </a:spcBef>
              <a:spcAft>
                <a:spcPts val="800"/>
              </a:spcAft>
            </a:pPr>
            <a:r>
              <a:rPr sz="1200" b="0" i="0">
                <a:solidFill>
                  <a:srgbClr val="C9A961"/>
                </a:solidFill>
                <a:latin typeface="Inter"/>
              </a:rPr>
              <a:t>—  </a:t>
            </a:r>
            <a:r>
              <a:rPr sz="1200" b="0" i="0">
                <a:solidFill>
                  <a:srgbClr val="94A3B8"/>
                </a:solidFill>
                <a:latin typeface="Inter"/>
              </a:rPr>
              <a:t>Crude oil, LNG, refined products, base metals</a:t>
            </a:r>
          </a:p>
          <a:p>
            <a:pPr algn="l">
              <a:lnSpc>
                <a:spcPct val="112000"/>
              </a:lnSpc>
              <a:spcBef>
                <a:spcPts val="0"/>
              </a:spcBef>
              <a:spcAft>
                <a:spcPts val="800"/>
              </a:spcAft>
            </a:pPr>
            <a:r>
              <a:rPr sz="1200" b="0" i="0">
                <a:solidFill>
                  <a:srgbClr val="C9A961"/>
                </a:solidFill>
                <a:latin typeface="Inter"/>
              </a:rPr>
              <a:t>—  </a:t>
            </a:r>
            <a:r>
              <a:rPr sz="1200" b="0" i="0">
                <a:solidFill>
                  <a:srgbClr val="94A3B8"/>
                </a:solidFill>
                <a:latin typeface="Inter"/>
              </a:rPr>
              <a:t>2,000+ counterparties globally</a:t>
            </a:r>
          </a:p>
          <a:p>
            <a:pPr algn="l">
              <a:lnSpc>
                <a:spcPct val="112000"/>
              </a:lnSpc>
              <a:spcBef>
                <a:spcPts val="0"/>
              </a:spcBef>
              <a:spcAft>
                <a:spcPts val="800"/>
              </a:spcAft>
            </a:pPr>
            <a:r>
              <a:rPr sz="1200" b="0" i="0">
                <a:solidFill>
                  <a:srgbClr val="C9A961"/>
                </a:solidFill>
                <a:latin typeface="Inter"/>
              </a:rPr>
              <a:t>—  </a:t>
            </a:r>
            <a:r>
              <a:rPr sz="1200" b="0" i="0">
                <a:solidFill>
                  <a:srgbClr val="94A3B8"/>
                </a:solidFill>
                <a:latin typeface="Inter"/>
              </a:rPr>
              <a:t>Cross-jurisdictional ownership chains are routine</a:t>
            </a:r>
          </a:p>
          <a:p>
            <a:pPr algn="l">
              <a:lnSpc>
                <a:spcPct val="112000"/>
              </a:lnSpc>
              <a:spcBef>
                <a:spcPts val="0"/>
              </a:spcBef>
              <a:spcAft>
                <a:spcPts val="800"/>
              </a:spcAft>
            </a:pPr>
            <a:r>
              <a:rPr sz="1200" b="0" i="0">
                <a:solidFill>
                  <a:srgbClr val="C9A961"/>
                </a:solidFill>
                <a:latin typeface="Inter"/>
              </a:rPr>
              <a:t>—  </a:t>
            </a:r>
            <a:r>
              <a:rPr sz="1200" b="0" i="0">
                <a:solidFill>
                  <a:srgbClr val="94A3B8"/>
                </a:solidFill>
                <a:latin typeface="Inter"/>
              </a:rPr>
              <a:t>Daily settlement against sanctioned-state-adjacent trades</a:t>
            </a:r>
          </a:p>
        </p:txBody>
      </p:sp>
      <p:sp>
        <p:nvSpPr>
          <p:cNvPr id="9" name="Rounded Rectangle 8"/>
          <p:cNvSpPr/>
          <p:nvPr/>
        </p:nvSpPr>
        <p:spPr>
          <a:xfrm>
            <a:off x="4453128" y="2487168"/>
            <a:ext cx="3419856" cy="3611880"/>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53128" y="2487168"/>
            <a:ext cx="54864" cy="3611880"/>
          </a:xfrm>
          <a:prstGeom prst="rect">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9160" y="2724912"/>
            <a:ext cx="2962656" cy="3200400"/>
          </a:xfrm>
          <a:prstGeom prst="rect">
            <a:avLst/>
          </a:prstGeom>
          <a:noFill/>
        </p:spPr>
        <p:txBody>
          <a:bodyPr wrap="square" anchor="t" lIns="0" rIns="0" tIns="0" bIns="0">
            <a:spAutoFit/>
          </a:bodyPr>
          <a:lstStyle/>
          <a:p>
            <a:pPr algn="l">
              <a:lnSpc>
                <a:spcPct val="112000"/>
              </a:lnSpc>
              <a:spcBef>
                <a:spcPts val="0"/>
              </a:spcBef>
              <a:spcAft>
                <a:spcPts val="1000"/>
              </a:spcAft>
            </a:pPr>
            <a:r>
              <a:rPr sz="2000" b="0" i="0">
                <a:solidFill>
                  <a:srgbClr val="F0F4F8"/>
                </a:solidFill>
                <a:latin typeface="Cormorant Garamond"/>
              </a:rPr>
              <a:t>The compliance pain</a:t>
            </a:r>
          </a:p>
          <a:p>
            <a:pPr algn="l">
              <a:lnSpc>
                <a:spcPct val="112000"/>
              </a:lnSpc>
              <a:spcBef>
                <a:spcPts val="0"/>
              </a:spcBef>
              <a:spcAft>
                <a:spcPts val="800"/>
              </a:spcAft>
            </a:pPr>
            <a:r>
              <a:rPr sz="1200" b="0" i="0">
                <a:solidFill>
                  <a:srgbClr val="C9A961"/>
                </a:solidFill>
                <a:latin typeface="Inter"/>
              </a:rPr>
              <a:t>—  </a:t>
            </a:r>
            <a:r>
              <a:rPr sz="1200" b="0" i="0">
                <a:solidFill>
                  <a:srgbClr val="94A3B8"/>
                </a:solidFill>
                <a:latin typeface="Inter"/>
              </a:rPr>
              <a:t>OFAC name-match: high false-positive rate</a:t>
            </a:r>
          </a:p>
          <a:p>
            <a:pPr algn="l">
              <a:lnSpc>
                <a:spcPct val="112000"/>
              </a:lnSpc>
              <a:spcBef>
                <a:spcPts val="0"/>
              </a:spcBef>
              <a:spcAft>
                <a:spcPts val="800"/>
              </a:spcAft>
            </a:pPr>
            <a:r>
              <a:rPr sz="1200" b="0" i="0">
                <a:solidFill>
                  <a:srgbClr val="C9A961"/>
                </a:solidFill>
                <a:latin typeface="Inter"/>
              </a:rPr>
              <a:t>—  </a:t>
            </a:r>
            <a:r>
              <a:rPr sz="1200" b="0" i="0">
                <a:solidFill>
                  <a:srgbClr val="94A3B8"/>
                </a:solidFill>
                <a:latin typeface="Inter"/>
              </a:rPr>
              <a:t>Beneficial-owner research: manual, 4–6 hrs per entity</a:t>
            </a:r>
          </a:p>
          <a:p>
            <a:pPr algn="l">
              <a:lnSpc>
                <a:spcPct val="112000"/>
              </a:lnSpc>
              <a:spcBef>
                <a:spcPts val="0"/>
              </a:spcBef>
              <a:spcAft>
                <a:spcPts val="800"/>
              </a:spcAft>
            </a:pPr>
            <a:r>
              <a:rPr sz="1200" b="0" i="0">
                <a:solidFill>
                  <a:srgbClr val="C9A961"/>
                </a:solidFill>
                <a:latin typeface="Inter"/>
              </a:rPr>
              <a:t>—  </a:t>
            </a:r>
            <a:r>
              <a:rPr sz="1200" b="0" i="0">
                <a:solidFill>
                  <a:srgbClr val="94A3B8"/>
                </a:solidFill>
                <a:latin typeface="Inter"/>
              </a:rPr>
              <a:t>FINMA tightening enforcement on beneficial-ownership screening</a:t>
            </a:r>
          </a:p>
          <a:p>
            <a:pPr algn="l">
              <a:lnSpc>
                <a:spcPct val="112000"/>
              </a:lnSpc>
              <a:spcBef>
                <a:spcPts val="0"/>
              </a:spcBef>
              <a:spcAft>
                <a:spcPts val="800"/>
              </a:spcAft>
            </a:pPr>
            <a:r>
              <a:rPr sz="1200" b="0" i="0">
                <a:solidFill>
                  <a:srgbClr val="C9A961"/>
                </a:solidFill>
                <a:latin typeface="Inter"/>
              </a:rPr>
              <a:t>—  </a:t>
            </a:r>
            <a:r>
              <a:rPr sz="1200" b="0" i="0">
                <a:solidFill>
                  <a:srgbClr val="94A3B8"/>
                </a:solidFill>
                <a:latin typeface="Inter"/>
              </a:rPr>
              <a:t>Post-2022 sanctions demand ownership-graph traversal</a:t>
            </a:r>
          </a:p>
        </p:txBody>
      </p:sp>
      <p:sp>
        <p:nvSpPr>
          <p:cNvPr id="12" name="Rounded Rectangle 11"/>
          <p:cNvSpPr/>
          <p:nvPr/>
        </p:nvSpPr>
        <p:spPr>
          <a:xfrm>
            <a:off x="8129016" y="2487168"/>
            <a:ext cx="3419856" cy="3611880"/>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29016" y="2487168"/>
            <a:ext cx="54864" cy="3611880"/>
          </a:xfrm>
          <a:prstGeom prst="rect">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85048" y="2724912"/>
            <a:ext cx="2962656" cy="3200400"/>
          </a:xfrm>
          <a:prstGeom prst="rect">
            <a:avLst/>
          </a:prstGeom>
          <a:noFill/>
        </p:spPr>
        <p:txBody>
          <a:bodyPr wrap="square" anchor="t" lIns="0" rIns="0" tIns="0" bIns="0">
            <a:spAutoFit/>
          </a:bodyPr>
          <a:lstStyle/>
          <a:p>
            <a:pPr algn="l">
              <a:lnSpc>
                <a:spcPct val="112000"/>
              </a:lnSpc>
              <a:spcBef>
                <a:spcPts val="0"/>
              </a:spcBef>
              <a:spcAft>
                <a:spcPts val="1000"/>
              </a:spcAft>
            </a:pPr>
            <a:r>
              <a:rPr sz="2000" b="0" i="0">
                <a:solidFill>
                  <a:srgbClr val="F0F4F8"/>
                </a:solidFill>
                <a:latin typeface="Cormorant Garamond"/>
              </a:rPr>
              <a:t>Why this is Sayari's wedge</a:t>
            </a:r>
          </a:p>
          <a:p>
            <a:pPr algn="l">
              <a:lnSpc>
                <a:spcPct val="112000"/>
              </a:lnSpc>
              <a:spcBef>
                <a:spcPts val="0"/>
              </a:spcBef>
              <a:spcAft>
                <a:spcPts val="800"/>
              </a:spcAft>
            </a:pPr>
            <a:r>
              <a:rPr sz="1200" b="0" i="0">
                <a:solidFill>
                  <a:srgbClr val="C9A961"/>
                </a:solidFill>
                <a:latin typeface="Inter"/>
              </a:rPr>
              <a:t>—  </a:t>
            </a:r>
            <a:r>
              <a:rPr sz="1200" b="0" i="0">
                <a:solidFill>
                  <a:srgbClr val="94A3B8"/>
                </a:solidFill>
                <a:latin typeface="Inter"/>
              </a:rPr>
              <a:t>The pain is ownership-layered exposure — exactly what Sayari's commercial world model resolves</a:t>
            </a:r>
          </a:p>
          <a:p>
            <a:pPr algn="l">
              <a:lnSpc>
                <a:spcPct val="112000"/>
              </a:lnSpc>
              <a:spcBef>
                <a:spcPts val="0"/>
              </a:spcBef>
              <a:spcAft>
                <a:spcPts val="800"/>
              </a:spcAft>
            </a:pPr>
            <a:r>
              <a:rPr sz="1200" b="0" i="0">
                <a:solidFill>
                  <a:srgbClr val="C9A961"/>
                </a:solidFill>
                <a:latin typeface="Inter"/>
              </a:rPr>
              <a:t>—  </a:t>
            </a:r>
            <a:r>
              <a:rPr sz="1200" b="0" i="0">
                <a:solidFill>
                  <a:srgbClr val="94A3B8"/>
                </a:solidFill>
                <a:latin typeface="Inter"/>
              </a:rPr>
              <a:t>I built the application layer that turns the graph into compliance-officer decisions</a:t>
            </a:r>
          </a:p>
          <a:p>
            <a:pPr algn="l">
              <a:lnSpc>
                <a:spcPct val="112000"/>
              </a:lnSpc>
              <a:spcBef>
                <a:spcPts val="0"/>
              </a:spcBef>
              <a:spcAft>
                <a:spcPts val="800"/>
              </a:spcAft>
            </a:pPr>
            <a:r>
              <a:rPr sz="1200" b="0" i="0">
                <a:solidFill>
                  <a:srgbClr val="C9A961"/>
                </a:solidFill>
                <a:latin typeface="Inter"/>
              </a:rPr>
              <a:t>—  </a:t>
            </a:r>
            <a:r>
              <a:rPr sz="1200" b="0" i="0">
                <a:solidFill>
                  <a:srgbClr val="94A3B8"/>
                </a:solidFill>
                <a:latin typeface="Inter"/>
              </a:rPr>
              <a:t>The FDE pattern: a customer-grounded app that feeds the product flywheel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0"/>
              </a:spcAft>
            </a:pPr>
            <a:r>
              <a:rPr sz="1250" b="1" i="0" spc="220">
                <a:solidFill>
                  <a:srgbClr val="94A3B8"/>
                </a:solidFill>
                <a:latin typeface="Inter"/>
              </a:rPr>
              <a:t>WHAT I BUILT</a:t>
            </a:r>
          </a:p>
        </p:txBody>
      </p:sp>
      <p:sp>
        <p:nvSpPr>
          <p:cNvPr id="3" name="TextBox 2"/>
          <p:cNvSpPr txBox="1"/>
          <p:nvPr/>
        </p:nvSpPr>
        <p:spPr>
          <a:xfrm>
            <a:off x="777240" y="932688"/>
            <a:ext cx="10607040" cy="914400"/>
          </a:xfrm>
          <a:prstGeom prst="rect">
            <a:avLst/>
          </a:prstGeom>
          <a:noFill/>
        </p:spPr>
        <p:txBody>
          <a:bodyPr wrap="square" anchor="t" lIns="0" rIns="0" tIns="0" bIns="0">
            <a:spAutoFit/>
          </a:bodyPr>
          <a:lstStyle/>
          <a:p>
            <a:pPr algn="l">
              <a:lnSpc>
                <a:spcPct val="100000"/>
              </a:lnSpc>
              <a:spcBef>
                <a:spcPts val="0"/>
              </a:spcBef>
              <a:spcAft>
                <a:spcPts val="0"/>
              </a:spcAft>
            </a:pPr>
            <a:r>
              <a:rPr sz="4000" b="0" i="0">
                <a:solidFill>
                  <a:srgbClr val="F0F4F8"/>
                </a:solidFill>
                <a:latin typeface="Cormorant Garamond"/>
              </a:rPr>
              <a:t>One platform, </a:t>
            </a:r>
            <a:r>
              <a:rPr sz="4000" b="0" i="1">
                <a:solidFill>
                  <a:srgbClr val="F0F4F8"/>
                </a:solidFill>
                <a:latin typeface="Cormorant Garamond"/>
              </a:rPr>
              <a:t>end to end.</a:t>
            </a:r>
          </a:p>
        </p:txBody>
      </p:sp>
      <p:sp>
        <p:nvSpPr>
          <p:cNvPr id="4" name="Rectangle 3"/>
          <p:cNvSpPr/>
          <p:nvPr/>
        </p:nvSpPr>
        <p:spPr>
          <a:xfrm>
            <a:off x="777240" y="1755648"/>
            <a:ext cx="10607040" cy="11887"/>
          </a:xfrm>
          <a:prstGeom prst="rect">
            <a:avLst/>
          </a:prstGeom>
          <a:solidFill>
            <a:srgbClr val="2A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956816"/>
            <a:ext cx="3419856" cy="2706624"/>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xagon 5"/>
          <p:cNvSpPr/>
          <p:nvPr/>
        </p:nvSpPr>
        <p:spPr>
          <a:xfrm>
            <a:off x="1051560" y="2184867"/>
            <a:ext cx="384048" cy="330281"/>
          </a:xfrm>
          <a:prstGeom prst="hexagon">
            <a:avLst/>
          </a:prstGeom>
          <a:noFill/>
          <a:ln w="19050">
            <a:solidFill>
              <a:srgbClr val="C9A9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93657" y="2273198"/>
            <a:ext cx="99852" cy="99852"/>
          </a:xfrm>
          <a:prstGeom prst="ellipse">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1" y="2670048"/>
            <a:ext cx="2962656" cy="1746504"/>
          </a:xfrm>
          <a:prstGeom prst="rect">
            <a:avLst/>
          </a:prstGeom>
          <a:noFill/>
        </p:spPr>
        <p:txBody>
          <a:bodyPr wrap="square" anchor="t" lIns="0" rIns="0" tIns="0" bIns="0">
            <a:spAutoFit/>
          </a:bodyPr>
          <a:lstStyle/>
          <a:p>
            <a:pPr algn="l">
              <a:lnSpc>
                <a:spcPct val="112000"/>
              </a:lnSpc>
              <a:spcBef>
                <a:spcPts val="0"/>
              </a:spcBef>
              <a:spcAft>
                <a:spcPts val="800"/>
              </a:spcAft>
            </a:pPr>
            <a:r>
              <a:rPr sz="2000" b="0" i="0">
                <a:solidFill>
                  <a:srgbClr val="C9A961"/>
                </a:solidFill>
                <a:latin typeface="Cormorant Garamond"/>
              </a:rPr>
              <a:t>Deterministic engine</a:t>
            </a:r>
          </a:p>
          <a:p>
            <a:pPr algn="l">
              <a:lnSpc>
                <a:spcPct val="112000"/>
              </a:lnSpc>
              <a:spcBef>
                <a:spcPts val="0"/>
              </a:spcBef>
              <a:spcAft>
                <a:spcPts val="700"/>
              </a:spcAft>
            </a:pPr>
            <a:r>
              <a:rPr sz="1150" b="0" i="0">
                <a:solidFill>
                  <a:srgbClr val="8A7440"/>
                </a:solidFill>
                <a:latin typeface="Inter"/>
              </a:rPr>
              <a:t>—  </a:t>
            </a:r>
            <a:r>
              <a:rPr sz="1150" b="0" i="0">
                <a:solidFill>
                  <a:srgbClr val="94A3B8"/>
                </a:solidFill>
                <a:latin typeface="Inter"/>
              </a:rPr>
              <a:t>Resolves vendor name → entity → ownership graph → OFAC screen → briefing</a:t>
            </a:r>
          </a:p>
          <a:p>
            <a:pPr algn="l">
              <a:lnSpc>
                <a:spcPct val="112000"/>
              </a:lnSpc>
              <a:spcBef>
                <a:spcPts val="0"/>
              </a:spcBef>
              <a:spcAft>
                <a:spcPts val="700"/>
              </a:spcAft>
            </a:pPr>
            <a:r>
              <a:rPr sz="1150" b="0" i="0">
                <a:solidFill>
                  <a:srgbClr val="8A7440"/>
                </a:solidFill>
                <a:latin typeface="Inter"/>
              </a:rPr>
              <a:t>—  </a:t>
            </a:r>
            <a:r>
              <a:rPr sz="1150" b="0" i="0">
                <a:solidFill>
                  <a:srgbClr val="94A3B8"/>
                </a:solidFill>
                <a:latin typeface="Inter"/>
              </a:rPr>
              <a:t>No LLM in the data path — every number traces to a Sayari field on disk</a:t>
            </a:r>
          </a:p>
        </p:txBody>
      </p:sp>
      <p:sp>
        <p:nvSpPr>
          <p:cNvPr id="9" name="TextBox 8"/>
          <p:cNvSpPr txBox="1"/>
          <p:nvPr/>
        </p:nvSpPr>
        <p:spPr>
          <a:xfrm>
            <a:off x="1033271" y="4370831"/>
            <a:ext cx="2962656" cy="274320"/>
          </a:xfrm>
          <a:prstGeom prst="rect">
            <a:avLst/>
          </a:prstGeom>
          <a:noFill/>
        </p:spPr>
        <p:txBody>
          <a:bodyPr wrap="square" anchor="t" lIns="0" rIns="0" tIns="0" bIns="0">
            <a:spAutoFit/>
          </a:bodyPr>
          <a:lstStyle/>
          <a:p>
            <a:pPr>
              <a:lnSpc>
                <a:spcPct val="105000"/>
              </a:lnSpc>
              <a:spcAft>
                <a:spcPts val="200"/>
              </a:spcAft>
            </a:pPr>
            <a:r>
              <a:rPr sz="800">
                <a:solidFill>
                  <a:srgbClr val="8A7440"/>
                </a:solidFill>
                <a:latin typeface="JetBrains Mono"/>
                <a:hlinkClick r:id="rId2"/>
              </a:rPr>
              <a:t>packages/engine/profile.py:26-118</a:t>
            </a:r>
          </a:p>
        </p:txBody>
      </p:sp>
      <p:sp>
        <p:nvSpPr>
          <p:cNvPr id="10" name="Rounded Rectangle 9"/>
          <p:cNvSpPr/>
          <p:nvPr/>
        </p:nvSpPr>
        <p:spPr>
          <a:xfrm>
            <a:off x="4453128" y="1956816"/>
            <a:ext cx="3419856" cy="2706624"/>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727448" y="2157984"/>
            <a:ext cx="384048" cy="284195"/>
          </a:xfrm>
          <a:prstGeom prst="roundRect">
            <a:avLst>
              <a:gd name="adj" fmla="val 30000"/>
            </a:avLst>
          </a:prstGeom>
          <a:noFill/>
          <a:ln w="19050">
            <a:solidFill>
              <a:srgbClr val="C9A9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804257" y="2273198"/>
            <a:ext cx="46085" cy="46085"/>
          </a:xfrm>
          <a:prstGeom prst="ellipse">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888748" y="2273198"/>
            <a:ext cx="46085" cy="46085"/>
          </a:xfrm>
          <a:prstGeom prst="ellipse">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973238" y="2273198"/>
            <a:ext cx="46085" cy="46085"/>
          </a:xfrm>
          <a:prstGeom prst="ellipse">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09160" y="2670048"/>
            <a:ext cx="2962656" cy="1746504"/>
          </a:xfrm>
          <a:prstGeom prst="rect">
            <a:avLst/>
          </a:prstGeom>
          <a:noFill/>
        </p:spPr>
        <p:txBody>
          <a:bodyPr wrap="square" anchor="t" lIns="0" rIns="0" tIns="0" bIns="0">
            <a:spAutoFit/>
          </a:bodyPr>
          <a:lstStyle/>
          <a:p>
            <a:pPr algn="l">
              <a:lnSpc>
                <a:spcPct val="112000"/>
              </a:lnSpc>
              <a:spcBef>
                <a:spcPts val="0"/>
              </a:spcBef>
              <a:spcAft>
                <a:spcPts val="800"/>
              </a:spcAft>
            </a:pPr>
            <a:r>
              <a:rPr sz="2000" b="0" i="0">
                <a:solidFill>
                  <a:srgbClr val="C9A961"/>
                </a:solidFill>
                <a:latin typeface="Cormorant Garamond"/>
              </a:rPr>
              <a:t>Grounded co-pilot</a:t>
            </a:r>
          </a:p>
          <a:p>
            <a:pPr algn="l">
              <a:lnSpc>
                <a:spcPct val="112000"/>
              </a:lnSpc>
              <a:spcBef>
                <a:spcPts val="0"/>
              </a:spcBef>
              <a:spcAft>
                <a:spcPts val="700"/>
              </a:spcAft>
            </a:pPr>
            <a:r>
              <a:rPr sz="1150" b="0" i="0">
                <a:solidFill>
                  <a:srgbClr val="8A7440"/>
                </a:solidFill>
                <a:latin typeface="Inter"/>
              </a:rPr>
              <a:t>—  </a:t>
            </a:r>
            <a:r>
              <a:rPr sz="1150" b="0" i="0">
                <a:solidFill>
                  <a:srgbClr val="94A3B8"/>
                </a:solidFill>
                <a:latin typeface="Inter"/>
              </a:rPr>
              <a:t>Claude tool-use loop over the same typed tools, streamed via SSE</a:t>
            </a:r>
          </a:p>
          <a:p>
            <a:pPr algn="l">
              <a:lnSpc>
                <a:spcPct val="112000"/>
              </a:lnSpc>
              <a:spcBef>
                <a:spcPts val="0"/>
              </a:spcBef>
              <a:spcAft>
                <a:spcPts val="700"/>
              </a:spcAft>
            </a:pPr>
            <a:r>
              <a:rPr sz="1150" b="0" i="0">
                <a:solidFill>
                  <a:srgbClr val="8A7440"/>
                </a:solidFill>
                <a:latin typeface="Inter"/>
              </a:rPr>
              <a:t>—  </a:t>
            </a:r>
            <a:r>
              <a:rPr sz="1150" b="0" i="0">
                <a:solidFill>
                  <a:srgbClr val="94A3B8"/>
                </a:solidFill>
                <a:latin typeface="Inter"/>
              </a:rPr>
              <a:t>Cites every claim; CACHED replays four real runs at zero API cost</a:t>
            </a:r>
          </a:p>
        </p:txBody>
      </p:sp>
      <p:sp>
        <p:nvSpPr>
          <p:cNvPr id="16" name="TextBox 15"/>
          <p:cNvSpPr txBox="1"/>
          <p:nvPr/>
        </p:nvSpPr>
        <p:spPr>
          <a:xfrm>
            <a:off x="4709160" y="4370831"/>
            <a:ext cx="2962656" cy="274320"/>
          </a:xfrm>
          <a:prstGeom prst="rect">
            <a:avLst/>
          </a:prstGeom>
          <a:noFill/>
        </p:spPr>
        <p:txBody>
          <a:bodyPr wrap="square" anchor="t" lIns="0" rIns="0" tIns="0" bIns="0">
            <a:spAutoFit/>
          </a:bodyPr>
          <a:lstStyle/>
          <a:p>
            <a:pPr>
              <a:lnSpc>
                <a:spcPct val="105000"/>
              </a:lnSpc>
              <a:spcAft>
                <a:spcPts val="200"/>
              </a:spcAft>
            </a:pPr>
            <a:r>
              <a:rPr sz="800">
                <a:solidFill>
                  <a:srgbClr val="8A7440"/>
                </a:solidFill>
                <a:latin typeface="JetBrains Mono"/>
                <a:hlinkClick r:id="rId3"/>
              </a:rPr>
              <a:t>services/api/agent/runner.py</a:t>
            </a:r>
          </a:p>
        </p:txBody>
      </p:sp>
      <p:sp>
        <p:nvSpPr>
          <p:cNvPr id="17" name="Rounded Rectangle 16"/>
          <p:cNvSpPr/>
          <p:nvPr/>
        </p:nvSpPr>
        <p:spPr>
          <a:xfrm>
            <a:off x="8129016" y="1956816"/>
            <a:ext cx="3419856" cy="2706624"/>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H="1">
            <a:off x="8460943" y="2215591"/>
            <a:ext cx="134417" cy="238109"/>
          </a:xfrm>
          <a:prstGeom prst="line">
            <a:avLst/>
          </a:prstGeom>
          <a:ln w="15240">
            <a:solidFill>
              <a:srgbClr val="C9A961"/>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95360" y="2215591"/>
            <a:ext cx="134416" cy="238109"/>
          </a:xfrm>
          <a:prstGeom prst="line">
            <a:avLst/>
          </a:prstGeom>
          <a:ln w="15240">
            <a:solidFill>
              <a:srgbClr val="C9A961"/>
            </a:solidFill>
          </a:ln>
          <a:effectLst/>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537752" y="2157984"/>
            <a:ext cx="115214" cy="115214"/>
          </a:xfrm>
          <a:prstGeom prst="ellipse">
            <a:avLst/>
          </a:prstGeom>
          <a:solidFill>
            <a:srgbClr val="0A1628"/>
          </a:solidFill>
          <a:ln w="16510">
            <a:solidFill>
              <a:srgbClr val="C9A9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403336" y="2396093"/>
            <a:ext cx="115214" cy="115214"/>
          </a:xfrm>
          <a:prstGeom prst="ellipse">
            <a:avLst/>
          </a:prstGeom>
          <a:solidFill>
            <a:srgbClr val="0A1628"/>
          </a:solidFill>
          <a:ln w="16510">
            <a:solidFill>
              <a:srgbClr val="C9A9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672169" y="2396093"/>
            <a:ext cx="115214" cy="115214"/>
          </a:xfrm>
          <a:prstGeom prst="ellipse">
            <a:avLst/>
          </a:prstGeom>
          <a:solidFill>
            <a:srgbClr val="0A1628"/>
          </a:solidFill>
          <a:ln w="16510">
            <a:solidFill>
              <a:srgbClr val="C9A9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5048" y="2670048"/>
            <a:ext cx="2962656" cy="1746504"/>
          </a:xfrm>
          <a:prstGeom prst="rect">
            <a:avLst/>
          </a:prstGeom>
          <a:noFill/>
        </p:spPr>
        <p:txBody>
          <a:bodyPr wrap="square" anchor="t" lIns="0" rIns="0" tIns="0" bIns="0">
            <a:spAutoFit/>
          </a:bodyPr>
          <a:lstStyle/>
          <a:p>
            <a:pPr algn="l">
              <a:lnSpc>
                <a:spcPct val="112000"/>
              </a:lnSpc>
              <a:spcBef>
                <a:spcPts val="0"/>
              </a:spcBef>
              <a:spcAft>
                <a:spcPts val="800"/>
              </a:spcAft>
            </a:pPr>
            <a:r>
              <a:rPr sz="2000" b="0" i="0">
                <a:solidFill>
                  <a:srgbClr val="C9A961"/>
                </a:solidFill>
                <a:latin typeface="Cormorant Garamond"/>
              </a:rPr>
              <a:t>MCP-exposed tools</a:t>
            </a:r>
          </a:p>
          <a:p>
            <a:pPr algn="l">
              <a:lnSpc>
                <a:spcPct val="112000"/>
              </a:lnSpc>
              <a:spcBef>
                <a:spcPts val="0"/>
              </a:spcBef>
              <a:spcAft>
                <a:spcPts val="700"/>
              </a:spcAft>
            </a:pPr>
            <a:r>
              <a:rPr sz="1150" b="0" i="0">
                <a:solidFill>
                  <a:srgbClr val="8A7440"/>
                </a:solidFill>
                <a:latin typeface="Inter"/>
              </a:rPr>
              <a:t>—  </a:t>
            </a:r>
            <a:r>
              <a:rPr sz="1150" b="0" i="0">
                <a:solidFill>
                  <a:srgbClr val="94A3B8"/>
                </a:solidFill>
                <a:latin typeface="Inter"/>
              </a:rPr>
              <a:t>Six capabilities over the Model Context Protocol</a:t>
            </a:r>
          </a:p>
          <a:p>
            <a:pPr algn="l">
              <a:lnSpc>
                <a:spcPct val="112000"/>
              </a:lnSpc>
              <a:spcBef>
                <a:spcPts val="0"/>
              </a:spcBef>
              <a:spcAft>
                <a:spcPts val="700"/>
              </a:spcAft>
            </a:pPr>
            <a:r>
              <a:rPr sz="1150" b="0" i="0">
                <a:solidFill>
                  <a:srgbClr val="8A7440"/>
                </a:solidFill>
                <a:latin typeface="Inter"/>
              </a:rPr>
              <a:t>—  </a:t>
            </a:r>
            <a:r>
              <a:rPr sz="1150" b="0" i="0">
                <a:solidFill>
                  <a:srgbClr val="94A3B8"/>
                </a:solidFill>
                <a:latin typeface="Inter"/>
              </a:rPr>
              <a:t>Direct engine import — callable from Claude Desktop or any MCP client</a:t>
            </a:r>
          </a:p>
        </p:txBody>
      </p:sp>
      <p:sp>
        <p:nvSpPr>
          <p:cNvPr id="24" name="TextBox 23"/>
          <p:cNvSpPr txBox="1"/>
          <p:nvPr/>
        </p:nvSpPr>
        <p:spPr>
          <a:xfrm>
            <a:off x="8385048" y="4370831"/>
            <a:ext cx="2962656" cy="274320"/>
          </a:xfrm>
          <a:prstGeom prst="rect">
            <a:avLst/>
          </a:prstGeom>
          <a:noFill/>
        </p:spPr>
        <p:txBody>
          <a:bodyPr wrap="square" anchor="t" lIns="0" rIns="0" tIns="0" bIns="0">
            <a:spAutoFit/>
          </a:bodyPr>
          <a:lstStyle/>
          <a:p>
            <a:pPr>
              <a:lnSpc>
                <a:spcPct val="105000"/>
              </a:lnSpc>
              <a:spcAft>
                <a:spcPts val="200"/>
              </a:spcAft>
            </a:pPr>
            <a:r>
              <a:rPr sz="800">
                <a:solidFill>
                  <a:srgbClr val="8A7440"/>
                </a:solidFill>
                <a:latin typeface="JetBrains Mono"/>
                <a:hlinkClick r:id="rId4"/>
              </a:rPr>
              <a:t>services/mcp/server.py:305-333</a:t>
            </a:r>
          </a:p>
        </p:txBody>
      </p:sp>
      <p:sp>
        <p:nvSpPr>
          <p:cNvPr id="25" name="TextBox 24"/>
          <p:cNvSpPr txBox="1"/>
          <p:nvPr/>
        </p:nvSpPr>
        <p:spPr>
          <a:xfrm>
            <a:off x="777240" y="4956048"/>
            <a:ext cx="10625328" cy="274320"/>
          </a:xfrm>
          <a:prstGeom prst="rect">
            <a:avLst/>
          </a:prstGeom>
          <a:noFill/>
        </p:spPr>
        <p:txBody>
          <a:bodyPr wrap="square" anchor="t" lIns="0" rIns="0" tIns="0" bIns="0">
            <a:spAutoFit/>
          </a:bodyPr>
          <a:lstStyle/>
          <a:p>
            <a:pPr algn="l">
              <a:lnSpc>
                <a:spcPct val="112000"/>
              </a:lnSpc>
              <a:spcBef>
                <a:spcPts val="0"/>
              </a:spcBef>
              <a:spcAft>
                <a:spcPts val="0"/>
              </a:spcAft>
            </a:pPr>
            <a:r>
              <a:rPr sz="1000" b="1" i="0" spc="160">
                <a:solidFill>
                  <a:srgbClr val="C9A961"/>
                </a:solidFill>
                <a:latin typeface="Inter"/>
              </a:rPr>
              <a:t>THE FINDING — 40 OF 50 SCREENED ARE OFAC-EXPOSED</a:t>
            </a:r>
          </a:p>
        </p:txBody>
      </p:sp>
      <p:sp>
        <p:nvSpPr>
          <p:cNvPr id="26" name="Rectangle 25"/>
          <p:cNvSpPr/>
          <p:nvPr/>
        </p:nvSpPr>
        <p:spPr>
          <a:xfrm>
            <a:off x="777240" y="5266944"/>
            <a:ext cx="8765895" cy="384048"/>
          </a:xfrm>
          <a:prstGeom prst="rect">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266944"/>
            <a:ext cx="8765895" cy="384048"/>
          </a:xfrm>
          <a:prstGeom prst="rect">
            <a:avLst/>
          </a:prstGeom>
          <a:noFill/>
        </p:spPr>
        <p:txBody>
          <a:bodyPr wrap="square" anchor="ctr" lIns="0" rIns="0" tIns="0" bIns="0">
            <a:spAutoFit/>
          </a:bodyPr>
          <a:lstStyle/>
          <a:p>
            <a:pPr algn="ctr">
              <a:lnSpc>
                <a:spcPct val="112000"/>
              </a:lnSpc>
              <a:spcBef>
                <a:spcPts val="0"/>
              </a:spcBef>
              <a:spcAft>
                <a:spcPts val="0"/>
              </a:spcAft>
            </a:pPr>
            <a:r>
              <a:rPr sz="1500" b="1" i="0">
                <a:solidFill>
                  <a:srgbClr val="0A1628"/>
                </a:solidFill>
                <a:latin typeface="Inter"/>
              </a:rPr>
              <a:t>33</a:t>
            </a:r>
          </a:p>
        </p:txBody>
      </p:sp>
      <p:sp>
        <p:nvSpPr>
          <p:cNvPr id="28" name="Rectangle 27"/>
          <p:cNvSpPr/>
          <p:nvPr/>
        </p:nvSpPr>
        <p:spPr>
          <a:xfrm>
            <a:off x="9543135" y="5266944"/>
            <a:ext cx="1062532" cy="384048"/>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43135" y="5266944"/>
            <a:ext cx="1062532" cy="384048"/>
          </a:xfrm>
          <a:prstGeom prst="rect">
            <a:avLst/>
          </a:prstGeom>
          <a:noFill/>
        </p:spPr>
        <p:txBody>
          <a:bodyPr wrap="square" anchor="ctr" lIns="0" rIns="0" tIns="0" bIns="0">
            <a:spAutoFit/>
          </a:bodyPr>
          <a:lstStyle/>
          <a:p>
            <a:pPr algn="ctr">
              <a:lnSpc>
                <a:spcPct val="112000"/>
              </a:lnSpc>
              <a:spcBef>
                <a:spcPts val="0"/>
              </a:spcBef>
              <a:spcAft>
                <a:spcPts val="0"/>
              </a:spcAft>
            </a:pPr>
            <a:r>
              <a:rPr sz="1500" b="1" i="0">
                <a:solidFill>
                  <a:srgbClr val="0A1628"/>
                </a:solidFill>
                <a:latin typeface="Inter"/>
              </a:rPr>
              <a:t>4</a:t>
            </a:r>
          </a:p>
        </p:txBody>
      </p:sp>
      <p:sp>
        <p:nvSpPr>
          <p:cNvPr id="30" name="Rectangle 29"/>
          <p:cNvSpPr/>
          <p:nvPr/>
        </p:nvSpPr>
        <p:spPr>
          <a:xfrm>
            <a:off x="10605668" y="5266944"/>
            <a:ext cx="796899" cy="384048"/>
          </a:xfrm>
          <a:prstGeom prst="rect">
            <a:avLst/>
          </a:prstGeom>
          <a:solidFill>
            <a:srgbClr val="DB6D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05668" y="5266944"/>
            <a:ext cx="796899" cy="384048"/>
          </a:xfrm>
          <a:prstGeom prst="rect">
            <a:avLst/>
          </a:prstGeom>
          <a:noFill/>
        </p:spPr>
        <p:txBody>
          <a:bodyPr wrap="square" anchor="ctr" lIns="0" rIns="0" tIns="0" bIns="0">
            <a:spAutoFit/>
          </a:bodyPr>
          <a:lstStyle/>
          <a:p>
            <a:pPr algn="ctr">
              <a:lnSpc>
                <a:spcPct val="112000"/>
              </a:lnSpc>
              <a:spcBef>
                <a:spcPts val="0"/>
              </a:spcBef>
              <a:spcAft>
                <a:spcPts val="0"/>
              </a:spcAft>
            </a:pPr>
            <a:r>
              <a:rPr sz="1500" b="1" i="0">
                <a:solidFill>
                  <a:srgbClr val="0A1628"/>
                </a:solidFill>
                <a:latin typeface="Inter"/>
              </a:rPr>
              <a:t>3</a:t>
            </a:r>
          </a:p>
        </p:txBody>
      </p:sp>
      <p:sp>
        <p:nvSpPr>
          <p:cNvPr id="32" name="TextBox 31"/>
          <p:cNvSpPr txBox="1"/>
          <p:nvPr/>
        </p:nvSpPr>
        <p:spPr>
          <a:xfrm>
            <a:off x="777240" y="5760720"/>
            <a:ext cx="10625328" cy="365760"/>
          </a:xfrm>
          <a:prstGeom prst="rect">
            <a:avLst/>
          </a:prstGeom>
          <a:noFill/>
        </p:spPr>
        <p:txBody>
          <a:bodyPr wrap="square" anchor="t" lIns="0" rIns="0" tIns="0" bIns="0">
            <a:spAutoFit/>
          </a:bodyPr>
          <a:lstStyle/>
          <a:p>
            <a:pPr algn="l">
              <a:lnSpc>
                <a:spcPct val="110000"/>
              </a:lnSpc>
              <a:spcBef>
                <a:spcPts val="0"/>
              </a:spcBef>
              <a:spcAft>
                <a:spcPts val="0"/>
              </a:spcAft>
            </a:pPr>
            <a:r>
              <a:rPr sz="1100" b="0" i="0">
                <a:solidFill>
                  <a:srgbClr val="C9A961"/>
                </a:solidFill>
                <a:latin typeface="Inter"/>
              </a:rPr>
              <a:t>■ </a:t>
            </a:r>
            <a:r>
              <a:rPr sz="1100" b="0" i="0">
                <a:solidFill>
                  <a:srgbClr val="94A3B8"/>
                </a:solidFill>
                <a:latin typeface="Inter"/>
              </a:rPr>
              <a:t>33 caught by both     </a:t>
            </a:r>
            <a:r>
              <a:rPr sz="1100" b="0" i="0">
                <a:solidFill>
                  <a:srgbClr val="F85149"/>
                </a:solidFill>
                <a:latin typeface="Inter"/>
              </a:rPr>
              <a:t>■ </a:t>
            </a:r>
            <a:r>
              <a:rPr sz="1100" b="0" i="0">
                <a:solidFill>
                  <a:srgbClr val="F0F4F8"/>
                </a:solidFill>
                <a:latin typeface="Inter"/>
              </a:rPr>
              <a:t>4 hidden behind ownership — invisible to any name-screen     </a:t>
            </a:r>
            <a:r>
              <a:rPr sz="1100" b="0" i="0">
                <a:solidFill>
                  <a:srgbClr val="DB6D28"/>
                </a:solidFill>
                <a:latin typeface="Inter"/>
              </a:rPr>
              <a:t>■ </a:t>
            </a:r>
            <a:r>
              <a:rPr sz="1100" b="0" i="0">
                <a:solidFill>
                  <a:srgbClr val="94A3B8"/>
                </a:solidFill>
                <a:latin typeface="Inter"/>
              </a:rPr>
              <a:t>3 lost to name variation</a:t>
            </a:r>
          </a:p>
        </p:txBody>
      </p:sp>
      <p:sp>
        <p:nvSpPr>
          <p:cNvPr id="33" name="Rounded Rectangle 32"/>
          <p:cNvSpPr/>
          <p:nvPr/>
        </p:nvSpPr>
        <p:spPr>
          <a:xfrm>
            <a:off x="777240" y="6053328"/>
            <a:ext cx="10625328" cy="530352"/>
          </a:xfrm>
          <a:prstGeom prst="roundRect">
            <a:avLst>
              <a:gd name="adj" fmla="val 5500"/>
            </a:avLst>
          </a:prstGeom>
          <a:solidFill>
            <a:srgbClr val="243149"/>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6126480"/>
            <a:ext cx="10149840" cy="384048"/>
          </a:xfrm>
          <a:prstGeom prst="rect">
            <a:avLst/>
          </a:prstGeom>
          <a:noFill/>
        </p:spPr>
        <p:txBody>
          <a:bodyPr wrap="square" anchor="ctr" lIns="0" rIns="0" tIns="0" bIns="0">
            <a:spAutoFit/>
          </a:bodyPr>
          <a:lstStyle/>
          <a:p>
            <a:pPr algn="l">
              <a:lnSpc>
                <a:spcPct val="112000"/>
              </a:lnSpc>
              <a:spcBef>
                <a:spcPts val="0"/>
              </a:spcBef>
              <a:spcAft>
                <a:spcPts val="0"/>
              </a:spcAft>
            </a:pPr>
            <a:r>
              <a:rPr sz="1050" b="0" i="0">
                <a:solidFill>
                  <a:srgbClr val="C9A961"/>
                </a:solidFill>
                <a:latin typeface="JetBrains Mono"/>
              </a:rPr>
              <a:t>~13,000 lines  ·  </a:t>
            </a:r>
            <a:r>
              <a:rPr sz="1050" b="0" i="0">
                <a:solidFill>
                  <a:srgbClr val="94A3B8"/>
                </a:solidFill>
                <a:latin typeface="Inter"/>
              </a:rPr>
              <a:t>Python (FastAPI) + React (Babel-standalone)  ·  Production architecture from day one  ·  </a:t>
            </a:r>
            <a:r>
              <a:rPr sz="1050" b="0" i="0">
                <a:solidFill>
                  <a:srgbClr val="F0F4F8"/>
                </a:solidFill>
                <a:latin typeface="JetBrains Mono"/>
              </a:rPr>
              <a:t>docker compose 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B14"/>
        </a:solidFill>
        <a:effectLst/>
      </p:bgPr>
    </p:bg>
    <p:spTree>
      <p:nvGrpSpPr>
        <p:cNvPr id="1" name=""/>
        <p:cNvGrpSpPr/>
        <p:nvPr/>
      </p:nvGrpSpPr>
      <p:grpSpPr/>
      <p:sp>
        <p:nvSpPr>
          <p:cNvPr id="2" name="TextBox 1"/>
          <p:cNvSpPr txBox="1"/>
          <p:nvPr/>
        </p:nvSpPr>
        <p:spPr>
          <a:xfrm>
            <a:off x="777240" y="1371600"/>
            <a:ext cx="10607040" cy="822960"/>
          </a:xfrm>
          <a:prstGeom prst="rect">
            <a:avLst/>
          </a:prstGeom>
          <a:noFill/>
        </p:spPr>
        <p:txBody>
          <a:bodyPr wrap="square" anchor="ctr" lIns="0" rIns="0" tIns="0" bIns="0">
            <a:spAutoFit/>
          </a:bodyPr>
          <a:lstStyle/>
          <a:p>
            <a:pPr algn="ctr">
              <a:lnSpc>
                <a:spcPct val="112000"/>
              </a:lnSpc>
              <a:spcBef>
                <a:spcPts val="0"/>
              </a:spcBef>
              <a:spcAft>
                <a:spcPts val="0"/>
              </a:spcAft>
            </a:pPr>
            <a:r>
              <a:rPr sz="3000" b="1" i="0" spc="150">
                <a:solidFill>
                  <a:srgbClr val="C9A961"/>
                </a:solidFill>
                <a:latin typeface="JetBrains Mono"/>
              </a:rPr>
              <a:t>[  SWITCH TO LIVE APP  ]</a:t>
            </a:r>
          </a:p>
        </p:txBody>
      </p:sp>
      <p:sp>
        <p:nvSpPr>
          <p:cNvPr id="3" name="TextBox 2"/>
          <p:cNvSpPr txBox="1"/>
          <p:nvPr/>
        </p:nvSpPr>
        <p:spPr>
          <a:xfrm>
            <a:off x="777240" y="2286000"/>
            <a:ext cx="10607040" cy="457200"/>
          </a:xfrm>
          <a:prstGeom prst="rect">
            <a:avLst/>
          </a:prstGeom>
          <a:noFill/>
        </p:spPr>
        <p:txBody>
          <a:bodyPr wrap="square" anchor="ctr" lIns="0" rIns="0" tIns="0" bIns="0">
            <a:spAutoFit/>
          </a:bodyPr>
          <a:lstStyle/>
          <a:p>
            <a:pPr algn="ctr">
              <a:lnSpc>
                <a:spcPct val="112000"/>
              </a:lnSpc>
              <a:spcBef>
                <a:spcPts val="0"/>
              </a:spcBef>
              <a:spcAft>
                <a:spcPts val="0"/>
              </a:spcAft>
            </a:pPr>
            <a:r>
              <a:rPr sz="1700" b="0" i="0">
                <a:solidFill>
                  <a:srgbClr val="F0F4F8"/>
                </a:solidFill>
                <a:latin typeface="JetBrains Mono"/>
              </a:rPr>
              <a:t>localhost:8000/ui/        ·        docker compose up</a:t>
            </a:r>
          </a:p>
        </p:txBody>
      </p:sp>
      <p:sp>
        <p:nvSpPr>
          <p:cNvPr id="4" name="Rounded Rectangle 3"/>
          <p:cNvSpPr/>
          <p:nvPr/>
        </p:nvSpPr>
        <p:spPr>
          <a:xfrm>
            <a:off x="2331720" y="3154680"/>
            <a:ext cx="7498079" cy="3063240"/>
          </a:xfrm>
          <a:prstGeom prst="roundRect">
            <a:avLst>
              <a:gd name="adj" fmla="val 5500"/>
            </a:avLst>
          </a:prstGeom>
          <a:solidFill>
            <a:srgbClr val="0A1628"/>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697480" y="3401568"/>
            <a:ext cx="6858000" cy="2651760"/>
          </a:xfrm>
          <a:prstGeom prst="rect">
            <a:avLst/>
          </a:prstGeom>
          <a:noFill/>
        </p:spPr>
        <p:txBody>
          <a:bodyPr wrap="square" anchor="t" lIns="0" rIns="0" tIns="0" bIns="0">
            <a:spAutoFit/>
          </a:bodyPr>
          <a:lstStyle/>
          <a:p>
            <a:pPr algn="l">
              <a:lnSpc>
                <a:spcPct val="112000"/>
              </a:lnSpc>
              <a:spcBef>
                <a:spcPts val="0"/>
              </a:spcBef>
              <a:spcAft>
                <a:spcPts val="1000"/>
              </a:spcAft>
            </a:pPr>
            <a:r>
              <a:rPr sz="1050" b="1" i="0" spc="200">
                <a:solidFill>
                  <a:srgbClr val="C9A961"/>
                </a:solidFill>
                <a:latin typeface="Inter"/>
              </a:rPr>
              <a:t>DEMO PATH</a:t>
            </a:r>
          </a:p>
          <a:p>
            <a:pPr algn="l">
              <a:lnSpc>
                <a:spcPct val="112000"/>
              </a:lnSpc>
              <a:spcBef>
                <a:spcPts val="0"/>
              </a:spcBef>
              <a:spcAft>
                <a:spcPts val="800"/>
              </a:spcAft>
            </a:pPr>
            <a:r>
              <a:rPr sz="1150" b="0" i="0">
                <a:solidFill>
                  <a:srgbClr val="C9A961"/>
                </a:solidFill>
                <a:latin typeface="JetBrains Mono"/>
              </a:rPr>
              <a:t>1.  </a:t>
            </a:r>
            <a:r>
              <a:rPr sz="1150" b="0" i="0">
                <a:solidFill>
                  <a:srgbClr val="94A3B8"/>
                </a:solidFill>
                <a:latin typeface="Inter"/>
              </a:rPr>
              <a:t>Investigations dashboard → open “Q1 2026 Vendor Onboarding”</a:t>
            </a:r>
          </a:p>
          <a:p>
            <a:pPr algn="l">
              <a:lnSpc>
                <a:spcPct val="112000"/>
              </a:lnSpc>
              <a:spcBef>
                <a:spcPts val="0"/>
              </a:spcBef>
              <a:spcAft>
                <a:spcPts val="800"/>
              </a:spcAft>
            </a:pPr>
            <a:r>
              <a:rPr sz="1150" b="0" i="0">
                <a:solidFill>
                  <a:srgbClr val="C9A961"/>
                </a:solidFill>
                <a:latin typeface="JetBrains Mono"/>
              </a:rPr>
              <a:t>2.  </a:t>
            </a:r>
            <a:r>
              <a:rPr sz="1150" b="0" i="0">
                <a:solidFill>
                  <a:srgbClr val="94A3B8"/>
                </a:solidFill>
                <a:latin typeface="Inter"/>
              </a:rPr>
              <a:t>Compare → Run Composition (50 → 49 → 45 → 40), then the funnel</a:t>
            </a:r>
          </a:p>
          <a:p>
            <a:pPr algn="l">
              <a:lnSpc>
                <a:spcPct val="112000"/>
              </a:lnSpc>
              <a:spcBef>
                <a:spcPts val="0"/>
              </a:spcBef>
              <a:spcAft>
                <a:spcPts val="800"/>
              </a:spcAft>
            </a:pPr>
            <a:r>
              <a:rPr sz="1150" b="0" i="0">
                <a:solidFill>
                  <a:srgbClr val="C9A961"/>
                </a:solidFill>
                <a:latin typeface="JetBrains Mono"/>
              </a:rPr>
              <a:t>3.  </a:t>
            </a:r>
            <a:r>
              <a:rPr sz="1150" b="0" i="0">
                <a:solidFill>
                  <a:srgbClr val="94A3B8"/>
                </a:solidFill>
                <a:latin typeface="Inter"/>
              </a:rPr>
              <a:t>Ownership-gap spotlight → click MiG Corporation</a:t>
            </a:r>
          </a:p>
          <a:p>
            <a:pPr algn="l">
              <a:lnSpc>
                <a:spcPct val="112000"/>
              </a:lnSpc>
              <a:spcBef>
                <a:spcPts val="0"/>
              </a:spcBef>
              <a:spcAft>
                <a:spcPts val="800"/>
              </a:spcAft>
            </a:pPr>
            <a:r>
              <a:rPr sz="1150" b="0" i="0">
                <a:solidFill>
                  <a:srgbClr val="C9A961"/>
                </a:solidFill>
                <a:latin typeface="JetBrains Mono"/>
              </a:rPr>
              <a:t>4.  </a:t>
            </a:r>
            <a:r>
              <a:rPr sz="1150" b="0" i="0">
                <a:solidFill>
                  <a:srgbClr val="94A3B8"/>
                </a:solidFill>
                <a:latin typeface="Inter"/>
              </a:rPr>
              <a:t>Entity detail → ownership graph → traverse to United Aircraft (SDN)</a:t>
            </a:r>
          </a:p>
          <a:p>
            <a:pPr algn="l">
              <a:lnSpc>
                <a:spcPct val="112000"/>
              </a:lnSpc>
              <a:spcBef>
                <a:spcPts val="0"/>
              </a:spcBef>
              <a:spcAft>
                <a:spcPts val="800"/>
              </a:spcAft>
            </a:pPr>
            <a:r>
              <a:rPr sz="1150" b="0" i="0">
                <a:solidFill>
                  <a:srgbClr val="C9A961"/>
                </a:solidFill>
                <a:latin typeface="JetBrains Mono"/>
              </a:rPr>
              <a:t>5.  </a:t>
            </a:r>
            <a:r>
              <a:rPr sz="1150" b="0" i="0">
                <a:solidFill>
                  <a:srgbClr val="94A3B8"/>
                </a:solidFill>
                <a:latin typeface="Inter"/>
              </a:rPr>
              <a:t>Co-Pilot → grounded answer with cited tool calls (cached)</a:t>
            </a:r>
          </a:p>
          <a:p>
            <a:pPr algn="l">
              <a:lnSpc>
                <a:spcPct val="112000"/>
              </a:lnSpc>
              <a:spcBef>
                <a:spcPts val="0"/>
              </a:spcBef>
              <a:spcAft>
                <a:spcPts val="800"/>
              </a:spcAft>
            </a:pPr>
            <a:r>
              <a:rPr sz="1150" b="0" i="0">
                <a:solidFill>
                  <a:srgbClr val="C9A961"/>
                </a:solidFill>
                <a:latin typeface="JetBrains Mono"/>
              </a:rPr>
              <a:t>6.  </a:t>
            </a:r>
            <a:r>
              <a:rPr sz="1150" b="0" i="0">
                <a:solidFill>
                  <a:srgbClr val="94A3B8"/>
                </a:solidFill>
                <a:latin typeface="Inter"/>
              </a:rPr>
              <a:t>MCP via Claude Desktop — if time permits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0"/>
              </a:spcAft>
            </a:pPr>
            <a:r>
              <a:rPr sz="1250" b="1" i="0" spc="220">
                <a:solidFill>
                  <a:srgbClr val="94A3B8"/>
                </a:solidFill>
                <a:latin typeface="Inter"/>
              </a:rPr>
              <a:t>ARCHITECTURE AT A GLANCE</a:t>
            </a:r>
          </a:p>
        </p:txBody>
      </p:sp>
      <p:sp>
        <p:nvSpPr>
          <p:cNvPr id="3" name="TextBox 2"/>
          <p:cNvSpPr txBox="1"/>
          <p:nvPr/>
        </p:nvSpPr>
        <p:spPr>
          <a:xfrm>
            <a:off x="777240" y="932688"/>
            <a:ext cx="10607040" cy="914400"/>
          </a:xfrm>
          <a:prstGeom prst="rect">
            <a:avLst/>
          </a:prstGeom>
          <a:noFill/>
        </p:spPr>
        <p:txBody>
          <a:bodyPr wrap="square" anchor="t" lIns="0" rIns="0" tIns="0" bIns="0">
            <a:spAutoFit/>
          </a:bodyPr>
          <a:lstStyle/>
          <a:p>
            <a:pPr algn="l">
              <a:lnSpc>
                <a:spcPct val="100000"/>
              </a:lnSpc>
              <a:spcBef>
                <a:spcPts val="0"/>
              </a:spcBef>
              <a:spcAft>
                <a:spcPts val="0"/>
              </a:spcAft>
            </a:pPr>
            <a:r>
              <a:rPr sz="3800" b="0" i="0">
                <a:solidFill>
                  <a:srgbClr val="F0F4F8"/>
                </a:solidFill>
                <a:latin typeface="Cormorant Garamond"/>
              </a:rPr>
              <a:t>Four parts, one engine.</a:t>
            </a:r>
          </a:p>
        </p:txBody>
      </p:sp>
      <p:sp>
        <p:nvSpPr>
          <p:cNvPr id="4" name="Rounded Rectangle 3"/>
          <p:cNvSpPr/>
          <p:nvPr/>
        </p:nvSpPr>
        <p:spPr>
          <a:xfrm>
            <a:off x="777240" y="1783080"/>
            <a:ext cx="7040880" cy="658368"/>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1832" y="1892807"/>
            <a:ext cx="6711696" cy="475488"/>
          </a:xfrm>
          <a:prstGeom prst="rect">
            <a:avLst/>
          </a:prstGeom>
          <a:noFill/>
        </p:spPr>
        <p:txBody>
          <a:bodyPr wrap="square" anchor="ctr" lIns="0" rIns="0" tIns="0" bIns="0">
            <a:spAutoFit/>
          </a:bodyPr>
          <a:lstStyle/>
          <a:p>
            <a:pPr algn="ctr">
              <a:lnSpc>
                <a:spcPct val="100000"/>
              </a:lnSpc>
              <a:spcBef>
                <a:spcPts val="0"/>
              </a:spcBef>
              <a:spcAft>
                <a:spcPts val="200"/>
              </a:spcAft>
            </a:pPr>
            <a:r>
              <a:rPr sz="1250" b="1" i="0">
                <a:solidFill>
                  <a:srgbClr val="F0F4F8"/>
                </a:solidFill>
                <a:latin typeface="Inter"/>
              </a:rPr>
              <a:t>React frontend  ·  Babel-standalone (no build step)</a:t>
            </a:r>
          </a:p>
          <a:p>
            <a:pPr algn="ctr">
              <a:lnSpc>
                <a:spcPct val="100000"/>
              </a:lnSpc>
              <a:spcBef>
                <a:spcPts val="0"/>
              </a:spcBef>
              <a:spcAft>
                <a:spcPts val="400"/>
              </a:spcAft>
            </a:pPr>
            <a:r>
              <a:rPr sz="800" b="0" i="0">
                <a:solidFill>
                  <a:srgbClr val="64748B"/>
                </a:solidFill>
                <a:latin typeface="JetBrains Mono"/>
              </a:rPr>
              <a:t>design-prototype/  →  mounted at /ui</a:t>
            </a:r>
          </a:p>
        </p:txBody>
      </p:sp>
      <p:sp>
        <p:nvSpPr>
          <p:cNvPr id="6" name="TextBox 5"/>
          <p:cNvSpPr txBox="1"/>
          <p:nvPr/>
        </p:nvSpPr>
        <p:spPr>
          <a:xfrm>
            <a:off x="777240" y="2468880"/>
            <a:ext cx="7040880" cy="237744"/>
          </a:xfrm>
          <a:prstGeom prst="rect">
            <a:avLst/>
          </a:prstGeom>
          <a:noFill/>
        </p:spPr>
        <p:txBody>
          <a:bodyPr wrap="square" anchor="ctr" lIns="0" rIns="0" tIns="0" bIns="0">
            <a:spAutoFit/>
          </a:bodyPr>
          <a:lstStyle/>
          <a:p>
            <a:pPr algn="ctr">
              <a:lnSpc>
                <a:spcPct val="112000"/>
              </a:lnSpc>
              <a:spcBef>
                <a:spcPts val="0"/>
              </a:spcBef>
              <a:spcAft>
                <a:spcPts val="0"/>
              </a:spcAft>
            </a:pPr>
            <a:r>
              <a:rPr sz="850" b="0" i="0">
                <a:solidFill>
                  <a:srgbClr val="64748B"/>
                </a:solidFill>
                <a:latin typeface="JetBrains Mono"/>
              </a:rPr>
              <a:t>▼   fetch + Server-Sent Events</a:t>
            </a:r>
          </a:p>
        </p:txBody>
      </p:sp>
      <p:sp>
        <p:nvSpPr>
          <p:cNvPr id="7" name="Rounded Rectangle 6"/>
          <p:cNvSpPr/>
          <p:nvPr/>
        </p:nvSpPr>
        <p:spPr>
          <a:xfrm>
            <a:off x="777240" y="2724912"/>
            <a:ext cx="7040880" cy="877824"/>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834640"/>
            <a:ext cx="6711696" cy="694944"/>
          </a:xfrm>
          <a:prstGeom prst="rect">
            <a:avLst/>
          </a:prstGeom>
          <a:noFill/>
        </p:spPr>
        <p:txBody>
          <a:bodyPr wrap="square" anchor="ctr" lIns="0" rIns="0" tIns="0" bIns="0">
            <a:spAutoFit/>
          </a:bodyPr>
          <a:lstStyle/>
          <a:p>
            <a:pPr algn="ctr">
              <a:lnSpc>
                <a:spcPct val="100000"/>
              </a:lnSpc>
              <a:spcBef>
                <a:spcPts val="0"/>
              </a:spcBef>
              <a:spcAft>
                <a:spcPts val="200"/>
              </a:spcAft>
            </a:pPr>
            <a:r>
              <a:rPr sz="1250" b="1" i="0">
                <a:solidFill>
                  <a:srgbClr val="C9A961"/>
                </a:solidFill>
                <a:latin typeface="Inter"/>
              </a:rPr>
              <a:t>FastAPI service  ·  services/api</a:t>
            </a:r>
          </a:p>
          <a:p>
            <a:pPr algn="ctr">
              <a:lnSpc>
                <a:spcPct val="100000"/>
              </a:lnSpc>
              <a:spcBef>
                <a:spcPts val="0"/>
              </a:spcBef>
              <a:spcAft>
                <a:spcPts val="400"/>
              </a:spcAft>
            </a:pPr>
            <a:r>
              <a:rPr sz="800" b="0" i="0">
                <a:solidFill>
                  <a:srgbClr val="64748B"/>
                </a:solidFill>
                <a:latin typeface="JetBrains Mono"/>
              </a:rPr>
              <a:t>tools API · SSE streams · OFAC matcher · agent loop · in-memory credential store</a:t>
            </a:r>
          </a:p>
        </p:txBody>
      </p:sp>
      <p:sp>
        <p:nvSpPr>
          <p:cNvPr id="9" name="TextBox 8"/>
          <p:cNvSpPr txBox="1"/>
          <p:nvPr/>
        </p:nvSpPr>
        <p:spPr>
          <a:xfrm>
            <a:off x="777240" y="3630168"/>
            <a:ext cx="7040880" cy="237744"/>
          </a:xfrm>
          <a:prstGeom prst="rect">
            <a:avLst/>
          </a:prstGeom>
          <a:noFill/>
        </p:spPr>
        <p:txBody>
          <a:bodyPr wrap="square" anchor="ctr" lIns="0" rIns="0" tIns="0" bIns="0">
            <a:spAutoFit/>
          </a:bodyPr>
          <a:lstStyle/>
          <a:p>
            <a:pPr algn="ctr">
              <a:lnSpc>
                <a:spcPct val="112000"/>
              </a:lnSpc>
              <a:spcBef>
                <a:spcPts val="0"/>
              </a:spcBef>
              <a:spcAft>
                <a:spcPts val="0"/>
              </a:spcAft>
            </a:pPr>
            <a:r>
              <a:rPr sz="850" b="0" i="0">
                <a:solidFill>
                  <a:srgbClr val="64748B"/>
                </a:solidFill>
                <a:latin typeface="JetBrains Mono"/>
              </a:rPr>
              <a:t>▼   direct import                              ▼   stdio (MCP)</a:t>
            </a:r>
          </a:p>
        </p:txBody>
      </p:sp>
      <p:sp>
        <p:nvSpPr>
          <p:cNvPr id="10" name="Rounded Rectangle 9"/>
          <p:cNvSpPr/>
          <p:nvPr/>
        </p:nvSpPr>
        <p:spPr>
          <a:xfrm>
            <a:off x="777240" y="3895344"/>
            <a:ext cx="3419856" cy="786384"/>
          </a:xfrm>
          <a:prstGeom prst="roundRect">
            <a:avLst>
              <a:gd name="adj" fmla="val 5500"/>
            </a:avLst>
          </a:prstGeom>
          <a:solidFill>
            <a:srgbClr val="243149"/>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4005072"/>
            <a:ext cx="3090672" cy="603503"/>
          </a:xfrm>
          <a:prstGeom prst="rect">
            <a:avLst/>
          </a:prstGeom>
          <a:noFill/>
        </p:spPr>
        <p:txBody>
          <a:bodyPr wrap="square" anchor="ctr" lIns="0" rIns="0" tIns="0" bIns="0">
            <a:spAutoFit/>
          </a:bodyPr>
          <a:lstStyle/>
          <a:p>
            <a:pPr algn="ctr">
              <a:lnSpc>
                <a:spcPct val="100000"/>
              </a:lnSpc>
              <a:spcBef>
                <a:spcPts val="0"/>
              </a:spcBef>
              <a:spcAft>
                <a:spcPts val="200"/>
              </a:spcAft>
            </a:pPr>
            <a:r>
              <a:rPr sz="1250" b="1" i="0">
                <a:solidFill>
                  <a:srgbClr val="F0F4F8"/>
                </a:solidFill>
                <a:latin typeface="Inter"/>
              </a:rPr>
              <a:t>Importable engine</a:t>
            </a:r>
          </a:p>
          <a:p>
            <a:pPr algn="ctr">
              <a:lnSpc>
                <a:spcPct val="100000"/>
              </a:lnSpc>
              <a:spcBef>
                <a:spcPts val="0"/>
              </a:spcBef>
              <a:spcAft>
                <a:spcPts val="400"/>
              </a:spcAft>
            </a:pPr>
            <a:r>
              <a:rPr sz="800" b="0" i="0">
                <a:solidFill>
                  <a:srgbClr val="64748B"/>
                </a:solidFill>
                <a:latin typeface="JetBrains Mono"/>
              </a:rPr>
              <a:t>packages/engine/ · resolve · profile · cache · OFAC</a:t>
            </a:r>
          </a:p>
        </p:txBody>
      </p:sp>
      <p:sp>
        <p:nvSpPr>
          <p:cNvPr id="12" name="Rounded Rectangle 11"/>
          <p:cNvSpPr/>
          <p:nvPr/>
        </p:nvSpPr>
        <p:spPr>
          <a:xfrm>
            <a:off x="4398264" y="3895344"/>
            <a:ext cx="3419856" cy="786384"/>
          </a:xfrm>
          <a:prstGeom prst="roundRect">
            <a:avLst>
              <a:gd name="adj" fmla="val 5500"/>
            </a:avLst>
          </a:prstGeom>
          <a:solidFill>
            <a:srgbClr val="243149"/>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5" y="4005072"/>
            <a:ext cx="3090672" cy="603503"/>
          </a:xfrm>
          <a:prstGeom prst="rect">
            <a:avLst/>
          </a:prstGeom>
          <a:noFill/>
        </p:spPr>
        <p:txBody>
          <a:bodyPr wrap="square" anchor="ctr" lIns="0" rIns="0" tIns="0" bIns="0">
            <a:spAutoFit/>
          </a:bodyPr>
          <a:lstStyle/>
          <a:p>
            <a:pPr algn="ctr">
              <a:lnSpc>
                <a:spcPct val="100000"/>
              </a:lnSpc>
              <a:spcBef>
                <a:spcPts val="0"/>
              </a:spcBef>
              <a:spcAft>
                <a:spcPts val="200"/>
              </a:spcAft>
            </a:pPr>
            <a:r>
              <a:rPr sz="1250" b="1" i="0">
                <a:solidFill>
                  <a:srgbClr val="F0F4F8"/>
                </a:solidFill>
                <a:latin typeface="Inter"/>
              </a:rPr>
              <a:t>MCP server (Python)</a:t>
            </a:r>
          </a:p>
          <a:p>
            <a:pPr algn="ctr">
              <a:lnSpc>
                <a:spcPct val="100000"/>
              </a:lnSpc>
              <a:spcBef>
                <a:spcPts val="0"/>
              </a:spcBef>
              <a:spcAft>
                <a:spcPts val="400"/>
              </a:spcAft>
            </a:pPr>
            <a:r>
              <a:rPr sz="800" b="0" i="0">
                <a:solidFill>
                  <a:srgbClr val="64748B"/>
                </a:solidFill>
                <a:latin typeface="JetBrains Mono"/>
              </a:rPr>
              <a:t>services/mcp/ · 6 tools · direct import</a:t>
            </a:r>
          </a:p>
        </p:txBody>
      </p:sp>
      <p:sp>
        <p:nvSpPr>
          <p:cNvPr id="14" name="TextBox 13"/>
          <p:cNvSpPr txBox="1"/>
          <p:nvPr/>
        </p:nvSpPr>
        <p:spPr>
          <a:xfrm>
            <a:off x="777240" y="4709160"/>
            <a:ext cx="7040880" cy="237744"/>
          </a:xfrm>
          <a:prstGeom prst="rect">
            <a:avLst/>
          </a:prstGeom>
          <a:noFill/>
        </p:spPr>
        <p:txBody>
          <a:bodyPr wrap="square" anchor="ctr" lIns="0" rIns="0" tIns="0" bIns="0">
            <a:spAutoFit/>
          </a:bodyPr>
          <a:lstStyle/>
          <a:p>
            <a:pPr algn="ctr">
              <a:lnSpc>
                <a:spcPct val="112000"/>
              </a:lnSpc>
              <a:spcBef>
                <a:spcPts val="0"/>
              </a:spcBef>
              <a:spcAft>
                <a:spcPts val="0"/>
              </a:spcAft>
            </a:pPr>
            <a:r>
              <a:rPr sz="850" b="0" i="0">
                <a:solidFill>
                  <a:srgbClr val="64748B"/>
                </a:solidFill>
                <a:latin typeface="JetBrains Mono"/>
              </a:rPr>
              <a:t>▼   external calls</a:t>
            </a:r>
          </a:p>
        </p:txBody>
      </p:sp>
      <p:sp>
        <p:nvSpPr>
          <p:cNvPr id="15" name="Rounded Rectangle 14"/>
          <p:cNvSpPr/>
          <p:nvPr/>
        </p:nvSpPr>
        <p:spPr>
          <a:xfrm>
            <a:off x="777240" y="4974336"/>
            <a:ext cx="2212848" cy="658368"/>
          </a:xfrm>
          <a:prstGeom prst="roundRect">
            <a:avLst>
              <a:gd name="adj" fmla="val 5500"/>
            </a:avLst>
          </a:prstGeom>
          <a:solidFill>
            <a:srgbClr val="0A1628"/>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5084064"/>
            <a:ext cx="1883664" cy="475488"/>
          </a:xfrm>
          <a:prstGeom prst="rect">
            <a:avLst/>
          </a:prstGeom>
          <a:noFill/>
        </p:spPr>
        <p:txBody>
          <a:bodyPr wrap="square" anchor="ctr" lIns="0" rIns="0" tIns="0" bIns="0">
            <a:spAutoFit/>
          </a:bodyPr>
          <a:lstStyle/>
          <a:p>
            <a:pPr algn="ctr">
              <a:lnSpc>
                <a:spcPct val="100000"/>
              </a:lnSpc>
              <a:spcBef>
                <a:spcPts val="0"/>
              </a:spcBef>
              <a:spcAft>
                <a:spcPts val="200"/>
              </a:spcAft>
            </a:pPr>
            <a:r>
              <a:rPr sz="1250" b="1" i="0">
                <a:solidFill>
                  <a:srgbClr val="94A3B8"/>
                </a:solidFill>
                <a:latin typeface="Inter"/>
              </a:rPr>
              <a:t>Sayari SDK</a:t>
            </a:r>
          </a:p>
          <a:p>
            <a:pPr algn="ctr">
              <a:lnSpc>
                <a:spcPct val="100000"/>
              </a:lnSpc>
              <a:spcBef>
                <a:spcPts val="0"/>
              </a:spcBef>
              <a:spcAft>
                <a:spcPts val="400"/>
              </a:spcAft>
            </a:pPr>
            <a:r>
              <a:rPr sz="800" b="0" i="0">
                <a:solidFill>
                  <a:srgbClr val="64748B"/>
                </a:solidFill>
                <a:latin typeface="JetBrains Mono"/>
              </a:rPr>
              <a:t>OAuth · resolution · UBO</a:t>
            </a:r>
          </a:p>
        </p:txBody>
      </p:sp>
      <p:sp>
        <p:nvSpPr>
          <p:cNvPr id="17" name="Rounded Rectangle 16"/>
          <p:cNvSpPr/>
          <p:nvPr/>
        </p:nvSpPr>
        <p:spPr>
          <a:xfrm>
            <a:off x="3191256" y="4974336"/>
            <a:ext cx="2212848" cy="658368"/>
          </a:xfrm>
          <a:prstGeom prst="roundRect">
            <a:avLst>
              <a:gd name="adj" fmla="val 5500"/>
            </a:avLst>
          </a:prstGeom>
          <a:solidFill>
            <a:srgbClr val="0A1628"/>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55848" y="5084064"/>
            <a:ext cx="1883664" cy="475488"/>
          </a:xfrm>
          <a:prstGeom prst="rect">
            <a:avLst/>
          </a:prstGeom>
          <a:noFill/>
        </p:spPr>
        <p:txBody>
          <a:bodyPr wrap="square" anchor="ctr" lIns="0" rIns="0" tIns="0" bIns="0">
            <a:spAutoFit/>
          </a:bodyPr>
          <a:lstStyle/>
          <a:p>
            <a:pPr algn="ctr">
              <a:lnSpc>
                <a:spcPct val="100000"/>
              </a:lnSpc>
              <a:spcBef>
                <a:spcPts val="0"/>
              </a:spcBef>
              <a:spcAft>
                <a:spcPts val="200"/>
              </a:spcAft>
            </a:pPr>
            <a:r>
              <a:rPr sz="1250" b="1" i="0">
                <a:solidFill>
                  <a:srgbClr val="94A3B8"/>
                </a:solidFill>
                <a:latin typeface="Inter"/>
              </a:rPr>
              <a:t>OFAC SDN</a:t>
            </a:r>
          </a:p>
          <a:p>
            <a:pPr algn="ctr">
              <a:lnSpc>
                <a:spcPct val="100000"/>
              </a:lnSpc>
              <a:spcBef>
                <a:spcPts val="0"/>
              </a:spcBef>
              <a:spcAft>
                <a:spcPts val="400"/>
              </a:spcAft>
            </a:pPr>
            <a:r>
              <a:rPr sz="800" b="0" i="0">
                <a:solidFill>
                  <a:srgbClr val="64748B"/>
                </a:solidFill>
                <a:latin typeface="JetBrains Mono"/>
              </a:rPr>
              <a:t>17,207 rows · local</a:t>
            </a:r>
          </a:p>
        </p:txBody>
      </p:sp>
      <p:sp>
        <p:nvSpPr>
          <p:cNvPr id="19" name="Rounded Rectangle 18"/>
          <p:cNvSpPr/>
          <p:nvPr/>
        </p:nvSpPr>
        <p:spPr>
          <a:xfrm>
            <a:off x="5605272" y="4974336"/>
            <a:ext cx="2212848" cy="658368"/>
          </a:xfrm>
          <a:prstGeom prst="roundRect">
            <a:avLst>
              <a:gd name="adj" fmla="val 5500"/>
            </a:avLst>
          </a:prstGeom>
          <a:solidFill>
            <a:srgbClr val="0A1628"/>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9864" y="5084064"/>
            <a:ext cx="1883664" cy="475488"/>
          </a:xfrm>
          <a:prstGeom prst="rect">
            <a:avLst/>
          </a:prstGeom>
          <a:noFill/>
        </p:spPr>
        <p:txBody>
          <a:bodyPr wrap="square" anchor="ctr" lIns="0" rIns="0" tIns="0" bIns="0">
            <a:spAutoFit/>
          </a:bodyPr>
          <a:lstStyle/>
          <a:p>
            <a:pPr algn="ctr">
              <a:lnSpc>
                <a:spcPct val="100000"/>
              </a:lnSpc>
              <a:spcBef>
                <a:spcPts val="0"/>
              </a:spcBef>
              <a:spcAft>
                <a:spcPts val="200"/>
              </a:spcAft>
            </a:pPr>
            <a:r>
              <a:rPr sz="1250" b="1" i="0">
                <a:solidFill>
                  <a:srgbClr val="94A3B8"/>
                </a:solidFill>
                <a:latin typeface="Inter"/>
              </a:rPr>
              <a:t>Anthropic</a:t>
            </a:r>
          </a:p>
          <a:p>
            <a:pPr algn="ctr">
              <a:lnSpc>
                <a:spcPct val="100000"/>
              </a:lnSpc>
              <a:spcBef>
                <a:spcPts val="0"/>
              </a:spcBef>
              <a:spcAft>
                <a:spcPts val="400"/>
              </a:spcAft>
            </a:pPr>
            <a:r>
              <a:rPr sz="800" b="0" i="0">
                <a:solidFill>
                  <a:srgbClr val="64748B"/>
                </a:solidFill>
                <a:latin typeface="JetBrains Mono"/>
              </a:rPr>
              <a:t>claude-sonnet-4-6</a:t>
            </a:r>
          </a:p>
        </p:txBody>
      </p:sp>
      <p:sp>
        <p:nvSpPr>
          <p:cNvPr id="21" name="Rounded Rectangle 20"/>
          <p:cNvSpPr/>
          <p:nvPr/>
        </p:nvSpPr>
        <p:spPr>
          <a:xfrm>
            <a:off x="8138160" y="1783080"/>
            <a:ext cx="3276295" cy="3849624"/>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1975104"/>
            <a:ext cx="2819095" cy="3566160"/>
          </a:xfrm>
          <a:prstGeom prst="rect">
            <a:avLst/>
          </a:prstGeom>
          <a:noFill/>
        </p:spPr>
        <p:txBody>
          <a:bodyPr wrap="square" anchor="t" lIns="0" rIns="0" tIns="0" bIns="0">
            <a:spAutoFit/>
          </a:bodyPr>
          <a:lstStyle/>
          <a:p>
            <a:pPr algn="l">
              <a:lnSpc>
                <a:spcPct val="112000"/>
              </a:lnSpc>
              <a:spcBef>
                <a:spcPts val="0"/>
              </a:spcBef>
              <a:spcAft>
                <a:spcPts val="900"/>
              </a:spcAft>
            </a:pPr>
            <a:r>
              <a:rPr sz="1050" b="1" i="0" spc="200">
                <a:solidFill>
                  <a:srgbClr val="C9A961"/>
                </a:solidFill>
                <a:latin typeface="Inter"/>
              </a:rPr>
              <a:t>PERSISTENCE</a:t>
            </a:r>
          </a:p>
          <a:p>
            <a:pPr algn="l">
              <a:lnSpc>
                <a:spcPct val="112000"/>
              </a:lnSpc>
              <a:spcBef>
                <a:spcPts val="0"/>
              </a:spcBef>
              <a:spcAft>
                <a:spcPts val="300"/>
              </a:spcAft>
            </a:pPr>
            <a:r>
              <a:rPr sz="1250" b="1" i="0">
                <a:solidFill>
                  <a:srgbClr val="F0F4F8"/>
                </a:solidFill>
                <a:latin typeface="Inter"/>
              </a:rPr>
              <a:t>File-based by default</a:t>
            </a:r>
          </a:p>
          <a:p>
            <a:pPr algn="l">
              <a:lnSpc>
                <a:spcPct val="105000"/>
              </a:lnSpc>
              <a:spcBef>
                <a:spcPts val="0"/>
              </a:spcBef>
              <a:spcAft>
                <a:spcPts val="300"/>
              </a:spcAft>
            </a:pPr>
            <a:r>
              <a:rPr sz="860" b="0" i="0">
                <a:solidFill>
                  <a:srgbClr val="94A3B8"/>
                </a:solidFill>
                <a:latin typeface="JetBrains Mono"/>
              </a:rPr>
              <a:t>output/raw/  — 100 entity profiles</a:t>
            </a:r>
          </a:p>
          <a:p>
            <a:pPr algn="l">
              <a:lnSpc>
                <a:spcPct val="105000"/>
              </a:lnSpc>
              <a:spcBef>
                <a:spcPts val="0"/>
              </a:spcBef>
              <a:spcAft>
                <a:spcPts val="300"/>
              </a:spcAft>
            </a:pPr>
            <a:r>
              <a:rPr sz="860" b="0" i="0">
                <a:solidFill>
                  <a:srgbClr val="94A3B8"/>
                </a:solidFill>
                <a:latin typeface="JetBrains Mono"/>
              </a:rPr>
              <a:t>output/raw/traversal/  — 66 graphs</a:t>
            </a:r>
          </a:p>
          <a:p>
            <a:pPr algn="l">
              <a:lnSpc>
                <a:spcPct val="105000"/>
              </a:lnSpc>
              <a:spcBef>
                <a:spcPts val="0"/>
              </a:spcBef>
              <a:spcAft>
                <a:spcPts val="300"/>
              </a:spcAft>
            </a:pPr>
            <a:r>
              <a:rPr sz="860" b="0" i="0">
                <a:solidFill>
                  <a:srgbClr val="94A3B8"/>
                </a:solidFill>
                <a:latin typeface="JetBrains Mono"/>
              </a:rPr>
              <a:t>output/runs/  — per-run caches</a:t>
            </a:r>
          </a:p>
          <a:p>
            <a:pPr algn="l">
              <a:lnSpc>
                <a:spcPct val="105000"/>
              </a:lnSpc>
              <a:spcBef>
                <a:spcPts val="0"/>
              </a:spcBef>
              <a:spcAft>
                <a:spcPts val="300"/>
              </a:spcAft>
            </a:pPr>
            <a:r>
              <a:rPr sz="860" b="0" i="0">
                <a:solidFill>
                  <a:srgbClr val="94A3B8"/>
                </a:solidFill>
                <a:latin typeface="JetBrains Mono"/>
              </a:rPr>
              <a:t>output/agent_runs/  — 4 golden traces</a:t>
            </a:r>
          </a:p>
          <a:p>
            <a:pPr algn="l">
              <a:lnSpc>
                <a:spcPct val="112000"/>
              </a:lnSpc>
              <a:spcBef>
                <a:spcPts val="800"/>
              </a:spcBef>
              <a:spcAft>
                <a:spcPts val="300"/>
              </a:spcAft>
            </a:pPr>
            <a:r>
              <a:rPr sz="1250" b="1" i="0">
                <a:solidFill>
                  <a:srgbClr val="F0F4F8"/>
                </a:solidFill>
                <a:latin typeface="Inter"/>
              </a:rPr>
              <a:t>Optional Postgres</a:t>
            </a:r>
          </a:p>
          <a:p>
            <a:pPr algn="l">
              <a:lnSpc>
                <a:spcPct val="105000"/>
              </a:lnSpc>
              <a:spcBef>
                <a:spcPts val="0"/>
              </a:spcBef>
              <a:spcAft>
                <a:spcPts val="300"/>
              </a:spcAft>
            </a:pPr>
            <a:r>
              <a:rPr sz="860" b="0" i="0">
                <a:solidFill>
                  <a:srgbClr val="94A3B8"/>
                </a:solidFill>
                <a:latin typeface="JetBrains Mono"/>
              </a:rPr>
              <a:t>db/schema.sql  — 6 tables</a:t>
            </a:r>
          </a:p>
          <a:p>
            <a:pPr algn="l">
              <a:lnSpc>
                <a:spcPct val="105000"/>
              </a:lnSpc>
              <a:spcBef>
                <a:spcPts val="0"/>
              </a:spcBef>
              <a:spcAft>
                <a:spcPts val="300"/>
              </a:spcAft>
            </a:pPr>
            <a:r>
              <a:rPr sz="860" b="0" i="0">
                <a:solidFill>
                  <a:srgbClr val="94A3B8"/>
                </a:solidFill>
                <a:latin typeface="JetBrains Mono"/>
              </a:rPr>
              <a:t>pg_trgm OFAC fuzzy match</a:t>
            </a:r>
          </a:p>
          <a:p>
            <a:pPr algn="l">
              <a:lnSpc>
                <a:spcPct val="105000"/>
              </a:lnSpc>
              <a:spcBef>
                <a:spcPts val="0"/>
              </a:spcBef>
              <a:spcAft>
                <a:spcPts val="300"/>
              </a:spcAft>
            </a:pPr>
            <a:r>
              <a:rPr sz="860" b="0" i="0">
                <a:solidFill>
                  <a:srgbClr val="94A3B8"/>
                </a:solidFill>
                <a:latin typeface="JetBrains Mono"/>
              </a:rPr>
              <a:t>code path falls back to files</a:t>
            </a:r>
          </a:p>
        </p:txBody>
      </p:sp>
      <p:sp>
        <p:nvSpPr>
          <p:cNvPr id="23" name="Rounded Rectangle 22"/>
          <p:cNvSpPr/>
          <p:nvPr/>
        </p:nvSpPr>
        <p:spPr>
          <a:xfrm>
            <a:off x="777240" y="5943600"/>
            <a:ext cx="10625328" cy="585216"/>
          </a:xfrm>
          <a:prstGeom prst="roundRect">
            <a:avLst>
              <a:gd name="adj" fmla="val 5500"/>
            </a:avLst>
          </a:prstGeom>
          <a:solidFill>
            <a:srgbClr val="0A1628"/>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6016752"/>
            <a:ext cx="10149840" cy="438912"/>
          </a:xfrm>
          <a:prstGeom prst="rect">
            <a:avLst/>
          </a:prstGeom>
          <a:noFill/>
        </p:spPr>
        <p:txBody>
          <a:bodyPr wrap="square" anchor="ctr" lIns="0" rIns="0" tIns="0" bIns="0">
            <a:spAutoFit/>
          </a:bodyPr>
          <a:lstStyle/>
          <a:p>
            <a:pPr algn="l">
              <a:lnSpc>
                <a:spcPct val="112000"/>
              </a:lnSpc>
              <a:spcBef>
                <a:spcPts val="0"/>
              </a:spcBef>
              <a:spcAft>
                <a:spcPts val="0"/>
              </a:spcAft>
            </a:pPr>
            <a:r>
              <a:rPr sz="1050" b="0" i="0">
                <a:solidFill>
                  <a:srgbClr val="C9A961"/>
                </a:solidFill>
                <a:latin typeface="Inter"/>
              </a:rPr>
              <a:t>Cache-first traversal: </a:t>
            </a:r>
            <a:r>
              <a:rPr sz="1050" b="0" i="0">
                <a:solidFill>
                  <a:srgbClr val="94A3B8"/>
                </a:solidFill>
                <a:latin typeface="Inter"/>
              </a:rPr>
              <a:t>every list entity pre-cached, so CACHED mode runs credential-free; live calls write to run-scoped dirs. </a:t>
            </a:r>
            <a:r>
              <a:rPr sz="950" b="0" i="0">
                <a:solidFill>
                  <a:srgbClr val="F0F4F8"/>
                </a:solidFill>
                <a:latin typeface="JetBrains Mono"/>
              </a:rPr>
              <a:t>Every tool returns CitedResult(data, source).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0"/>
              </a:spcAft>
            </a:pPr>
            <a:r>
              <a:rPr sz="1250" b="1" i="0" spc="220">
                <a:solidFill>
                  <a:srgbClr val="94A3B8"/>
                </a:solidFill>
                <a:latin typeface="Inter"/>
              </a:rPr>
              <a:t>ARCHITECTURAL DECISIONS — WHAT I CHOSE, WHAT I REJECTED</a:t>
            </a:r>
          </a:p>
        </p:txBody>
      </p:sp>
      <p:sp>
        <p:nvSpPr>
          <p:cNvPr id="3" name="TextBox 2"/>
          <p:cNvSpPr txBox="1"/>
          <p:nvPr/>
        </p:nvSpPr>
        <p:spPr>
          <a:xfrm>
            <a:off x="777240" y="932688"/>
            <a:ext cx="10607040" cy="914400"/>
          </a:xfrm>
          <a:prstGeom prst="rect">
            <a:avLst/>
          </a:prstGeom>
          <a:noFill/>
        </p:spPr>
        <p:txBody>
          <a:bodyPr wrap="square" anchor="t" lIns="0" rIns="0" tIns="0" bIns="0">
            <a:spAutoFit/>
          </a:bodyPr>
          <a:lstStyle/>
          <a:p>
            <a:pPr algn="l">
              <a:lnSpc>
                <a:spcPct val="100000"/>
              </a:lnSpc>
              <a:spcBef>
                <a:spcPts val="0"/>
              </a:spcBef>
              <a:spcAft>
                <a:spcPts val="0"/>
              </a:spcAft>
            </a:pPr>
            <a:r>
              <a:rPr sz="3600" b="0" i="0">
                <a:solidFill>
                  <a:srgbClr val="F0F4F8"/>
                </a:solidFill>
                <a:latin typeface="Cormorant Garamond"/>
              </a:rPr>
              <a:t>Three decisions worth defending</a:t>
            </a:r>
          </a:p>
        </p:txBody>
      </p:sp>
      <p:sp>
        <p:nvSpPr>
          <p:cNvPr id="4" name="Rectangle 3"/>
          <p:cNvSpPr/>
          <p:nvPr/>
        </p:nvSpPr>
        <p:spPr>
          <a:xfrm>
            <a:off x="777240" y="1783080"/>
            <a:ext cx="10607040" cy="11887"/>
          </a:xfrm>
          <a:prstGeom prst="rect">
            <a:avLst/>
          </a:prstGeom>
          <a:solidFill>
            <a:srgbClr val="2A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956816"/>
            <a:ext cx="10625328" cy="1389888"/>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956816"/>
            <a:ext cx="54864" cy="1389888"/>
          </a:xfrm>
          <a:prstGeom prst="rect">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084832"/>
            <a:ext cx="822960" cy="1097280"/>
          </a:xfrm>
          <a:prstGeom prst="rect">
            <a:avLst/>
          </a:prstGeom>
          <a:noFill/>
        </p:spPr>
        <p:txBody>
          <a:bodyPr wrap="square" anchor="t" lIns="0" rIns="0" tIns="0" bIns="0">
            <a:spAutoFit/>
          </a:bodyPr>
          <a:lstStyle/>
          <a:p>
            <a:pPr algn="l">
              <a:lnSpc>
                <a:spcPct val="112000"/>
              </a:lnSpc>
              <a:spcBef>
                <a:spcPts val="0"/>
              </a:spcBef>
              <a:spcAft>
                <a:spcPts val="0"/>
              </a:spcAft>
            </a:pPr>
            <a:r>
              <a:rPr sz="3400" b="0" i="0">
                <a:solidFill>
                  <a:srgbClr val="8A7440"/>
                </a:solidFill>
                <a:latin typeface="Cormorant Garamond"/>
              </a:rPr>
              <a:t>01</a:t>
            </a:r>
          </a:p>
        </p:txBody>
      </p:sp>
      <p:sp>
        <p:nvSpPr>
          <p:cNvPr id="8" name="TextBox 7"/>
          <p:cNvSpPr txBox="1"/>
          <p:nvPr/>
        </p:nvSpPr>
        <p:spPr>
          <a:xfrm>
            <a:off x="1874519" y="2103120"/>
            <a:ext cx="9326880" cy="1133856"/>
          </a:xfrm>
          <a:prstGeom prst="rect">
            <a:avLst/>
          </a:prstGeom>
          <a:noFill/>
        </p:spPr>
        <p:txBody>
          <a:bodyPr wrap="square" anchor="t" lIns="0" rIns="0" tIns="0" bIns="0">
            <a:spAutoFit/>
          </a:bodyPr>
          <a:lstStyle/>
          <a:p>
            <a:pPr algn="l">
              <a:lnSpc>
                <a:spcPct val="100000"/>
              </a:lnSpc>
              <a:spcBef>
                <a:spcPts val="0"/>
              </a:spcBef>
              <a:spcAft>
                <a:spcPts val="400"/>
              </a:spcAft>
            </a:pPr>
            <a:r>
              <a:rPr sz="1800" b="0" i="0">
                <a:solidFill>
                  <a:srgbClr val="F0F4F8"/>
                </a:solidFill>
                <a:latin typeface="Cormorant Garamond"/>
              </a:rPr>
              <a:t>No LLM in the data path</a:t>
            </a:r>
          </a:p>
          <a:p>
            <a:pPr algn="l">
              <a:lnSpc>
                <a:spcPct val="105000"/>
              </a:lnSpc>
              <a:spcBef>
                <a:spcPts val="0"/>
              </a:spcBef>
              <a:spcAft>
                <a:spcPts val="200"/>
              </a:spcAft>
            </a:pPr>
            <a:r>
              <a:rPr sz="950" b="1" i="0">
                <a:solidFill>
                  <a:srgbClr val="C9A961"/>
                </a:solidFill>
                <a:latin typeface="Inter"/>
              </a:rPr>
              <a:t>Chose  </a:t>
            </a:r>
            <a:r>
              <a:rPr sz="950" b="0" i="0">
                <a:solidFill>
                  <a:srgbClr val="94A3B8"/>
                </a:solidFill>
                <a:latin typeface="Inter"/>
              </a:rPr>
              <a:t>a deterministic engine produces every number; the agent may only call typed tools that return cited results.</a:t>
            </a:r>
          </a:p>
          <a:p>
            <a:pPr algn="l">
              <a:lnSpc>
                <a:spcPct val="105000"/>
              </a:lnSpc>
              <a:spcBef>
                <a:spcPts val="0"/>
              </a:spcBef>
              <a:spcAft>
                <a:spcPts val="200"/>
              </a:spcAft>
            </a:pPr>
            <a:r>
              <a:rPr sz="950" b="1" i="0">
                <a:solidFill>
                  <a:srgbClr val="64748B"/>
                </a:solidFill>
                <a:latin typeface="Inter"/>
              </a:rPr>
              <a:t>Rejected  </a:t>
            </a:r>
            <a:r>
              <a:rPr sz="950" b="0" i="0">
                <a:solidFill>
                  <a:srgbClr val="94A3B8"/>
                </a:solidFill>
                <a:latin typeface="Inter"/>
              </a:rPr>
              <a:t>RAG over embedded JSON (destroys field structure, breaks citations); letting the model compute or summarize figures directly.</a:t>
            </a:r>
          </a:p>
          <a:p>
            <a:pPr algn="l">
              <a:lnSpc>
                <a:spcPct val="105000"/>
              </a:lnSpc>
              <a:spcBef>
                <a:spcPts val="0"/>
              </a:spcBef>
              <a:spcAft>
                <a:spcPts val="200"/>
              </a:spcAft>
            </a:pPr>
            <a:r>
              <a:rPr sz="950" b="1" i="0">
                <a:solidFill>
                  <a:srgbClr val="C9A961"/>
                </a:solidFill>
                <a:latin typeface="Inter"/>
              </a:rPr>
              <a:t>Why  </a:t>
            </a:r>
            <a:r>
              <a:rPr sz="950" b="0" i="0">
                <a:solidFill>
                  <a:srgbClr val="94A3B8"/>
                </a:solidFill>
                <a:latin typeface="Inter"/>
              </a:rPr>
              <a:t>a compliance officer must trace any value to a Sayari field six months later. Trust is structural, not prompt-engineered.</a:t>
            </a:r>
          </a:p>
        </p:txBody>
      </p:sp>
      <p:sp>
        <p:nvSpPr>
          <p:cNvPr id="9" name="TextBox 8"/>
          <p:cNvSpPr txBox="1"/>
          <p:nvPr/>
        </p:nvSpPr>
        <p:spPr>
          <a:xfrm>
            <a:off x="1874519" y="3108960"/>
            <a:ext cx="9326880" cy="201168"/>
          </a:xfrm>
          <a:prstGeom prst="rect">
            <a:avLst/>
          </a:prstGeom>
          <a:noFill/>
        </p:spPr>
        <p:txBody>
          <a:bodyPr wrap="square" anchor="t" lIns="0" rIns="0" tIns="0" bIns="0">
            <a:spAutoFit/>
          </a:bodyPr>
          <a:lstStyle/>
          <a:p>
            <a:pPr>
              <a:lnSpc>
                <a:spcPct val="105000"/>
              </a:lnSpc>
              <a:spcAft>
                <a:spcPts val="200"/>
              </a:spcAft>
            </a:pPr>
            <a:r>
              <a:rPr sz="780">
                <a:solidFill>
                  <a:srgbClr val="8A7440"/>
                </a:solidFill>
                <a:latin typeface="JetBrains Mono"/>
                <a:hlinkClick r:id="rId2"/>
              </a:rPr>
              <a:t>packages/engine/profile.py:26-118</a:t>
            </a:r>
            <a:r>
              <a:rPr sz="780">
                <a:solidFill>
                  <a:srgbClr val="64748B"/>
                </a:solidFill>
                <a:latin typeface="JetBrains Mono"/>
              </a:rPr>
              <a:t>  ·  </a:t>
            </a:r>
            <a:r>
              <a:rPr sz="780">
                <a:solidFill>
                  <a:srgbClr val="8A7440"/>
                </a:solidFill>
                <a:latin typeface="JetBrains Mono"/>
                <a:hlinkClick r:id="rId3"/>
              </a:rPr>
              <a:t>services/api/agent/runner.py</a:t>
            </a:r>
          </a:p>
        </p:txBody>
      </p:sp>
      <p:sp>
        <p:nvSpPr>
          <p:cNvPr id="10" name="Rounded Rectangle 9"/>
          <p:cNvSpPr/>
          <p:nvPr/>
        </p:nvSpPr>
        <p:spPr>
          <a:xfrm>
            <a:off x="777240" y="3456432"/>
            <a:ext cx="10625328" cy="1389888"/>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56432"/>
            <a:ext cx="54864" cy="1389888"/>
          </a:xfrm>
          <a:prstGeom prst="rect">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584448"/>
            <a:ext cx="822960" cy="1097280"/>
          </a:xfrm>
          <a:prstGeom prst="rect">
            <a:avLst/>
          </a:prstGeom>
          <a:noFill/>
        </p:spPr>
        <p:txBody>
          <a:bodyPr wrap="square" anchor="t" lIns="0" rIns="0" tIns="0" bIns="0">
            <a:spAutoFit/>
          </a:bodyPr>
          <a:lstStyle/>
          <a:p>
            <a:pPr algn="l">
              <a:lnSpc>
                <a:spcPct val="112000"/>
              </a:lnSpc>
              <a:spcBef>
                <a:spcPts val="0"/>
              </a:spcBef>
              <a:spcAft>
                <a:spcPts val="0"/>
              </a:spcAft>
            </a:pPr>
            <a:r>
              <a:rPr sz="3400" b="0" i="0">
                <a:solidFill>
                  <a:srgbClr val="8A7440"/>
                </a:solidFill>
                <a:latin typeface="Cormorant Garamond"/>
              </a:rPr>
              <a:t>02</a:t>
            </a:r>
          </a:p>
        </p:txBody>
      </p:sp>
      <p:sp>
        <p:nvSpPr>
          <p:cNvPr id="13" name="TextBox 12"/>
          <p:cNvSpPr txBox="1"/>
          <p:nvPr/>
        </p:nvSpPr>
        <p:spPr>
          <a:xfrm>
            <a:off x="1874519" y="3602736"/>
            <a:ext cx="9326880" cy="1133856"/>
          </a:xfrm>
          <a:prstGeom prst="rect">
            <a:avLst/>
          </a:prstGeom>
          <a:noFill/>
        </p:spPr>
        <p:txBody>
          <a:bodyPr wrap="square" anchor="t" lIns="0" rIns="0" tIns="0" bIns="0">
            <a:spAutoFit/>
          </a:bodyPr>
          <a:lstStyle/>
          <a:p>
            <a:pPr algn="l">
              <a:lnSpc>
                <a:spcPct val="100000"/>
              </a:lnSpc>
              <a:spcBef>
                <a:spcPts val="0"/>
              </a:spcBef>
              <a:spcAft>
                <a:spcPts val="400"/>
              </a:spcAft>
            </a:pPr>
            <a:r>
              <a:rPr sz="1800" b="0" i="0">
                <a:solidFill>
                  <a:srgbClr val="F0F4F8"/>
                </a:solidFill>
                <a:latin typeface="Cormorant Garamond"/>
              </a:rPr>
              <a:t>A steelmanned OFAC baseline</a:t>
            </a:r>
          </a:p>
          <a:p>
            <a:pPr algn="l">
              <a:lnSpc>
                <a:spcPct val="105000"/>
              </a:lnSpc>
              <a:spcBef>
                <a:spcPts val="0"/>
              </a:spcBef>
              <a:spcAft>
                <a:spcPts val="200"/>
              </a:spcAft>
            </a:pPr>
            <a:r>
              <a:rPr sz="950" b="1" i="0">
                <a:solidFill>
                  <a:srgbClr val="C9A961"/>
                </a:solidFill>
                <a:latin typeface="Inter"/>
              </a:rPr>
              <a:t>Chose  </a:t>
            </a:r>
            <a:r>
              <a:rPr sz="950" b="0" i="0">
                <a:solidFill>
                  <a:srgbClr val="94A3B8"/>
                </a:solidFill>
                <a:latin typeface="Inter"/>
              </a:rPr>
              <a:t>a fair name-screen with unidecode transliteration + alias indexing, scored at the same 0.85 threshold as Sayari.</a:t>
            </a:r>
          </a:p>
          <a:p>
            <a:pPr algn="l">
              <a:lnSpc>
                <a:spcPct val="105000"/>
              </a:lnSpc>
              <a:spcBef>
                <a:spcPts val="0"/>
              </a:spcBef>
              <a:spcAft>
                <a:spcPts val="200"/>
              </a:spcAft>
            </a:pPr>
            <a:r>
              <a:rPr sz="950" b="1" i="0">
                <a:solidFill>
                  <a:srgbClr val="64748B"/>
                </a:solidFill>
                <a:latin typeface="Inter"/>
              </a:rPr>
              <a:t>Rejected  </a:t>
            </a:r>
            <a:r>
              <a:rPr sz="950" b="0" i="0">
                <a:solidFill>
                  <a:srgbClr val="94A3B8"/>
                </a:solidFill>
                <a:latin typeface="Inter"/>
              </a:rPr>
              <a:t>a weak ASCII-only matcher that would have inflated Sayari's catch count and made the comparison dishonest.</a:t>
            </a:r>
          </a:p>
          <a:p>
            <a:pPr algn="l">
              <a:lnSpc>
                <a:spcPct val="105000"/>
              </a:lnSpc>
              <a:spcBef>
                <a:spcPts val="0"/>
              </a:spcBef>
              <a:spcAft>
                <a:spcPts val="200"/>
              </a:spcAft>
            </a:pPr>
            <a:r>
              <a:rPr sz="950" b="1" i="0">
                <a:solidFill>
                  <a:srgbClr val="C9A961"/>
                </a:solidFill>
                <a:latin typeface="Inter"/>
              </a:rPr>
              <a:t>Why  </a:t>
            </a:r>
            <a:r>
              <a:rPr sz="950" b="0" i="0">
                <a:solidFill>
                  <a:srgbClr val="94A3B8"/>
                </a:solidFill>
                <a:latin typeface="Inter"/>
              </a:rPr>
              <a:t>the structural argument — Sayari catches the ownership gap — has to survive an honest baseline. It moved the number from 41 to 33, and it still wins.</a:t>
            </a:r>
          </a:p>
        </p:txBody>
      </p:sp>
      <p:sp>
        <p:nvSpPr>
          <p:cNvPr id="14" name="TextBox 13"/>
          <p:cNvSpPr txBox="1"/>
          <p:nvPr/>
        </p:nvSpPr>
        <p:spPr>
          <a:xfrm>
            <a:off x="1874519" y="4608576"/>
            <a:ext cx="9326880" cy="201168"/>
          </a:xfrm>
          <a:prstGeom prst="rect">
            <a:avLst/>
          </a:prstGeom>
          <a:noFill/>
        </p:spPr>
        <p:txBody>
          <a:bodyPr wrap="square" anchor="t" lIns="0" rIns="0" tIns="0" bIns="0">
            <a:spAutoFit/>
          </a:bodyPr>
          <a:lstStyle/>
          <a:p>
            <a:pPr>
              <a:lnSpc>
                <a:spcPct val="105000"/>
              </a:lnSpc>
              <a:spcAft>
                <a:spcPts val="200"/>
              </a:spcAft>
            </a:pPr>
            <a:r>
              <a:rPr sz="780">
                <a:solidFill>
                  <a:srgbClr val="8A7440"/>
                </a:solidFill>
                <a:latin typeface="JetBrains Mono"/>
                <a:hlinkClick r:id="rId4"/>
              </a:rPr>
              <a:t>services/api/ofac/matcher.py:76-102</a:t>
            </a:r>
            <a:r>
              <a:rPr sz="780">
                <a:solidFill>
                  <a:srgbClr val="64748B"/>
                </a:solidFill>
                <a:latin typeface="JetBrains Mono"/>
              </a:rPr>
              <a:t>  ·  </a:t>
            </a:r>
            <a:r>
              <a:rPr sz="780">
                <a:solidFill>
                  <a:srgbClr val="8A7440"/>
                </a:solidFill>
                <a:latin typeface="JetBrains Mono"/>
                <a:hlinkClick r:id="rId5"/>
              </a:rPr>
              <a:t>services/api/tools/screen_ofac.py:37-98</a:t>
            </a:r>
          </a:p>
        </p:txBody>
      </p:sp>
      <p:sp>
        <p:nvSpPr>
          <p:cNvPr id="15" name="Rounded Rectangle 14"/>
          <p:cNvSpPr/>
          <p:nvPr/>
        </p:nvSpPr>
        <p:spPr>
          <a:xfrm>
            <a:off x="777240" y="4956048"/>
            <a:ext cx="10625328" cy="1389888"/>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956048"/>
            <a:ext cx="54864" cy="1389888"/>
          </a:xfrm>
          <a:prstGeom prst="rect">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084064"/>
            <a:ext cx="822960" cy="1097280"/>
          </a:xfrm>
          <a:prstGeom prst="rect">
            <a:avLst/>
          </a:prstGeom>
          <a:noFill/>
        </p:spPr>
        <p:txBody>
          <a:bodyPr wrap="square" anchor="t" lIns="0" rIns="0" tIns="0" bIns="0">
            <a:spAutoFit/>
          </a:bodyPr>
          <a:lstStyle/>
          <a:p>
            <a:pPr algn="l">
              <a:lnSpc>
                <a:spcPct val="112000"/>
              </a:lnSpc>
              <a:spcBef>
                <a:spcPts val="0"/>
              </a:spcBef>
              <a:spcAft>
                <a:spcPts val="0"/>
              </a:spcAft>
            </a:pPr>
            <a:r>
              <a:rPr sz="3400" b="0" i="0">
                <a:solidFill>
                  <a:srgbClr val="8A7440"/>
                </a:solidFill>
                <a:latin typeface="Cormorant Garamond"/>
              </a:rPr>
              <a:t>03</a:t>
            </a:r>
          </a:p>
        </p:txBody>
      </p:sp>
      <p:sp>
        <p:nvSpPr>
          <p:cNvPr id="18" name="TextBox 17"/>
          <p:cNvSpPr txBox="1"/>
          <p:nvPr/>
        </p:nvSpPr>
        <p:spPr>
          <a:xfrm>
            <a:off x="1874519" y="5102352"/>
            <a:ext cx="9326880" cy="1133856"/>
          </a:xfrm>
          <a:prstGeom prst="rect">
            <a:avLst/>
          </a:prstGeom>
          <a:noFill/>
        </p:spPr>
        <p:txBody>
          <a:bodyPr wrap="square" anchor="t" lIns="0" rIns="0" tIns="0" bIns="0">
            <a:spAutoFit/>
          </a:bodyPr>
          <a:lstStyle/>
          <a:p>
            <a:pPr algn="l">
              <a:lnSpc>
                <a:spcPct val="100000"/>
              </a:lnSpc>
              <a:spcBef>
                <a:spcPts val="0"/>
              </a:spcBef>
              <a:spcAft>
                <a:spcPts val="400"/>
              </a:spcAft>
            </a:pPr>
            <a:r>
              <a:rPr sz="1800" b="0" i="0">
                <a:solidFill>
                  <a:srgbClr val="F0F4F8"/>
                </a:solidFill>
                <a:latin typeface="Cormorant Garamond"/>
              </a:rPr>
              <a:t>Pinned parent IDs with audit comments</a:t>
            </a:r>
          </a:p>
          <a:p>
            <a:pPr algn="l">
              <a:lnSpc>
                <a:spcPct val="105000"/>
              </a:lnSpc>
              <a:spcBef>
                <a:spcPts val="0"/>
              </a:spcBef>
              <a:spcAft>
                <a:spcPts val="200"/>
              </a:spcAft>
            </a:pPr>
            <a:r>
              <a:rPr sz="950" b="1" i="0">
                <a:solidFill>
                  <a:srgbClr val="C9A961"/>
                </a:solidFill>
                <a:latin typeface="Inter"/>
              </a:rPr>
              <a:t>Chose  </a:t>
            </a:r>
            <a:r>
              <a:rPr sz="950" b="0" i="0">
                <a:solidFill>
                  <a:srgbClr val="94A3B8"/>
                </a:solidFill>
                <a:latin typeface="Inter"/>
              </a:rPr>
              <a:t>four marquee entities (Sberbank, VTB, Transneft, Kalashnikov) pinned to verified parent IDs, each with a why-comment.</a:t>
            </a:r>
          </a:p>
          <a:p>
            <a:pPr algn="l">
              <a:lnSpc>
                <a:spcPct val="105000"/>
              </a:lnSpc>
              <a:spcBef>
                <a:spcPts val="0"/>
              </a:spcBef>
              <a:spcAft>
                <a:spcPts val="200"/>
              </a:spcAft>
            </a:pPr>
            <a:r>
              <a:rPr sz="950" b="1" i="0">
                <a:solidFill>
                  <a:srgbClr val="64748B"/>
                </a:solidFill>
                <a:latin typeface="Inter"/>
              </a:rPr>
              <a:t>Rejected  </a:t>
            </a:r>
            <a:r>
              <a:rPr sz="950" b="0" i="0">
                <a:solidFill>
                  <a:srgbClr val="94A3B8"/>
                </a:solidFill>
                <a:latin typeface="Inter"/>
              </a:rPr>
              <a:t>accepting Sayari's top match blindly — which returned a degree-780 back-office LLC for Sberbank, not the degree-59,632 parent.</a:t>
            </a:r>
          </a:p>
          <a:p>
            <a:pPr algn="l">
              <a:lnSpc>
                <a:spcPct val="105000"/>
              </a:lnSpc>
              <a:spcBef>
                <a:spcPts val="0"/>
              </a:spcBef>
              <a:spcAft>
                <a:spcPts val="200"/>
              </a:spcAft>
            </a:pPr>
            <a:r>
              <a:rPr sz="950" b="1" i="0">
                <a:solidFill>
                  <a:srgbClr val="C9A961"/>
                </a:solidFill>
                <a:latin typeface="Inter"/>
              </a:rPr>
              <a:t>Why  </a:t>
            </a:r>
            <a:r>
              <a:rPr sz="950" b="0" i="0">
                <a:solidFill>
                  <a:srgbClr val="94A3B8"/>
                </a:solidFill>
                <a:latin typeface="Inter"/>
              </a:rPr>
              <a:t>resolution is the make-or-break step. I verified each pin by relationship degree + tax/registration ID, and documented the path to re-verify.</a:t>
            </a:r>
          </a:p>
        </p:txBody>
      </p:sp>
      <p:sp>
        <p:nvSpPr>
          <p:cNvPr id="19" name="TextBox 18"/>
          <p:cNvSpPr txBox="1"/>
          <p:nvPr/>
        </p:nvSpPr>
        <p:spPr>
          <a:xfrm>
            <a:off x="1874519" y="6108192"/>
            <a:ext cx="9326880" cy="201168"/>
          </a:xfrm>
          <a:prstGeom prst="rect">
            <a:avLst/>
          </a:prstGeom>
          <a:noFill/>
        </p:spPr>
        <p:txBody>
          <a:bodyPr wrap="square" anchor="t" lIns="0" rIns="0" tIns="0" bIns="0">
            <a:spAutoFit/>
          </a:bodyPr>
          <a:lstStyle/>
          <a:p>
            <a:pPr>
              <a:lnSpc>
                <a:spcPct val="105000"/>
              </a:lnSpc>
              <a:spcAft>
                <a:spcPts val="200"/>
              </a:spcAft>
            </a:pPr>
            <a:r>
              <a:rPr sz="780">
                <a:solidFill>
                  <a:srgbClr val="8A7440"/>
                </a:solidFill>
                <a:latin typeface="JetBrains Mono"/>
                <a:hlinkClick r:id="rId6"/>
              </a:rPr>
              <a:t>packages/engine/resolve.py:15-34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0"/>
              </a:spcAft>
            </a:pPr>
            <a:r>
              <a:rPr sz="1250" b="1" i="0" spc="220">
                <a:solidFill>
                  <a:srgbClr val="94A3B8"/>
                </a:solidFill>
                <a:latin typeface="Inter"/>
              </a:rPr>
              <a:t>PRODUCTION DEPLOYMENT — DESIGNED FOR THE CUSTOMER</a:t>
            </a:r>
          </a:p>
        </p:txBody>
      </p:sp>
      <p:sp>
        <p:nvSpPr>
          <p:cNvPr id="3" name="TextBox 2"/>
          <p:cNvSpPr txBox="1"/>
          <p:nvPr/>
        </p:nvSpPr>
        <p:spPr>
          <a:xfrm>
            <a:off x="777240" y="932688"/>
            <a:ext cx="10607040" cy="914400"/>
          </a:xfrm>
          <a:prstGeom prst="rect">
            <a:avLst/>
          </a:prstGeom>
          <a:noFill/>
        </p:spPr>
        <p:txBody>
          <a:bodyPr wrap="square" anchor="t" lIns="0" rIns="0" tIns="0" bIns="0">
            <a:spAutoFit/>
          </a:bodyPr>
          <a:lstStyle/>
          <a:p>
            <a:pPr algn="l">
              <a:lnSpc>
                <a:spcPct val="100000"/>
              </a:lnSpc>
              <a:spcBef>
                <a:spcPts val="0"/>
              </a:spcBef>
              <a:spcAft>
                <a:spcPts val="0"/>
              </a:spcAft>
            </a:pPr>
            <a:r>
              <a:rPr sz="2900" b="0" i="0">
                <a:solidFill>
                  <a:srgbClr val="F0F4F8"/>
                </a:solidFill>
                <a:latin typeface="Cormorant Garamond"/>
              </a:rPr>
              <a:t>Customer-deployed containers, not multi-tenant SaaS</a:t>
            </a:r>
          </a:p>
        </p:txBody>
      </p:sp>
      <p:sp>
        <p:nvSpPr>
          <p:cNvPr id="4" name="Rectangle 3"/>
          <p:cNvSpPr/>
          <p:nvPr/>
        </p:nvSpPr>
        <p:spPr>
          <a:xfrm>
            <a:off x="777240" y="1755648"/>
            <a:ext cx="10607040" cy="11887"/>
          </a:xfrm>
          <a:prstGeom prst="rect">
            <a:avLst/>
          </a:prstGeom>
          <a:solidFill>
            <a:srgbClr val="2A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901952"/>
            <a:ext cx="10625328" cy="960120"/>
          </a:xfrm>
          <a:prstGeom prst="roundRect">
            <a:avLst>
              <a:gd name="adj" fmla="val 5500"/>
            </a:avLst>
          </a:prstGeom>
          <a:solidFill>
            <a:srgbClr val="1A2436"/>
          </a:solidFill>
          <a:ln w="9525">
            <a:solidFill>
              <a:srgbClr val="8A7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011680"/>
            <a:ext cx="10149840" cy="777240"/>
          </a:xfrm>
          <a:prstGeom prst="rect">
            <a:avLst/>
          </a:prstGeom>
          <a:noFill/>
        </p:spPr>
        <p:txBody>
          <a:bodyPr wrap="square" anchor="ctr" lIns="0" rIns="0" tIns="0" bIns="0">
            <a:spAutoFit/>
          </a:bodyPr>
          <a:lstStyle/>
          <a:p>
            <a:pPr algn="l">
              <a:lnSpc>
                <a:spcPct val="112000"/>
              </a:lnSpc>
              <a:spcBef>
                <a:spcPts val="0"/>
              </a:spcBef>
              <a:spcAft>
                <a:spcPts val="400"/>
              </a:spcAft>
            </a:pPr>
            <a:r>
              <a:rPr sz="1000" b="1" i="0" spc="180">
                <a:solidFill>
                  <a:srgbClr val="C9A961"/>
                </a:solidFill>
                <a:latin typeface="Inter"/>
              </a:rPr>
              <a:t>THE RECOMMENDATION</a:t>
            </a:r>
          </a:p>
          <a:p>
            <a:pPr algn="l">
              <a:lnSpc>
                <a:spcPct val="112000"/>
              </a:lnSpc>
              <a:spcBef>
                <a:spcPts val="0"/>
              </a:spcBef>
              <a:spcAft>
                <a:spcPts val="0"/>
              </a:spcAft>
            </a:pPr>
            <a:r>
              <a:rPr sz="1100" b="0" i="0">
                <a:solidFill>
                  <a:srgbClr val="94A3B8"/>
                </a:solidFill>
                <a:latin typeface="Inter"/>
              </a:rPr>
              <a:t>For a FINMA-regulated firm like Meridian, the defensible posture is customer-controlled infrastructure: containerized services deployed into Meridian's own cloud tenant in europe-west6 (Zurich). Their SRE owns infrastructure; Sayari provides the application layer plus deployment templates and runbooks.</a:t>
            </a:r>
          </a:p>
        </p:txBody>
      </p:sp>
      <p:sp>
        <p:nvSpPr>
          <p:cNvPr id="7" name="Rounded Rectangle 6"/>
          <p:cNvSpPr/>
          <p:nvPr/>
        </p:nvSpPr>
        <p:spPr>
          <a:xfrm>
            <a:off x="777240" y="3035808"/>
            <a:ext cx="5184648" cy="2697480"/>
          </a:xfrm>
          <a:prstGeom prst="roundRect">
            <a:avLst>
              <a:gd name="adj" fmla="val 5500"/>
            </a:avLst>
          </a:prstGeom>
          <a:solidFill>
            <a:srgbClr val="0A1628"/>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00400"/>
            <a:ext cx="4754880" cy="2377440"/>
          </a:xfrm>
          <a:prstGeom prst="rect">
            <a:avLst/>
          </a:prstGeom>
          <a:noFill/>
        </p:spPr>
        <p:txBody>
          <a:bodyPr wrap="square" anchor="t" lIns="0" rIns="0" tIns="0" bIns="0">
            <a:spAutoFit/>
          </a:bodyPr>
          <a:lstStyle/>
          <a:p>
            <a:pPr algn="l">
              <a:lnSpc>
                <a:spcPct val="112000"/>
              </a:lnSpc>
              <a:spcBef>
                <a:spcPts val="0"/>
              </a:spcBef>
              <a:spcAft>
                <a:spcPts val="800"/>
              </a:spcAft>
            </a:pPr>
            <a:r>
              <a:rPr sz="1000" b="1" i="0" spc="180">
                <a:solidFill>
                  <a:srgbClr val="C9A961"/>
                </a:solidFill>
                <a:latin typeface="Inter"/>
              </a:rPr>
              <a:t>WHY</a:t>
            </a:r>
          </a:p>
          <a:p>
            <a:pPr algn="l">
              <a:lnSpc>
                <a:spcPct val="110000"/>
              </a:lnSpc>
              <a:spcBef>
                <a:spcPts val="0"/>
              </a:spcBef>
              <a:spcAft>
                <a:spcPts val="600"/>
              </a:spcAft>
            </a:pPr>
            <a:r>
              <a:rPr sz="1050" b="1" i="0">
                <a:solidFill>
                  <a:srgbClr val="F0F4F8"/>
                </a:solidFill>
                <a:latin typeface="Inter"/>
              </a:rPr>
              <a:t>Data residency  —  </a:t>
            </a:r>
            <a:r>
              <a:rPr sz="1050" b="0" i="0">
                <a:solidFill>
                  <a:srgbClr val="94A3B8"/>
                </a:solidFill>
                <a:latin typeface="Inter"/>
              </a:rPr>
              <a:t>Swiss banking secrecy + GDPR. Single-tenant in customer region.</a:t>
            </a:r>
          </a:p>
          <a:p>
            <a:pPr algn="l">
              <a:lnSpc>
                <a:spcPct val="110000"/>
              </a:lnSpc>
              <a:spcBef>
                <a:spcPts val="0"/>
              </a:spcBef>
              <a:spcAft>
                <a:spcPts val="600"/>
              </a:spcAft>
            </a:pPr>
            <a:r>
              <a:rPr sz="1050" b="1" i="0">
                <a:solidFill>
                  <a:srgbClr val="F0F4F8"/>
                </a:solidFill>
                <a:latin typeface="Inter"/>
              </a:rPr>
              <a:t>Audit posture  —  </a:t>
            </a:r>
            <a:r>
              <a:rPr sz="1050" b="0" i="0">
                <a:solidFill>
                  <a:srgbClr val="94A3B8"/>
                </a:solidFill>
                <a:latin typeface="Inter"/>
              </a:rPr>
              <a:t>Customer's SOC 2 controls extend to the deployment — no shared-infra caveats.</a:t>
            </a:r>
          </a:p>
          <a:p>
            <a:pPr algn="l">
              <a:lnSpc>
                <a:spcPct val="110000"/>
              </a:lnSpc>
              <a:spcBef>
                <a:spcPts val="0"/>
              </a:spcBef>
              <a:spcAft>
                <a:spcPts val="600"/>
              </a:spcAft>
            </a:pPr>
            <a:r>
              <a:rPr sz="1050" b="1" i="0">
                <a:solidFill>
                  <a:srgbClr val="F0F4F8"/>
                </a:solidFill>
                <a:latin typeface="Inter"/>
              </a:rPr>
              <a:t>Business continuity  —  </a:t>
            </a:r>
            <a:r>
              <a:rPr sz="1050" b="0" i="0">
                <a:solidFill>
                  <a:srgbClr val="94A3B8"/>
                </a:solidFill>
                <a:latin typeface="Inter"/>
              </a:rPr>
              <a:t>Their DR procedures cover it; FINMA sees one control surface.</a:t>
            </a:r>
          </a:p>
          <a:p>
            <a:pPr algn="l">
              <a:lnSpc>
                <a:spcPct val="110000"/>
              </a:lnSpc>
              <a:spcBef>
                <a:spcPts val="0"/>
              </a:spcBef>
              <a:spcAft>
                <a:spcPts val="600"/>
              </a:spcAft>
            </a:pPr>
            <a:r>
              <a:rPr sz="1050" b="1" i="0">
                <a:solidFill>
                  <a:srgbClr val="F0F4F8"/>
                </a:solidFill>
                <a:latin typeface="Inter"/>
              </a:rPr>
              <a:t>Trust  —  </a:t>
            </a:r>
            <a:r>
              <a:rPr sz="1050" b="0" i="0">
                <a:solidFill>
                  <a:srgbClr val="94A3B8"/>
                </a:solidFill>
                <a:latin typeface="Inter"/>
              </a:rPr>
              <a:t>Compliance teams move faster when data never leaves their tenant.</a:t>
            </a:r>
          </a:p>
        </p:txBody>
      </p:sp>
      <p:sp>
        <p:nvSpPr>
          <p:cNvPr id="9" name="Rounded Rectangle 8"/>
          <p:cNvSpPr/>
          <p:nvPr/>
        </p:nvSpPr>
        <p:spPr>
          <a:xfrm>
            <a:off x="6217920" y="3035808"/>
            <a:ext cx="5184648" cy="2697480"/>
          </a:xfrm>
          <a:prstGeom prst="roundRect">
            <a:avLst>
              <a:gd name="adj" fmla="val 5500"/>
            </a:avLst>
          </a:prstGeom>
          <a:solidFill>
            <a:srgbClr val="0A1628"/>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3200400"/>
            <a:ext cx="4754880" cy="2377440"/>
          </a:xfrm>
          <a:prstGeom prst="rect">
            <a:avLst/>
          </a:prstGeom>
          <a:noFill/>
        </p:spPr>
        <p:txBody>
          <a:bodyPr wrap="square" anchor="t" lIns="0" rIns="0" tIns="0" bIns="0">
            <a:spAutoFit/>
          </a:bodyPr>
          <a:lstStyle/>
          <a:p>
            <a:pPr algn="l">
              <a:lnSpc>
                <a:spcPct val="112000"/>
              </a:lnSpc>
              <a:spcBef>
                <a:spcPts val="0"/>
              </a:spcBef>
              <a:spcAft>
                <a:spcPts val="800"/>
              </a:spcAft>
            </a:pPr>
            <a:r>
              <a:rPr sz="1000" b="1" i="0" spc="180">
                <a:solidFill>
                  <a:srgbClr val="C9A961"/>
                </a:solidFill>
                <a:latin typeface="Inter"/>
              </a:rPr>
              <a:t>ALTERNATIVES I CONSIDERED</a:t>
            </a:r>
          </a:p>
          <a:p>
            <a:pPr algn="l">
              <a:lnSpc>
                <a:spcPct val="110000"/>
              </a:lnSpc>
              <a:spcBef>
                <a:spcPts val="0"/>
              </a:spcBef>
              <a:spcAft>
                <a:spcPts val="600"/>
              </a:spcAft>
            </a:pPr>
            <a:r>
              <a:rPr sz="1050" b="1" i="0">
                <a:solidFill>
                  <a:srgbClr val="F0F4F8"/>
                </a:solidFill>
                <a:latin typeface="Inter"/>
              </a:rPr>
              <a:t>Multi-tenant SaaS  —  </a:t>
            </a:r>
            <a:r>
              <a:rPr sz="1050" b="0" i="0">
                <a:solidFill>
                  <a:srgbClr val="94A3B8"/>
                </a:solidFill>
                <a:latin typeface="Inter"/>
              </a:rPr>
              <a:t>Fast to ship; residency caveats are hard for FINMA-grade firms. Fine for smaller customers.</a:t>
            </a:r>
          </a:p>
          <a:p>
            <a:pPr algn="l">
              <a:lnSpc>
                <a:spcPct val="110000"/>
              </a:lnSpc>
              <a:spcBef>
                <a:spcPts val="0"/>
              </a:spcBef>
              <a:spcAft>
                <a:spcPts val="600"/>
              </a:spcAft>
            </a:pPr>
            <a:r>
              <a:rPr sz="1050" b="1" i="0">
                <a:solidFill>
                  <a:srgbClr val="F0F4F8"/>
                </a:solidFill>
                <a:latin typeface="Inter"/>
              </a:rPr>
              <a:t>Sayari-managed dedicated tenant  —  </a:t>
            </a:r>
            <a:r>
              <a:rPr sz="1050" b="0" i="0">
                <a:solidFill>
                  <a:srgbClr val="94A3B8"/>
                </a:solidFill>
                <a:latin typeface="Inter"/>
              </a:rPr>
              <a:t>Single-tenant in customer's region, Sayari-operated. Reasonable middle ground.</a:t>
            </a:r>
          </a:p>
          <a:p>
            <a:pPr algn="l">
              <a:lnSpc>
                <a:spcPct val="110000"/>
              </a:lnSpc>
              <a:spcBef>
                <a:spcPts val="0"/>
              </a:spcBef>
              <a:spcAft>
                <a:spcPts val="600"/>
              </a:spcAft>
            </a:pPr>
            <a:r>
              <a:rPr sz="1050" b="1" i="0">
                <a:solidFill>
                  <a:srgbClr val="F0F4F8"/>
                </a:solidFill>
                <a:latin typeface="Inter"/>
              </a:rPr>
              <a:t>Hybrid (SaaS control plane, customer data plane)  —  </a:t>
            </a:r>
            <a:r>
              <a:rPr sz="1050" b="0" i="0">
                <a:solidFill>
                  <a:srgbClr val="94A3B8"/>
                </a:solidFill>
                <a:latin typeface="Inter"/>
              </a:rPr>
              <a:t>Clean responsibility split, more operational complexity.</a:t>
            </a:r>
          </a:p>
          <a:p>
            <a:pPr algn="l">
              <a:lnSpc>
                <a:spcPct val="110000"/>
              </a:lnSpc>
              <a:spcBef>
                <a:spcPts val="0"/>
              </a:spcBef>
              <a:spcAft>
                <a:spcPts val="600"/>
              </a:spcAft>
            </a:pPr>
            <a:r>
              <a:rPr sz="1050" b="1" i="0">
                <a:solidFill>
                  <a:srgbClr val="F0F4F8"/>
                </a:solidFill>
                <a:latin typeface="Inter"/>
              </a:rPr>
              <a:t>Docker Compose (today)  —  </a:t>
            </a:r>
            <a:r>
              <a:rPr sz="1050" b="0" i="0">
                <a:solidFill>
                  <a:srgbClr val="94A3B8"/>
                </a:solidFill>
                <a:latin typeface="Inter"/>
              </a:rPr>
              <a:t>What the take-home ships — one command, local. The on-ramp, not the destination.</a:t>
            </a:r>
          </a:p>
        </p:txBody>
      </p:sp>
      <p:sp>
        <p:nvSpPr>
          <p:cNvPr id="11" name="TextBox 10"/>
          <p:cNvSpPr txBox="1"/>
          <p:nvPr/>
        </p:nvSpPr>
        <p:spPr>
          <a:xfrm>
            <a:off x="777240" y="5943600"/>
            <a:ext cx="10625328" cy="548640"/>
          </a:xfrm>
          <a:prstGeom prst="rect">
            <a:avLst/>
          </a:prstGeom>
          <a:noFill/>
        </p:spPr>
        <p:txBody>
          <a:bodyPr wrap="square" anchor="t" lIns="0" rIns="0" tIns="0" bIns="0">
            <a:spAutoFit/>
          </a:bodyPr>
          <a:lstStyle/>
          <a:p>
            <a:pPr algn="l">
              <a:lnSpc>
                <a:spcPct val="110000"/>
              </a:lnSpc>
              <a:spcBef>
                <a:spcPts val="0"/>
              </a:spcBef>
              <a:spcAft>
                <a:spcPts val="0"/>
              </a:spcAft>
            </a:pPr>
            <a:r>
              <a:rPr sz="1050" b="0" i="1">
                <a:solidFill>
                  <a:srgbClr val="64748B"/>
                </a:solidFill>
                <a:latin typeface="Inter"/>
              </a:rPr>
              <a:t>I don't presume to know Sayari's existing enterprise deployment playbook — I'd want to learn that first. But for Meridian's compliance profile, customer-deployed is my default, reasoned from first principles.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0"/>
              </a:spcAft>
            </a:pPr>
            <a:r>
              <a:rPr sz="1250" b="1" i="0" spc="220">
                <a:solidFill>
                  <a:srgbClr val="94A3B8"/>
                </a:solidFill>
                <a:latin typeface="Inter"/>
              </a:rPr>
              <a:t>SCOPE DECISIONS &amp; WHAT'S NEXT</a:t>
            </a:r>
          </a:p>
        </p:txBody>
      </p:sp>
      <p:sp>
        <p:nvSpPr>
          <p:cNvPr id="3" name="TextBox 2"/>
          <p:cNvSpPr txBox="1"/>
          <p:nvPr/>
        </p:nvSpPr>
        <p:spPr>
          <a:xfrm>
            <a:off x="777240" y="932688"/>
            <a:ext cx="1060704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F0F4F8"/>
                </a:solidFill>
                <a:latin typeface="Cormorant Garamond"/>
              </a:rPr>
              <a:t>What I deferred, why, and what I'd build next</a:t>
            </a:r>
          </a:p>
        </p:txBody>
      </p:sp>
      <p:sp>
        <p:nvSpPr>
          <p:cNvPr id="4" name="Rectangle 3"/>
          <p:cNvSpPr/>
          <p:nvPr/>
        </p:nvSpPr>
        <p:spPr>
          <a:xfrm>
            <a:off x="777240" y="1783080"/>
            <a:ext cx="10607040" cy="11887"/>
          </a:xfrm>
          <a:prstGeom prst="rect">
            <a:avLst/>
          </a:prstGeom>
          <a:solidFill>
            <a:srgbClr val="2A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938528"/>
            <a:ext cx="5184648" cy="4160520"/>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21408"/>
            <a:ext cx="4754880" cy="3840480"/>
          </a:xfrm>
          <a:prstGeom prst="rect">
            <a:avLst/>
          </a:prstGeom>
          <a:noFill/>
        </p:spPr>
        <p:txBody>
          <a:bodyPr wrap="square" anchor="t" lIns="0" rIns="0" tIns="0" bIns="0">
            <a:spAutoFit/>
          </a:bodyPr>
          <a:lstStyle/>
          <a:p>
            <a:pPr algn="l">
              <a:lnSpc>
                <a:spcPct val="112000"/>
              </a:lnSpc>
              <a:spcBef>
                <a:spcPts val="0"/>
              </a:spcBef>
              <a:spcAft>
                <a:spcPts val="1000"/>
              </a:spcAft>
            </a:pPr>
            <a:r>
              <a:rPr sz="1000" b="1" i="0" spc="120">
                <a:solidFill>
                  <a:srgbClr val="C9A961"/>
                </a:solidFill>
                <a:latin typeface="Inter"/>
              </a:rPr>
              <a:t>DELIBERATELY DEFERRED  ·  TAKE-HOME SCOPE</a:t>
            </a:r>
          </a:p>
          <a:p>
            <a:pPr algn="l">
              <a:lnSpc>
                <a:spcPct val="105000"/>
              </a:lnSpc>
              <a:spcBef>
                <a:spcPts val="0"/>
              </a:spcBef>
              <a:spcAft>
                <a:spcPts val="100"/>
              </a:spcAft>
            </a:pPr>
            <a:r>
              <a:rPr sz="1100" b="1" i="0">
                <a:solidFill>
                  <a:srgbClr val="F0F4F8"/>
                </a:solidFill>
                <a:latin typeface="Inter"/>
              </a:rPr>
              <a:t>Real identity provider</a:t>
            </a:r>
          </a:p>
          <a:p>
            <a:pPr algn="l">
              <a:lnSpc>
                <a:spcPct val="110000"/>
              </a:lnSpc>
              <a:spcBef>
                <a:spcPts val="0"/>
              </a:spcBef>
              <a:spcAft>
                <a:spcPts val="800"/>
              </a:spcAft>
            </a:pPr>
            <a:r>
              <a:rPr sz="1050" b="0" i="0">
                <a:solidFill>
                  <a:srgbClr val="94A3B8"/>
                </a:solidFill>
                <a:latin typeface="Inter"/>
              </a:rPr>
              <a:t>Demo login is a localStorage gate. Real SSO (Okta/Entra) is a known, mechanical add.</a:t>
            </a:r>
          </a:p>
          <a:p>
            <a:pPr algn="l">
              <a:lnSpc>
                <a:spcPct val="105000"/>
              </a:lnSpc>
              <a:spcBef>
                <a:spcPts val="0"/>
              </a:spcBef>
              <a:spcAft>
                <a:spcPts val="100"/>
              </a:spcAft>
            </a:pPr>
            <a:r>
              <a:rPr sz="1100" b="1" i="0">
                <a:solidFill>
                  <a:srgbClr val="F0F4F8"/>
                </a:solidFill>
                <a:latin typeface="Inter"/>
              </a:rPr>
              <a:t>Postgres in production</a:t>
            </a:r>
          </a:p>
          <a:p>
            <a:pPr algn="l">
              <a:lnSpc>
                <a:spcPct val="110000"/>
              </a:lnSpc>
              <a:spcBef>
                <a:spcPts val="0"/>
              </a:spcBef>
              <a:spcAft>
                <a:spcPts val="800"/>
              </a:spcAft>
            </a:pPr>
            <a:r>
              <a:rPr sz="1050" b="0" i="0">
                <a:solidFill>
                  <a:srgbClr val="94A3B8"/>
                </a:solidFill>
                <a:latin typeface="Inter"/>
              </a:rPr>
              <a:t>Schema exists; code falls back to files. No migrations committed.</a:t>
            </a:r>
          </a:p>
          <a:p>
            <a:pPr algn="l">
              <a:lnSpc>
                <a:spcPct val="105000"/>
              </a:lnSpc>
              <a:spcBef>
                <a:spcPts val="0"/>
              </a:spcBef>
              <a:spcAft>
                <a:spcPts val="100"/>
              </a:spcAft>
            </a:pPr>
            <a:r>
              <a:rPr sz="1100" b="1" i="0">
                <a:solidFill>
                  <a:srgbClr val="F0F4F8"/>
                </a:solidFill>
                <a:latin typeface="Inter"/>
              </a:rPr>
              <a:t>Live Sayari on every entity</a:t>
            </a:r>
          </a:p>
          <a:p>
            <a:pPr algn="l">
              <a:lnSpc>
                <a:spcPct val="110000"/>
              </a:lnSpc>
              <a:spcBef>
                <a:spcPts val="0"/>
              </a:spcBef>
              <a:spcAft>
                <a:spcPts val="800"/>
              </a:spcAft>
            </a:pPr>
            <a:r>
              <a:rPr sz="1050" b="0" i="0">
                <a:solidFill>
                  <a:srgbClr val="94A3B8"/>
                </a:solidFill>
                <a:latin typeface="Inter"/>
              </a:rPr>
              <a:t>CACHED replays real captured runs; live mode now takes credentials in-app.</a:t>
            </a:r>
          </a:p>
          <a:p>
            <a:pPr algn="l">
              <a:lnSpc>
                <a:spcPct val="105000"/>
              </a:lnSpc>
              <a:spcBef>
                <a:spcPts val="0"/>
              </a:spcBef>
              <a:spcAft>
                <a:spcPts val="100"/>
              </a:spcAft>
            </a:pPr>
            <a:r>
              <a:rPr sz="1100" b="1" i="0">
                <a:solidFill>
                  <a:srgbClr val="F0F4F8"/>
                </a:solidFill>
                <a:latin typeface="Inter"/>
              </a:rPr>
              <a:t>Prompt-injection hardening</a:t>
            </a:r>
          </a:p>
          <a:p>
            <a:pPr algn="l">
              <a:lnSpc>
                <a:spcPct val="110000"/>
              </a:lnSpc>
              <a:spcBef>
                <a:spcPts val="0"/>
              </a:spcBef>
              <a:spcAft>
                <a:spcPts val="800"/>
              </a:spcAft>
            </a:pPr>
            <a:r>
              <a:rPr sz="1050" b="0" i="0">
                <a:solidFill>
                  <a:srgbClr val="94A3B8"/>
                </a:solidFill>
                <a:latin typeface="Inter"/>
              </a:rPr>
              <a:t>System prompt forbids fabrication; explicit injection guards are a hardening pass.</a:t>
            </a:r>
          </a:p>
          <a:p>
            <a:pPr algn="l">
              <a:lnSpc>
                <a:spcPct val="105000"/>
              </a:lnSpc>
              <a:spcBef>
                <a:spcPts val="0"/>
              </a:spcBef>
              <a:spcAft>
                <a:spcPts val="100"/>
              </a:spcAft>
            </a:pPr>
            <a:r>
              <a:rPr sz="1100" b="1" i="0">
                <a:solidFill>
                  <a:srgbClr val="F0F4F8"/>
                </a:solidFill>
                <a:latin typeface="Inter"/>
              </a:rPr>
              <a:t>CI test suite</a:t>
            </a:r>
          </a:p>
          <a:p>
            <a:pPr algn="l">
              <a:lnSpc>
                <a:spcPct val="110000"/>
              </a:lnSpc>
              <a:spcBef>
                <a:spcPts val="0"/>
              </a:spcBef>
              <a:spcAft>
                <a:spcPts val="800"/>
              </a:spcAft>
            </a:pPr>
            <a:r>
              <a:rPr sz="1050" b="0" i="0">
                <a:solidFill>
                  <a:srgbClr val="94A3B8"/>
                </a:solidFill>
                <a:latin typeface="Inter"/>
              </a:rPr>
              <a:t>Type discipline + per-commit curl/behavioral verification; automated CI scoped out.</a:t>
            </a:r>
          </a:p>
        </p:txBody>
      </p:sp>
      <p:sp>
        <p:nvSpPr>
          <p:cNvPr id="7" name="Rounded Rectangle 6"/>
          <p:cNvSpPr/>
          <p:nvPr/>
        </p:nvSpPr>
        <p:spPr>
          <a:xfrm>
            <a:off x="6217920" y="1938528"/>
            <a:ext cx="5184648" cy="4160520"/>
          </a:xfrm>
          <a:prstGeom prst="roundRect">
            <a:avLst>
              <a:gd name="adj" fmla="val 5500"/>
            </a:avLst>
          </a:prstGeom>
          <a:solidFill>
            <a:srgbClr val="1A2436"/>
          </a:solidFill>
          <a:ln w="9525">
            <a:solidFill>
              <a:srgbClr val="8A7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2121408"/>
            <a:ext cx="4754880" cy="3840480"/>
          </a:xfrm>
          <a:prstGeom prst="rect">
            <a:avLst/>
          </a:prstGeom>
          <a:noFill/>
        </p:spPr>
        <p:txBody>
          <a:bodyPr wrap="square" anchor="t" lIns="0" rIns="0" tIns="0" bIns="0">
            <a:spAutoFit/>
          </a:bodyPr>
          <a:lstStyle/>
          <a:p>
            <a:pPr algn="l">
              <a:lnSpc>
                <a:spcPct val="112000"/>
              </a:lnSpc>
              <a:spcBef>
                <a:spcPts val="0"/>
              </a:spcBef>
              <a:spcAft>
                <a:spcPts val="1000"/>
              </a:spcAft>
            </a:pPr>
            <a:r>
              <a:rPr sz="1000" b="1" i="0" spc="120">
                <a:solidFill>
                  <a:srgbClr val="C9A961"/>
                </a:solidFill>
                <a:latin typeface="Inter"/>
              </a:rPr>
              <a:t>WHAT I'D BUILD NEXT</a:t>
            </a:r>
          </a:p>
          <a:p>
            <a:pPr algn="l">
              <a:lnSpc>
                <a:spcPct val="105000"/>
              </a:lnSpc>
              <a:spcBef>
                <a:spcPts val="0"/>
              </a:spcBef>
              <a:spcAft>
                <a:spcPts val="100"/>
              </a:spcAft>
            </a:pPr>
            <a:r>
              <a:rPr sz="1100" b="1" i="0">
                <a:solidFill>
                  <a:srgbClr val="F0F4F8"/>
                </a:solidFill>
                <a:latin typeface="Inter"/>
              </a:rPr>
              <a:t>Bulk batch mode</a:t>
            </a:r>
          </a:p>
          <a:p>
            <a:pPr algn="l">
              <a:lnSpc>
                <a:spcPct val="110000"/>
              </a:lnSpc>
              <a:spcBef>
                <a:spcPts val="0"/>
              </a:spcBef>
              <a:spcAft>
                <a:spcPts val="900"/>
              </a:spcAft>
            </a:pPr>
            <a:r>
              <a:rPr sz="1050" b="0" i="0">
                <a:solidFill>
                  <a:srgbClr val="94A3B8"/>
                </a:solidFill>
                <a:latin typeface="Inter"/>
              </a:rPr>
              <a:t>Meridian's real workflow is 2,000-vendor quarterly screening — parallel agentic execution + aggregation.</a:t>
            </a:r>
          </a:p>
          <a:p>
            <a:pPr algn="l">
              <a:lnSpc>
                <a:spcPct val="105000"/>
              </a:lnSpc>
              <a:spcBef>
                <a:spcPts val="0"/>
              </a:spcBef>
              <a:spcAft>
                <a:spcPts val="100"/>
              </a:spcAft>
            </a:pPr>
            <a:r>
              <a:rPr sz="1100" b="1" i="0">
                <a:solidFill>
                  <a:srgbClr val="F0F4F8"/>
                </a:solidFill>
                <a:latin typeface="Inter"/>
              </a:rPr>
              <a:t>Webhook subscriptions</a:t>
            </a:r>
          </a:p>
          <a:p>
            <a:pPr algn="l">
              <a:lnSpc>
                <a:spcPct val="110000"/>
              </a:lnSpc>
              <a:spcBef>
                <a:spcPts val="0"/>
              </a:spcBef>
              <a:spcAft>
                <a:spcPts val="900"/>
              </a:spcAft>
            </a:pPr>
            <a:r>
              <a:rPr sz="1050" b="0" i="0">
                <a:solidFill>
                  <a:srgbClr val="94A3B8"/>
                </a:solidFill>
                <a:latin typeface="Inter"/>
              </a:rPr>
              <a:t>When ownership or a sanctions entry changes, notify the customer. Sayari graph as an event source.</a:t>
            </a:r>
          </a:p>
          <a:p>
            <a:pPr algn="l">
              <a:lnSpc>
                <a:spcPct val="105000"/>
              </a:lnSpc>
              <a:spcBef>
                <a:spcPts val="0"/>
              </a:spcBef>
              <a:spcAft>
                <a:spcPts val="100"/>
              </a:spcAft>
            </a:pPr>
            <a:r>
              <a:rPr sz="1100" b="1" i="0">
                <a:solidFill>
                  <a:srgbClr val="F0F4F8"/>
                </a:solidFill>
                <a:latin typeface="Inter"/>
              </a:rPr>
              <a:t>Configurable risk policies</a:t>
            </a:r>
          </a:p>
          <a:p>
            <a:pPr algn="l">
              <a:lnSpc>
                <a:spcPct val="110000"/>
              </a:lnSpc>
              <a:spcBef>
                <a:spcPts val="0"/>
              </a:spcBef>
              <a:spcAft>
                <a:spcPts val="900"/>
              </a:spcAft>
            </a:pPr>
            <a:r>
              <a:rPr sz="1050" b="0" i="0">
                <a:solidFill>
                  <a:srgbClr val="94A3B8"/>
                </a:solidFill>
                <a:latin typeface="Inter"/>
              </a:rPr>
              <a:t>Versioned, approval-gated, surfaced in the briefing as 'policy X flagged this entity.'</a:t>
            </a:r>
          </a:p>
          <a:p>
            <a:pPr algn="l">
              <a:lnSpc>
                <a:spcPct val="105000"/>
              </a:lnSpc>
              <a:spcBef>
                <a:spcPts val="0"/>
              </a:spcBef>
              <a:spcAft>
                <a:spcPts val="100"/>
              </a:spcAft>
            </a:pPr>
            <a:r>
              <a:rPr sz="1100" b="1" i="0">
                <a:solidFill>
                  <a:srgbClr val="F0F4F8"/>
                </a:solidFill>
                <a:latin typeface="Inter"/>
              </a:rPr>
              <a:t>Procurement integration</a:t>
            </a:r>
          </a:p>
          <a:p>
            <a:pPr algn="l">
              <a:lnSpc>
                <a:spcPct val="110000"/>
              </a:lnSpc>
              <a:spcBef>
                <a:spcPts val="0"/>
              </a:spcBef>
              <a:spcAft>
                <a:spcPts val="900"/>
              </a:spcAft>
            </a:pPr>
            <a:r>
              <a:rPr sz="1050" b="0" i="0">
                <a:solidFill>
                  <a:srgbClr val="94A3B8"/>
                </a:solidFill>
                <a:latin typeface="Inter"/>
              </a:rPr>
              <a:t>SAP Ariba, Coupa — embed screening where compliance officers already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9966960" y="310896"/>
            <a:ext cx="1463040" cy="274320"/>
          </a:xfrm>
          <a:prstGeom prst="rect">
            <a:avLst/>
          </a:prstGeom>
          <a:noFill/>
        </p:spPr>
        <p:txBody>
          <a:bodyPr wrap="square" anchor="t" lIns="0" rIns="0" tIns="0" bIns="0">
            <a:spAutoFit/>
          </a:bodyPr>
          <a:lstStyle/>
          <a:p>
            <a:pPr algn="r">
              <a:lnSpc>
                <a:spcPct val="112000"/>
              </a:lnSpc>
              <a:spcBef>
                <a:spcPts val="0"/>
              </a:spcBef>
              <a:spcAft>
                <a:spcPts val="0"/>
              </a:spcAft>
            </a:pPr>
            <a:r>
              <a:rPr sz="900" b="1" i="0" spc="200">
                <a:solidFill>
                  <a:srgbClr val="8A7440"/>
                </a:solidFill>
                <a:latin typeface="Inter"/>
              </a:rPr>
              <a:t>APPENDIX</a:t>
            </a: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0"/>
              </a:spcAft>
            </a:pPr>
            <a:r>
              <a:rPr sz="1250" b="1" i="0" spc="220">
                <a:solidFill>
                  <a:srgbClr val="94A3B8"/>
                </a:solidFill>
                <a:latin typeface="Inter"/>
              </a:rPr>
              <a:t>OBSERVABILITY — THE DATA MODEL BEHIND THE UI</a:t>
            </a:r>
          </a:p>
        </p:txBody>
      </p:sp>
      <p:sp>
        <p:nvSpPr>
          <p:cNvPr id="4" name="TextBox 3"/>
          <p:cNvSpPr txBox="1"/>
          <p:nvPr/>
        </p:nvSpPr>
        <p:spPr>
          <a:xfrm>
            <a:off x="777240" y="932688"/>
            <a:ext cx="1060704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F0F4F8"/>
                </a:solidFill>
                <a:latin typeface="Cormorant Garamond"/>
              </a:rPr>
              <a:t>Every finding traces to its source</a:t>
            </a:r>
          </a:p>
        </p:txBody>
      </p:sp>
      <p:sp>
        <p:nvSpPr>
          <p:cNvPr id="5" name="Rectangle 4"/>
          <p:cNvSpPr/>
          <p:nvPr/>
        </p:nvSpPr>
        <p:spPr>
          <a:xfrm>
            <a:off x="777240" y="1783080"/>
            <a:ext cx="10607040" cy="11887"/>
          </a:xfrm>
          <a:prstGeom prst="rect">
            <a:avLst/>
          </a:prstGeom>
          <a:solidFill>
            <a:srgbClr val="2A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938528"/>
            <a:ext cx="5184648" cy="1783080"/>
          </a:xfrm>
          <a:prstGeom prst="roundRect">
            <a:avLst>
              <a:gd name="adj" fmla="val 5500"/>
            </a:avLst>
          </a:prstGeom>
          <a:solidFill>
            <a:srgbClr val="050B14"/>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2103120"/>
            <a:ext cx="4800600" cy="1463040"/>
          </a:xfrm>
          <a:prstGeom prst="rect">
            <a:avLst/>
          </a:prstGeom>
          <a:noFill/>
        </p:spPr>
        <p:txBody>
          <a:bodyPr wrap="square" anchor="t" lIns="0" rIns="0" tIns="0" bIns="0">
            <a:spAutoFit/>
          </a:bodyPr>
          <a:lstStyle/>
          <a:p>
            <a:pPr algn="l">
              <a:lnSpc>
                <a:spcPct val="112000"/>
              </a:lnSpc>
              <a:spcBef>
                <a:spcPts val="0"/>
              </a:spcBef>
              <a:spcAft>
                <a:spcPts val="600"/>
              </a:spcAft>
            </a:pPr>
            <a:r>
              <a:rPr sz="950" b="1" i="0" spc="160">
                <a:solidFill>
                  <a:srgbClr val="C9A961"/>
                </a:solidFill>
                <a:latin typeface="Inter"/>
              </a:rPr>
              <a:t>THE UNIVERSAL CONTRACT</a:t>
            </a:r>
          </a:p>
          <a:p>
            <a:pPr algn="l">
              <a:lnSpc>
                <a:spcPct val="112000"/>
              </a:lnSpc>
              <a:spcBef>
                <a:spcPts val="0"/>
              </a:spcBef>
              <a:spcAft>
                <a:spcPts val="500"/>
              </a:spcAft>
            </a:pPr>
            <a:r>
              <a:rPr sz="1250" b="0" i="0">
                <a:solidFill>
                  <a:srgbClr val="F0F4F8"/>
                </a:solidFill>
                <a:latin typeface="JetBrains Mono"/>
              </a:rPr>
              <a:t>CitedResult(data, source)</a:t>
            </a:r>
          </a:p>
          <a:p>
            <a:pPr algn="l">
              <a:lnSpc>
                <a:spcPct val="105000"/>
              </a:lnSpc>
              <a:spcBef>
                <a:spcPts val="0"/>
              </a:spcBef>
              <a:spcAft>
                <a:spcPts val="200"/>
              </a:spcAft>
            </a:pPr>
            <a:r>
              <a:rPr sz="950" b="0" i="0">
                <a:solidFill>
                  <a:srgbClr val="CBD5E1"/>
                </a:solidFill>
                <a:latin typeface="JetBrains Mono"/>
              </a:rPr>
              <a:t>  • source.entity_url</a:t>
            </a:r>
          </a:p>
          <a:p>
            <a:pPr algn="l">
              <a:lnSpc>
                <a:spcPct val="105000"/>
              </a:lnSpc>
              <a:spcBef>
                <a:spcPts val="0"/>
              </a:spcBef>
              <a:spcAft>
                <a:spcPts val="200"/>
              </a:spcAft>
            </a:pPr>
            <a:r>
              <a:rPr sz="950" b="0" i="0">
                <a:solidFill>
                  <a:srgbClr val="CBD5E1"/>
                </a:solidFill>
                <a:latin typeface="JetBrains Mono"/>
              </a:rPr>
              <a:t>  • source.raw_field_path</a:t>
            </a:r>
          </a:p>
          <a:p>
            <a:pPr algn="l">
              <a:lnSpc>
                <a:spcPct val="105000"/>
              </a:lnSpc>
              <a:spcBef>
                <a:spcPts val="0"/>
              </a:spcBef>
              <a:spcAft>
                <a:spcPts val="200"/>
              </a:spcAft>
            </a:pPr>
            <a:r>
              <a:rPr sz="950" b="0" i="0">
                <a:solidFill>
                  <a:srgbClr val="CBD5E1"/>
                </a:solidFill>
                <a:latin typeface="JetBrains Mono"/>
              </a:rPr>
              <a:t>  • source.cache_file</a:t>
            </a:r>
          </a:p>
          <a:p>
            <a:pPr algn="l">
              <a:lnSpc>
                <a:spcPct val="105000"/>
              </a:lnSpc>
              <a:spcBef>
                <a:spcPts val="0"/>
              </a:spcBef>
              <a:spcAft>
                <a:spcPts val="200"/>
              </a:spcAft>
            </a:pPr>
            <a:r>
              <a:rPr sz="950" b="0" i="0">
                <a:solidFill>
                  <a:srgbClr val="CBD5E1"/>
                </a:solidFill>
                <a:latin typeface="JetBrains Mono"/>
              </a:rPr>
              <a:t>  • source.api_endpoint</a:t>
            </a:r>
          </a:p>
        </p:txBody>
      </p:sp>
      <p:sp>
        <p:nvSpPr>
          <p:cNvPr id="8" name="Rounded Rectangle 7"/>
          <p:cNvSpPr/>
          <p:nvPr/>
        </p:nvSpPr>
        <p:spPr>
          <a:xfrm>
            <a:off x="6217920" y="1938528"/>
            <a:ext cx="5184648" cy="1783080"/>
          </a:xfrm>
          <a:prstGeom prst="roundRect">
            <a:avLst>
              <a:gd name="adj" fmla="val 5500"/>
            </a:avLst>
          </a:prstGeom>
          <a:solidFill>
            <a:srgbClr val="050B14"/>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2103120"/>
            <a:ext cx="4800600" cy="1463040"/>
          </a:xfrm>
          <a:prstGeom prst="rect">
            <a:avLst/>
          </a:prstGeom>
          <a:noFill/>
        </p:spPr>
        <p:txBody>
          <a:bodyPr wrap="square" anchor="t" lIns="0" rIns="0" tIns="0" bIns="0">
            <a:spAutoFit/>
          </a:bodyPr>
          <a:lstStyle/>
          <a:p>
            <a:pPr algn="l">
              <a:lnSpc>
                <a:spcPct val="112000"/>
              </a:lnSpc>
              <a:spcBef>
                <a:spcPts val="0"/>
              </a:spcBef>
              <a:spcAft>
                <a:spcPts val="600"/>
              </a:spcAft>
            </a:pPr>
            <a:r>
              <a:rPr sz="950" b="1" i="0" spc="140">
                <a:solidFill>
                  <a:srgbClr val="C9A961"/>
                </a:solidFill>
                <a:latin typeface="Inter"/>
              </a:rPr>
              <a:t>STREAMING EVENT PROTOCOL (SSE)</a:t>
            </a:r>
          </a:p>
          <a:p>
            <a:pPr algn="l">
              <a:lnSpc>
                <a:spcPct val="115000"/>
              </a:lnSpc>
              <a:spcBef>
                <a:spcPts val="0"/>
              </a:spcBef>
              <a:spcAft>
                <a:spcPts val="500"/>
              </a:spcAft>
            </a:pPr>
            <a:r>
              <a:rPr sz="900" b="0" i="0">
                <a:solidFill>
                  <a:srgbClr val="CBD5E1"/>
                </a:solidFill>
                <a:latin typeface="JetBrains Mono"/>
              </a:rPr>
              <a:t>Agent:  token · tool_call · tool_result · citation · flag · answer_meta · done · error</a:t>
            </a:r>
          </a:p>
          <a:p>
            <a:pPr algn="l">
              <a:lnSpc>
                <a:spcPct val="115000"/>
              </a:lnSpc>
              <a:spcBef>
                <a:spcPts val="0"/>
              </a:spcBef>
              <a:spcAft>
                <a:spcPts val="400"/>
              </a:spcAft>
            </a:pPr>
            <a:r>
              <a:rPr sz="900" b="0" i="0">
                <a:solidFill>
                  <a:srgbClr val="CBD5E1"/>
                </a:solidFill>
                <a:latin typeface="JetBrains Mono"/>
              </a:rPr>
              <a:t>Upload:  row_start · row_resolved (steps[] with per-call durations, findings, sources)</a:t>
            </a:r>
          </a:p>
        </p:txBody>
      </p:sp>
      <p:sp>
        <p:nvSpPr>
          <p:cNvPr id="10" name="Rounded Rectangle 9"/>
          <p:cNvSpPr/>
          <p:nvPr/>
        </p:nvSpPr>
        <p:spPr>
          <a:xfrm>
            <a:off x="777240" y="3877056"/>
            <a:ext cx="10625328" cy="1783080"/>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041648"/>
            <a:ext cx="10149840" cy="1463040"/>
          </a:xfrm>
          <a:prstGeom prst="rect">
            <a:avLst/>
          </a:prstGeom>
          <a:noFill/>
        </p:spPr>
        <p:txBody>
          <a:bodyPr wrap="square" anchor="t" lIns="0" rIns="0" tIns="0" bIns="0">
            <a:spAutoFit/>
          </a:bodyPr>
          <a:lstStyle/>
          <a:p>
            <a:pPr algn="l">
              <a:lnSpc>
                <a:spcPct val="112000"/>
              </a:lnSpc>
              <a:spcBef>
                <a:spcPts val="0"/>
              </a:spcBef>
              <a:spcAft>
                <a:spcPts val="800"/>
              </a:spcAft>
            </a:pPr>
            <a:r>
              <a:rPr sz="950" b="1" i="0" spc="120">
                <a:solidFill>
                  <a:srgbClr val="C9A961"/>
                </a:solidFill>
                <a:latin typeface="Inter"/>
              </a:rPr>
              <a:t>THREE-TIER PROGRESSIVE DISCLOSURE  ·  the Validate-and-Run trace</a:t>
            </a:r>
          </a:p>
          <a:p>
            <a:pPr algn="l">
              <a:lnSpc>
                <a:spcPct val="110000"/>
              </a:lnSpc>
              <a:spcBef>
                <a:spcPts val="0"/>
              </a:spcBef>
              <a:spcAft>
                <a:spcPts val="600"/>
              </a:spcAft>
            </a:pPr>
            <a:r>
              <a:rPr sz="1100" b="1" i="0">
                <a:solidFill>
                  <a:srgbClr val="F0F4F8"/>
                </a:solidFill>
                <a:latin typeface="Inter"/>
              </a:rPr>
              <a:t>Tier 1 — row summary    </a:t>
            </a:r>
            <a:r>
              <a:rPr sz="950" b="0" i="0">
                <a:solidFill>
                  <a:srgbClr val="94A3B8"/>
                </a:solidFill>
                <a:latin typeface="JetBrains Mono"/>
              </a:rPr>
              <a:t>row N · name · sanction chips · entity id · verify flag</a:t>
            </a:r>
          </a:p>
          <a:p>
            <a:pPr algn="l">
              <a:lnSpc>
                <a:spcPct val="110000"/>
              </a:lnSpc>
              <a:spcBef>
                <a:spcPts val="0"/>
              </a:spcBef>
              <a:spcAft>
                <a:spcPts val="600"/>
              </a:spcAft>
            </a:pPr>
            <a:r>
              <a:rPr sz="1100" b="1" i="0">
                <a:solidFill>
                  <a:srgbClr val="F0F4F8"/>
                </a:solidFill>
                <a:latin typeface="Inter"/>
              </a:rPr>
              <a:t>Tier 2 — expand    </a:t>
            </a:r>
            <a:r>
              <a:rPr sz="950" b="0" i="0">
                <a:solidFill>
                  <a:srgbClr val="94A3B8"/>
                </a:solidFill>
                <a:latin typeface="JetBrains Mono"/>
              </a:rPr>
              <a:t>per-API-call steps: endpoint, payload, candidate count, duration</a:t>
            </a:r>
          </a:p>
          <a:p>
            <a:pPr algn="l">
              <a:lnSpc>
                <a:spcPct val="110000"/>
              </a:lnSpc>
              <a:spcBef>
                <a:spcPts val="0"/>
              </a:spcBef>
              <a:spcAft>
                <a:spcPts val="600"/>
              </a:spcAft>
            </a:pPr>
            <a:r>
              <a:rPr sz="1100" b="1" i="0">
                <a:solidFill>
                  <a:srgbClr val="F0F4F8"/>
                </a:solidFill>
                <a:latin typeface="Inter"/>
              </a:rPr>
              <a:t>Tier 3 — full payload    </a:t>
            </a:r>
            <a:r>
              <a:rPr sz="950" b="0" i="0">
                <a:solidFill>
                  <a:srgbClr val="94A3B8"/>
                </a:solidFill>
                <a:latin typeface="JetBrains Mono"/>
              </a:rPr>
              <a:t>findings, identifiers, outcome banner, clickable source-cache links</a:t>
            </a:r>
          </a:p>
        </p:txBody>
      </p:sp>
      <p:sp>
        <p:nvSpPr>
          <p:cNvPr id="12" name="TextBox 11"/>
          <p:cNvSpPr txBox="1"/>
          <p:nvPr/>
        </p:nvSpPr>
        <p:spPr>
          <a:xfrm>
            <a:off x="777240" y="5852160"/>
            <a:ext cx="10625328" cy="457200"/>
          </a:xfrm>
          <a:prstGeom prst="rect">
            <a:avLst/>
          </a:prstGeom>
          <a:noFill/>
        </p:spPr>
        <p:txBody>
          <a:bodyPr wrap="square" anchor="t" lIns="0" rIns="0" tIns="0" bIns="0">
            <a:spAutoFit/>
          </a:bodyPr>
          <a:lstStyle/>
          <a:p>
            <a:pPr>
              <a:lnSpc>
                <a:spcPct val="105000"/>
              </a:lnSpc>
              <a:spcAft>
                <a:spcPts val="200"/>
              </a:spcAft>
            </a:pPr>
            <a:r>
              <a:rPr sz="840">
                <a:solidFill>
                  <a:srgbClr val="8A7440"/>
                </a:solidFill>
                <a:latin typeface="JetBrains Mono"/>
                <a:hlinkClick r:id="rId2"/>
              </a:rPr>
              <a:t>services/api/tools/compare_ofac_vs_sayari.py</a:t>
            </a:r>
            <a:r>
              <a:rPr sz="840">
                <a:solidFill>
                  <a:srgbClr val="64748B"/>
                </a:solidFill>
                <a:latin typeface="JetBrains Mono"/>
              </a:rPr>
              <a:t>  ·  </a:t>
            </a:r>
            <a:r>
              <a:rPr sz="840">
                <a:solidFill>
                  <a:srgbClr val="8A7440"/>
                </a:solidFill>
                <a:latin typeface="JetBrains Mono"/>
                <a:hlinkClick r:id="rId3"/>
              </a:rPr>
              <a:t>services/api/routers/uploads.py:550-610</a:t>
            </a:r>
            <a:r>
              <a:rPr sz="840">
                <a:solidFill>
                  <a:srgbClr val="64748B"/>
                </a:solidFill>
                <a:latin typeface="JetBrains Mono"/>
              </a:rPr>
              <a:t>  ·  </a:t>
            </a:r>
            <a:r>
              <a:rPr sz="840">
                <a:solidFill>
                  <a:srgbClr val="8A7440"/>
                </a:solidFill>
                <a:latin typeface="JetBrains Mono"/>
                <a:hlinkClick r:id="rId4"/>
              </a:rPr>
              <a:t>design-prototype/surfaces/upload.jsx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9966960" y="310896"/>
            <a:ext cx="1463040" cy="274320"/>
          </a:xfrm>
          <a:prstGeom prst="rect">
            <a:avLst/>
          </a:prstGeom>
          <a:noFill/>
        </p:spPr>
        <p:txBody>
          <a:bodyPr wrap="square" anchor="t" lIns="0" rIns="0" tIns="0" bIns="0">
            <a:spAutoFit/>
          </a:bodyPr>
          <a:lstStyle/>
          <a:p>
            <a:pPr algn="r">
              <a:lnSpc>
                <a:spcPct val="112000"/>
              </a:lnSpc>
              <a:spcBef>
                <a:spcPts val="0"/>
              </a:spcBef>
              <a:spcAft>
                <a:spcPts val="0"/>
              </a:spcAft>
            </a:pPr>
            <a:r>
              <a:rPr sz="900" b="1" i="0" spc="200">
                <a:solidFill>
                  <a:srgbClr val="8A7440"/>
                </a:solidFill>
                <a:latin typeface="Inter"/>
              </a:rPr>
              <a:t>APPENDIX</a:t>
            </a: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0"/>
              </a:spcAft>
            </a:pPr>
            <a:r>
              <a:rPr sz="1250" b="1" i="0" spc="220">
                <a:solidFill>
                  <a:srgbClr val="94A3B8"/>
                </a:solidFill>
                <a:latin typeface="Inter"/>
              </a:rPr>
              <a:t>HOW I WORKED WITH AI TOOLING</a:t>
            </a:r>
          </a:p>
        </p:txBody>
      </p:sp>
      <p:sp>
        <p:nvSpPr>
          <p:cNvPr id="4" name="TextBox 3"/>
          <p:cNvSpPr txBox="1"/>
          <p:nvPr/>
        </p:nvSpPr>
        <p:spPr>
          <a:xfrm>
            <a:off x="777240" y="932688"/>
            <a:ext cx="10607040" cy="914400"/>
          </a:xfrm>
          <a:prstGeom prst="rect">
            <a:avLst/>
          </a:prstGeom>
          <a:noFill/>
        </p:spPr>
        <p:txBody>
          <a:bodyPr wrap="square" anchor="t" lIns="0" rIns="0" tIns="0" bIns="0">
            <a:spAutoFit/>
          </a:bodyPr>
          <a:lstStyle/>
          <a:p>
            <a:pPr algn="l">
              <a:lnSpc>
                <a:spcPct val="100000"/>
              </a:lnSpc>
              <a:spcBef>
                <a:spcPts val="0"/>
              </a:spcBef>
              <a:spcAft>
                <a:spcPts val="0"/>
              </a:spcAft>
            </a:pPr>
            <a:r>
              <a:rPr sz="3000" b="0" i="0">
                <a:solidFill>
                  <a:srgbClr val="F0F4F8"/>
                </a:solidFill>
                <a:latin typeface="Cormorant Garamond"/>
              </a:rPr>
              <a:t>AI-native workflow: three layers of judgment</a:t>
            </a:r>
          </a:p>
        </p:txBody>
      </p:sp>
      <p:sp>
        <p:nvSpPr>
          <p:cNvPr id="5" name="Rectangle 4"/>
          <p:cNvSpPr/>
          <p:nvPr/>
        </p:nvSpPr>
        <p:spPr>
          <a:xfrm>
            <a:off x="777240" y="1783080"/>
            <a:ext cx="10607040" cy="11887"/>
          </a:xfrm>
          <a:prstGeom prst="rect">
            <a:avLst/>
          </a:prstGeom>
          <a:solidFill>
            <a:srgbClr val="2A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956816"/>
            <a:ext cx="3419856" cy="2743200"/>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56816"/>
            <a:ext cx="54864" cy="2743200"/>
          </a:xfrm>
          <a:prstGeom prst="rect">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iamond 7"/>
          <p:cNvSpPr/>
          <p:nvPr/>
        </p:nvSpPr>
        <p:spPr>
          <a:xfrm>
            <a:off x="1051560" y="2157984"/>
            <a:ext cx="365760" cy="365760"/>
          </a:xfrm>
          <a:prstGeom prst="diamond">
            <a:avLst/>
          </a:prstGeom>
          <a:noFill/>
          <a:ln w="19050">
            <a:solidFill>
              <a:srgbClr val="C9A9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1" y="2633472"/>
            <a:ext cx="2962656" cy="1920240"/>
          </a:xfrm>
          <a:prstGeom prst="rect">
            <a:avLst/>
          </a:prstGeom>
          <a:noFill/>
        </p:spPr>
        <p:txBody>
          <a:bodyPr wrap="square" anchor="t" lIns="0" rIns="0" tIns="0" bIns="0">
            <a:spAutoFit/>
          </a:bodyPr>
          <a:lstStyle/>
          <a:p>
            <a:pPr algn="l">
              <a:lnSpc>
                <a:spcPct val="112000"/>
              </a:lnSpc>
              <a:spcBef>
                <a:spcPts val="0"/>
              </a:spcBef>
              <a:spcAft>
                <a:spcPts val="100"/>
              </a:spcAft>
            </a:pPr>
            <a:r>
              <a:rPr sz="2100" b="0" i="0">
                <a:solidFill>
                  <a:srgbClr val="C9A961"/>
                </a:solidFill>
                <a:latin typeface="Cormorant Garamond"/>
              </a:rPr>
              <a:t>Claude</a:t>
            </a:r>
          </a:p>
          <a:p>
            <a:pPr algn="l">
              <a:lnSpc>
                <a:spcPct val="112000"/>
              </a:lnSpc>
              <a:spcBef>
                <a:spcPts val="0"/>
              </a:spcBef>
              <a:spcAft>
                <a:spcPts val="800"/>
              </a:spcAft>
            </a:pPr>
            <a:r>
              <a:rPr sz="900" b="1" i="0" spc="160">
                <a:solidFill>
                  <a:srgbClr val="64748B"/>
                </a:solidFill>
                <a:latin typeface="Inter"/>
              </a:rPr>
              <a:t>PLANNING + DESIGN</a:t>
            </a:r>
          </a:p>
          <a:p>
            <a:pPr algn="l">
              <a:lnSpc>
                <a:spcPct val="112000"/>
              </a:lnSpc>
              <a:spcBef>
                <a:spcPts val="0"/>
              </a:spcBef>
              <a:spcAft>
                <a:spcPts val="700"/>
              </a:spcAft>
            </a:pPr>
            <a:r>
              <a:rPr sz="1100" b="0" i="0">
                <a:solidFill>
                  <a:srgbClr val="8A7440"/>
                </a:solidFill>
                <a:latin typeface="Inter"/>
              </a:rPr>
              <a:t>—  </a:t>
            </a:r>
            <a:r>
              <a:rPr sz="1100" b="0" i="0">
                <a:solidFill>
                  <a:srgbClr val="94A3B8"/>
                </a:solidFill>
                <a:latin typeface="Inter"/>
              </a:rPr>
              <a:t>Architecture decisions, scope discussions, ADR drafting</a:t>
            </a:r>
          </a:p>
          <a:p>
            <a:pPr algn="l">
              <a:lnSpc>
                <a:spcPct val="112000"/>
              </a:lnSpc>
              <a:spcBef>
                <a:spcPts val="0"/>
              </a:spcBef>
              <a:spcAft>
                <a:spcPts val="700"/>
              </a:spcAft>
            </a:pPr>
            <a:r>
              <a:rPr sz="1100" b="0" i="0">
                <a:solidFill>
                  <a:srgbClr val="8A7440"/>
                </a:solidFill>
                <a:latin typeface="Inter"/>
              </a:rPr>
              <a:t>—  </a:t>
            </a:r>
            <a:r>
              <a:rPr sz="1100" b="0" i="0">
                <a:solidFill>
                  <a:srgbClr val="94A3B8"/>
                </a:solidFill>
                <a:latin typeface="Inter"/>
              </a:rPr>
              <a:t>Pushed back when I was over-scoping</a:t>
            </a:r>
          </a:p>
          <a:p>
            <a:pPr algn="l">
              <a:lnSpc>
                <a:spcPct val="112000"/>
              </a:lnSpc>
              <a:spcBef>
                <a:spcPts val="0"/>
              </a:spcBef>
              <a:spcAft>
                <a:spcPts val="700"/>
              </a:spcAft>
            </a:pPr>
            <a:r>
              <a:rPr sz="1100" b="0" i="0">
                <a:solidFill>
                  <a:srgbClr val="8A7440"/>
                </a:solidFill>
                <a:latin typeface="Inter"/>
              </a:rPr>
              <a:t>—  </a:t>
            </a:r>
            <a:r>
              <a:rPr sz="1100" b="0" i="0">
                <a:solidFill>
                  <a:srgbClr val="94A3B8"/>
                </a:solidFill>
                <a:latin typeface="Inter"/>
              </a:rPr>
              <a:t>Drafted locked-scope phase prompts with explicit verification asks</a:t>
            </a:r>
          </a:p>
        </p:txBody>
      </p:sp>
      <p:sp>
        <p:nvSpPr>
          <p:cNvPr id="10" name="Rounded Rectangle 9"/>
          <p:cNvSpPr/>
          <p:nvPr/>
        </p:nvSpPr>
        <p:spPr>
          <a:xfrm>
            <a:off x="4453128" y="1956816"/>
            <a:ext cx="3419856" cy="2743200"/>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53128" y="1956816"/>
            <a:ext cx="54864" cy="2743200"/>
          </a:xfrm>
          <a:prstGeom prst="rect">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flipH="1">
            <a:off x="4749393" y="2187244"/>
            <a:ext cx="102413" cy="153620"/>
          </a:xfrm>
          <a:prstGeom prst="line">
            <a:avLst/>
          </a:prstGeom>
          <a:ln w="15240">
            <a:solidFill>
              <a:srgbClr val="C9A961"/>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749393" y="2340864"/>
            <a:ext cx="102413" cy="153619"/>
          </a:xfrm>
          <a:prstGeom prst="line">
            <a:avLst/>
          </a:prstGeom>
          <a:ln w="15240">
            <a:solidFill>
              <a:srgbClr val="C9A961"/>
            </a:solidFill>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968849" y="2187244"/>
            <a:ext cx="102413" cy="153620"/>
          </a:xfrm>
          <a:prstGeom prst="line">
            <a:avLst/>
          </a:prstGeom>
          <a:ln w="15240">
            <a:solidFill>
              <a:srgbClr val="C9A961"/>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4968849" y="2340864"/>
            <a:ext cx="102413" cy="153619"/>
          </a:xfrm>
          <a:prstGeom prst="line">
            <a:avLst/>
          </a:prstGeom>
          <a:ln w="15240">
            <a:solidFill>
              <a:srgbClr val="C9A961"/>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709160" y="2633472"/>
            <a:ext cx="2962656" cy="1920240"/>
          </a:xfrm>
          <a:prstGeom prst="rect">
            <a:avLst/>
          </a:prstGeom>
          <a:noFill/>
        </p:spPr>
        <p:txBody>
          <a:bodyPr wrap="square" anchor="t" lIns="0" rIns="0" tIns="0" bIns="0">
            <a:spAutoFit/>
          </a:bodyPr>
          <a:lstStyle/>
          <a:p>
            <a:pPr algn="l">
              <a:lnSpc>
                <a:spcPct val="112000"/>
              </a:lnSpc>
              <a:spcBef>
                <a:spcPts val="0"/>
              </a:spcBef>
              <a:spcAft>
                <a:spcPts val="100"/>
              </a:spcAft>
            </a:pPr>
            <a:r>
              <a:rPr sz="2100" b="0" i="0">
                <a:solidFill>
                  <a:srgbClr val="C9A961"/>
                </a:solidFill>
                <a:latin typeface="Cormorant Garamond"/>
              </a:rPr>
              <a:t>Claude Code</a:t>
            </a:r>
          </a:p>
          <a:p>
            <a:pPr algn="l">
              <a:lnSpc>
                <a:spcPct val="112000"/>
              </a:lnSpc>
              <a:spcBef>
                <a:spcPts val="0"/>
              </a:spcBef>
              <a:spcAft>
                <a:spcPts val="800"/>
              </a:spcAft>
            </a:pPr>
            <a:r>
              <a:rPr sz="900" b="1" i="0" spc="160">
                <a:solidFill>
                  <a:srgbClr val="64748B"/>
                </a:solidFill>
                <a:latin typeface="Inter"/>
              </a:rPr>
              <a:t>IMPLEMENTATION</a:t>
            </a:r>
          </a:p>
          <a:p>
            <a:pPr algn="l">
              <a:lnSpc>
                <a:spcPct val="112000"/>
              </a:lnSpc>
              <a:spcBef>
                <a:spcPts val="0"/>
              </a:spcBef>
              <a:spcAft>
                <a:spcPts val="700"/>
              </a:spcAft>
            </a:pPr>
            <a:r>
              <a:rPr sz="1100" b="0" i="0">
                <a:solidFill>
                  <a:srgbClr val="8A7440"/>
                </a:solidFill>
                <a:latin typeface="Inter"/>
              </a:rPr>
              <a:t>—  </a:t>
            </a:r>
            <a:r>
              <a:rPr sz="1100" b="0" i="0">
                <a:solidFill>
                  <a:srgbClr val="94A3B8"/>
                </a:solidFill>
                <a:latin typeface="Inter"/>
              </a:rPr>
              <a:t>Executed locked-scope prompts as focused commits</a:t>
            </a:r>
          </a:p>
          <a:p>
            <a:pPr algn="l">
              <a:lnSpc>
                <a:spcPct val="112000"/>
              </a:lnSpc>
              <a:spcBef>
                <a:spcPts val="0"/>
              </a:spcBef>
              <a:spcAft>
                <a:spcPts val="700"/>
              </a:spcAft>
            </a:pPr>
            <a:r>
              <a:rPr sz="1100" b="0" i="0">
                <a:solidFill>
                  <a:srgbClr val="8A7440"/>
                </a:solidFill>
                <a:latin typeface="Inter"/>
              </a:rPr>
              <a:t>—  </a:t>
            </a:r>
            <a:r>
              <a:rPr sz="1100" b="0" i="0">
                <a:solidFill>
                  <a:srgbClr val="94A3B8"/>
                </a:solidFill>
                <a:latin typeface="Inter"/>
              </a:rPr>
              <a:t>Cited file:line in every change; ran the app + curl-verified in-session</a:t>
            </a:r>
          </a:p>
          <a:p>
            <a:pPr algn="l">
              <a:lnSpc>
                <a:spcPct val="112000"/>
              </a:lnSpc>
              <a:spcBef>
                <a:spcPts val="0"/>
              </a:spcBef>
              <a:spcAft>
                <a:spcPts val="700"/>
              </a:spcAft>
            </a:pPr>
            <a:r>
              <a:rPr sz="1100" b="0" i="0">
                <a:solidFill>
                  <a:srgbClr val="8A7440"/>
                </a:solidFill>
                <a:latin typeface="Inter"/>
              </a:rPr>
              <a:t>—  </a:t>
            </a:r>
            <a:r>
              <a:rPr sz="1100" b="0" i="0">
                <a:solidFill>
                  <a:srgbClr val="94A3B8"/>
                </a:solidFill>
                <a:latin typeface="Inter"/>
              </a:rPr>
              <a:t>Caught its own regressions — hooks-order, blank-row, d3-coord bugs</a:t>
            </a:r>
          </a:p>
        </p:txBody>
      </p:sp>
      <p:sp>
        <p:nvSpPr>
          <p:cNvPr id="17" name="Rounded Rectangle 16"/>
          <p:cNvSpPr/>
          <p:nvPr/>
        </p:nvSpPr>
        <p:spPr>
          <a:xfrm>
            <a:off x="8129016" y="1956816"/>
            <a:ext cx="3419856" cy="2743200"/>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9016" y="1956816"/>
            <a:ext cx="54864" cy="2743200"/>
          </a:xfrm>
          <a:prstGeom prst="rect">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05748" y="2157984"/>
            <a:ext cx="160934" cy="160934"/>
          </a:xfrm>
          <a:prstGeom prst="ellipse">
            <a:avLst/>
          </a:prstGeom>
          <a:noFill/>
          <a:ln w="16510">
            <a:solidFill>
              <a:srgbClr val="C9A9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lock Arc 19"/>
          <p:cNvSpPr/>
          <p:nvPr/>
        </p:nvSpPr>
        <p:spPr>
          <a:xfrm>
            <a:off x="8403336" y="2340864"/>
            <a:ext cx="365760" cy="292608"/>
          </a:xfrm>
          <a:prstGeom prst="blockArc">
            <a:avLst/>
          </a:prstGeom>
          <a:noFill/>
          <a:ln w="19050">
            <a:solidFill>
              <a:srgbClr val="C9A96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85048" y="2633472"/>
            <a:ext cx="2962656" cy="1920240"/>
          </a:xfrm>
          <a:prstGeom prst="rect">
            <a:avLst/>
          </a:prstGeom>
          <a:noFill/>
        </p:spPr>
        <p:txBody>
          <a:bodyPr wrap="square" anchor="t" lIns="0" rIns="0" tIns="0" bIns="0">
            <a:spAutoFit/>
          </a:bodyPr>
          <a:lstStyle/>
          <a:p>
            <a:pPr algn="l">
              <a:lnSpc>
                <a:spcPct val="112000"/>
              </a:lnSpc>
              <a:spcBef>
                <a:spcPts val="0"/>
              </a:spcBef>
              <a:spcAft>
                <a:spcPts val="100"/>
              </a:spcAft>
            </a:pPr>
            <a:r>
              <a:rPr sz="2100" b="0" i="0">
                <a:solidFill>
                  <a:srgbClr val="C9A961"/>
                </a:solidFill>
                <a:latin typeface="Cormorant Garamond"/>
              </a:rPr>
              <a:t>Me</a:t>
            </a:r>
          </a:p>
          <a:p>
            <a:pPr algn="l">
              <a:lnSpc>
                <a:spcPct val="112000"/>
              </a:lnSpc>
              <a:spcBef>
                <a:spcPts val="0"/>
              </a:spcBef>
              <a:spcAft>
                <a:spcPts val="800"/>
              </a:spcAft>
            </a:pPr>
            <a:r>
              <a:rPr sz="900" b="1" i="0" spc="160">
                <a:solidFill>
                  <a:srgbClr val="64748B"/>
                </a:solidFill>
                <a:latin typeface="Inter"/>
              </a:rPr>
              <a:t>VERIFICATION + JUDGMENT</a:t>
            </a:r>
          </a:p>
          <a:p>
            <a:pPr algn="l">
              <a:lnSpc>
                <a:spcPct val="112000"/>
              </a:lnSpc>
              <a:spcBef>
                <a:spcPts val="0"/>
              </a:spcBef>
              <a:spcAft>
                <a:spcPts val="700"/>
              </a:spcAft>
            </a:pPr>
            <a:r>
              <a:rPr sz="1100" b="0" i="0">
                <a:solidFill>
                  <a:srgbClr val="8A7440"/>
                </a:solidFill>
                <a:latin typeface="Inter"/>
              </a:rPr>
              <a:t>—  </a:t>
            </a:r>
            <a:r>
              <a:rPr sz="1100" b="0" i="0">
                <a:solidFill>
                  <a:srgbClr val="94A3B8"/>
                </a:solidFill>
                <a:latin typeface="Inter"/>
              </a:rPr>
              <a:t>Walked the running app after every change</a:t>
            </a:r>
          </a:p>
          <a:p>
            <a:pPr algn="l">
              <a:lnSpc>
                <a:spcPct val="112000"/>
              </a:lnSpc>
              <a:spcBef>
                <a:spcPts val="0"/>
              </a:spcBef>
              <a:spcAft>
                <a:spcPts val="700"/>
              </a:spcAft>
            </a:pPr>
            <a:r>
              <a:rPr sz="1100" b="0" i="0">
                <a:solidFill>
                  <a:srgbClr val="8A7440"/>
                </a:solidFill>
                <a:latin typeface="Inter"/>
              </a:rPr>
              <a:t>—  </a:t>
            </a:r>
            <a:r>
              <a:rPr sz="1100" b="0" i="0">
                <a:solidFill>
                  <a:srgbClr val="94A3B8"/>
                </a:solidFill>
                <a:latin typeface="Inter"/>
              </a:rPr>
              <a:t>Made the product and timeline calls</a:t>
            </a:r>
          </a:p>
          <a:p>
            <a:pPr algn="l">
              <a:lnSpc>
                <a:spcPct val="112000"/>
              </a:lnSpc>
              <a:spcBef>
                <a:spcPts val="0"/>
              </a:spcBef>
              <a:spcAft>
                <a:spcPts val="700"/>
              </a:spcAft>
            </a:pPr>
            <a:r>
              <a:rPr sz="1100" b="0" i="0">
                <a:solidFill>
                  <a:srgbClr val="8A7440"/>
                </a:solidFill>
                <a:latin typeface="Inter"/>
              </a:rPr>
              <a:t>—  </a:t>
            </a:r>
            <a:r>
              <a:rPr sz="1100" b="0" i="0">
                <a:solidFill>
                  <a:srgbClr val="94A3B8"/>
                </a:solidFill>
                <a:latin typeface="Inter"/>
              </a:rPr>
              <a:t>Pushed back on scope creep; rejected stale suggestions</a:t>
            </a:r>
          </a:p>
        </p:txBody>
      </p:sp>
      <p:sp>
        <p:nvSpPr>
          <p:cNvPr id="22" name="Rounded Rectangle 21"/>
          <p:cNvSpPr/>
          <p:nvPr/>
        </p:nvSpPr>
        <p:spPr>
          <a:xfrm>
            <a:off x="777240" y="4864608"/>
            <a:ext cx="10625328" cy="1417320"/>
          </a:xfrm>
          <a:prstGeom prst="roundRect">
            <a:avLst>
              <a:gd name="adj" fmla="val 5500"/>
            </a:avLst>
          </a:prstGeom>
          <a:solidFill>
            <a:srgbClr val="0A1628"/>
          </a:solidFill>
          <a:ln w="9525">
            <a:solidFill>
              <a:srgbClr val="8A7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5029200"/>
            <a:ext cx="10149840" cy="1143000"/>
          </a:xfrm>
          <a:prstGeom prst="rect">
            <a:avLst/>
          </a:prstGeom>
          <a:noFill/>
        </p:spPr>
        <p:txBody>
          <a:bodyPr wrap="square" anchor="t" lIns="0" rIns="0" tIns="0" bIns="0">
            <a:spAutoFit/>
          </a:bodyPr>
          <a:lstStyle/>
          <a:p>
            <a:pPr algn="l">
              <a:lnSpc>
                <a:spcPct val="112000"/>
              </a:lnSpc>
              <a:spcBef>
                <a:spcPts val="0"/>
              </a:spcBef>
              <a:spcAft>
                <a:spcPts val="600"/>
              </a:spcAft>
            </a:pPr>
            <a:r>
              <a:rPr sz="950" b="1" i="0" spc="160">
                <a:solidFill>
                  <a:srgbClr val="C9A961"/>
                </a:solidFill>
                <a:latin typeface="Inter"/>
              </a:rPr>
              <a:t>WHAT I LEARNED</a:t>
            </a:r>
          </a:p>
          <a:p>
            <a:pPr algn="l">
              <a:lnSpc>
                <a:spcPct val="118000"/>
              </a:lnSpc>
              <a:spcBef>
                <a:spcPts val="0"/>
              </a:spcBef>
              <a:spcAft>
                <a:spcPts val="400"/>
              </a:spcAft>
            </a:pPr>
            <a:r>
              <a:rPr sz="1200" b="0" i="0">
                <a:solidFill>
                  <a:srgbClr val="94A3B8"/>
                </a:solidFill>
                <a:latin typeface="Inter"/>
              </a:rPr>
              <a:t>AI tooling output is only as good as the verification layer above it. Locked-scope prompts + per-commit curl-and-walkthrough verification = production discipline. Scaling a team this way doesn't replace engineers — it moves them up to the judgment layer. That's the FDE pattern at scale.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9966960" y="310896"/>
            <a:ext cx="1463040" cy="274320"/>
          </a:xfrm>
          <a:prstGeom prst="rect">
            <a:avLst/>
          </a:prstGeom>
          <a:noFill/>
        </p:spPr>
        <p:txBody>
          <a:bodyPr wrap="square" anchor="t" lIns="0" rIns="0" tIns="0" bIns="0">
            <a:spAutoFit/>
          </a:bodyPr>
          <a:lstStyle/>
          <a:p>
            <a:pPr algn="r">
              <a:lnSpc>
                <a:spcPct val="112000"/>
              </a:lnSpc>
              <a:spcBef>
                <a:spcPts val="0"/>
              </a:spcBef>
              <a:spcAft>
                <a:spcPts val="0"/>
              </a:spcAft>
            </a:pPr>
            <a:r>
              <a:rPr sz="900" b="1" i="0" spc="200">
                <a:solidFill>
                  <a:srgbClr val="8A7440"/>
                </a:solidFill>
                <a:latin typeface="Inter"/>
              </a:rPr>
              <a:t>APPENDIX</a:t>
            </a: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0"/>
              </a:spcAft>
            </a:pPr>
            <a:r>
              <a:rPr sz="1250" b="1" i="0" spc="220">
                <a:solidFill>
                  <a:srgbClr val="94A3B8"/>
                </a:solidFill>
                <a:latin typeface="Inter"/>
              </a:rPr>
              <a:t>TECH STACK</a:t>
            </a:r>
          </a:p>
        </p:txBody>
      </p:sp>
      <p:sp>
        <p:nvSpPr>
          <p:cNvPr id="4" name="TextBox 3"/>
          <p:cNvSpPr txBox="1"/>
          <p:nvPr/>
        </p:nvSpPr>
        <p:spPr>
          <a:xfrm>
            <a:off x="777240" y="932688"/>
            <a:ext cx="1060704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0" i="0">
                <a:solidFill>
                  <a:srgbClr val="F0F4F8"/>
                </a:solidFill>
                <a:latin typeface="Cormorant Garamond"/>
              </a:rPr>
              <a:t>Tech stack</a:t>
            </a:r>
          </a:p>
        </p:txBody>
      </p:sp>
      <p:sp>
        <p:nvSpPr>
          <p:cNvPr id="5" name="Rectangle 4"/>
          <p:cNvSpPr/>
          <p:nvPr/>
        </p:nvSpPr>
        <p:spPr>
          <a:xfrm>
            <a:off x="777240" y="1627632"/>
            <a:ext cx="10607040" cy="11887"/>
          </a:xfrm>
          <a:prstGeom prst="rect">
            <a:avLst/>
          </a:prstGeom>
          <a:solidFill>
            <a:srgbClr val="2A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2057400"/>
            <a:ext cx="2578608" cy="2697480"/>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8" y="2249424"/>
            <a:ext cx="2194560" cy="2331720"/>
          </a:xfrm>
          <a:prstGeom prst="rect">
            <a:avLst/>
          </a:prstGeom>
          <a:noFill/>
        </p:spPr>
        <p:txBody>
          <a:bodyPr wrap="square" anchor="t" lIns="0" rIns="0" tIns="0" bIns="0">
            <a:spAutoFit/>
          </a:bodyPr>
          <a:lstStyle/>
          <a:p>
            <a:pPr algn="l">
              <a:lnSpc>
                <a:spcPct val="112000"/>
              </a:lnSpc>
              <a:spcBef>
                <a:spcPts val="0"/>
              </a:spcBef>
              <a:spcAft>
                <a:spcPts val="300"/>
              </a:spcAft>
            </a:pPr>
            <a:r>
              <a:rPr sz="1800" b="0" i="0">
                <a:solidFill>
                  <a:srgbClr val="C9A961"/>
                </a:solidFill>
                <a:latin typeface="Cormorant Garamond"/>
              </a:rPr>
              <a:t>Frontend</a:t>
            </a:r>
          </a:p>
          <a:p>
            <a:pPr algn="l">
              <a:lnSpc>
                <a:spcPct val="110000"/>
              </a:lnSpc>
              <a:spcBef>
                <a:spcPts val="0"/>
              </a:spcBef>
              <a:spcAft>
                <a:spcPts val="1000"/>
              </a:spcAft>
            </a:pPr>
            <a:r>
              <a:rPr sz="800" b="0" i="0">
                <a:solidFill>
                  <a:srgbClr val="8A7440"/>
                </a:solidFill>
                <a:latin typeface="JetBrains Mono"/>
              </a:rPr>
              <a:t>design-prototype/</a:t>
            </a:r>
          </a:p>
          <a:p>
            <a:pPr algn="l">
              <a:lnSpc>
                <a:spcPct val="112000"/>
              </a:lnSpc>
              <a:spcBef>
                <a:spcPts val="0"/>
              </a:spcBef>
              <a:spcAft>
                <a:spcPts val="700"/>
              </a:spcAft>
            </a:pPr>
            <a:r>
              <a:rPr sz="1050" b="0" i="0">
                <a:solidFill>
                  <a:srgbClr val="8A7440"/>
                </a:solidFill>
                <a:latin typeface="Inter"/>
              </a:rPr>
              <a:t>—  </a:t>
            </a:r>
            <a:r>
              <a:rPr sz="1050" b="0" i="0">
                <a:solidFill>
                  <a:srgbClr val="94A3B8"/>
                </a:solidFill>
                <a:latin typeface="Inter"/>
              </a:rPr>
              <a:t>React 18 + Babel-standalone (no build)</a:t>
            </a:r>
          </a:p>
          <a:p>
            <a:pPr algn="l">
              <a:lnSpc>
                <a:spcPct val="112000"/>
              </a:lnSpc>
              <a:spcBef>
                <a:spcPts val="0"/>
              </a:spcBef>
              <a:spcAft>
                <a:spcPts val="700"/>
              </a:spcAft>
            </a:pPr>
            <a:r>
              <a:rPr sz="1050" b="0" i="0">
                <a:solidFill>
                  <a:srgbClr val="8A7440"/>
                </a:solidFill>
                <a:latin typeface="Inter"/>
              </a:rPr>
              <a:t>—  </a:t>
            </a:r>
            <a:r>
              <a:rPr sz="1050" b="0" i="0">
                <a:solidFill>
                  <a:srgbClr val="94A3B8"/>
                </a:solidFill>
                <a:latin typeface="Inter"/>
              </a:rPr>
              <a:t>d3-force graph · SheetJS · hash routing</a:t>
            </a:r>
          </a:p>
          <a:p>
            <a:pPr algn="l">
              <a:lnSpc>
                <a:spcPct val="112000"/>
              </a:lnSpc>
              <a:spcBef>
                <a:spcPts val="0"/>
              </a:spcBef>
              <a:spcAft>
                <a:spcPts val="700"/>
              </a:spcAft>
            </a:pPr>
            <a:r>
              <a:rPr sz="1050" b="0" i="0">
                <a:solidFill>
                  <a:srgbClr val="8A7440"/>
                </a:solidFill>
                <a:latin typeface="Inter"/>
              </a:rPr>
              <a:t>—  </a:t>
            </a:r>
            <a:r>
              <a:rPr sz="1050" b="0" i="0">
                <a:solidFill>
                  <a:srgbClr val="94A3B8"/>
                </a:solidFill>
                <a:latin typeface="Inter"/>
              </a:rPr>
              <a:t>Design tokens in tokens.css (CSS vars)</a:t>
            </a:r>
          </a:p>
        </p:txBody>
      </p:sp>
      <p:sp>
        <p:nvSpPr>
          <p:cNvPr id="8" name="Rounded Rectangle 7"/>
          <p:cNvSpPr/>
          <p:nvPr/>
        </p:nvSpPr>
        <p:spPr>
          <a:xfrm>
            <a:off x="3520440" y="2057400"/>
            <a:ext cx="2578608" cy="2697480"/>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21608" y="2249424"/>
            <a:ext cx="2194560" cy="2331720"/>
          </a:xfrm>
          <a:prstGeom prst="rect">
            <a:avLst/>
          </a:prstGeom>
          <a:noFill/>
        </p:spPr>
        <p:txBody>
          <a:bodyPr wrap="square" anchor="t" lIns="0" rIns="0" tIns="0" bIns="0">
            <a:spAutoFit/>
          </a:bodyPr>
          <a:lstStyle/>
          <a:p>
            <a:pPr algn="l">
              <a:lnSpc>
                <a:spcPct val="112000"/>
              </a:lnSpc>
              <a:spcBef>
                <a:spcPts val="0"/>
              </a:spcBef>
              <a:spcAft>
                <a:spcPts val="300"/>
              </a:spcAft>
            </a:pPr>
            <a:r>
              <a:rPr sz="1800" b="0" i="0">
                <a:solidFill>
                  <a:srgbClr val="C9A961"/>
                </a:solidFill>
                <a:latin typeface="Cormorant Garamond"/>
              </a:rPr>
              <a:t>Backend</a:t>
            </a:r>
          </a:p>
          <a:p>
            <a:pPr algn="l">
              <a:lnSpc>
                <a:spcPct val="110000"/>
              </a:lnSpc>
              <a:spcBef>
                <a:spcPts val="0"/>
              </a:spcBef>
              <a:spcAft>
                <a:spcPts val="1000"/>
              </a:spcAft>
            </a:pPr>
            <a:r>
              <a:rPr sz="800" b="0" i="0">
                <a:solidFill>
                  <a:srgbClr val="8A7440"/>
                </a:solidFill>
                <a:latin typeface="JetBrains Mono"/>
              </a:rPr>
              <a:t>services/api/</a:t>
            </a:r>
          </a:p>
          <a:p>
            <a:pPr algn="l">
              <a:lnSpc>
                <a:spcPct val="112000"/>
              </a:lnSpc>
              <a:spcBef>
                <a:spcPts val="0"/>
              </a:spcBef>
              <a:spcAft>
                <a:spcPts val="700"/>
              </a:spcAft>
            </a:pPr>
            <a:r>
              <a:rPr sz="1050" b="0" i="0">
                <a:solidFill>
                  <a:srgbClr val="8A7440"/>
                </a:solidFill>
                <a:latin typeface="Inter"/>
              </a:rPr>
              <a:t>—  </a:t>
            </a:r>
            <a:r>
              <a:rPr sz="1050" b="0" i="0">
                <a:solidFill>
                  <a:srgbClr val="94A3B8"/>
                </a:solidFill>
                <a:latin typeface="Inter"/>
              </a:rPr>
              <a:t>Python 3.12 · FastAPI · uvicorn</a:t>
            </a:r>
          </a:p>
          <a:p>
            <a:pPr algn="l">
              <a:lnSpc>
                <a:spcPct val="112000"/>
              </a:lnSpc>
              <a:spcBef>
                <a:spcPts val="0"/>
              </a:spcBef>
              <a:spcAft>
                <a:spcPts val="700"/>
              </a:spcAft>
            </a:pPr>
            <a:r>
              <a:rPr sz="1050" b="0" i="0">
                <a:solidFill>
                  <a:srgbClr val="8A7440"/>
                </a:solidFill>
                <a:latin typeface="Inter"/>
              </a:rPr>
              <a:t>—  </a:t>
            </a:r>
            <a:r>
              <a:rPr sz="1050" b="0" i="0">
                <a:solidFill>
                  <a:srgbClr val="94A3B8"/>
                </a:solidFill>
                <a:latin typeface="Inter"/>
              </a:rPr>
              <a:t>SSE streaming · in-memory OFAC matcher</a:t>
            </a:r>
          </a:p>
          <a:p>
            <a:pPr algn="l">
              <a:lnSpc>
                <a:spcPct val="112000"/>
              </a:lnSpc>
              <a:spcBef>
                <a:spcPts val="0"/>
              </a:spcBef>
              <a:spcAft>
                <a:spcPts val="700"/>
              </a:spcAft>
            </a:pPr>
            <a:r>
              <a:rPr sz="1050" b="0" i="0">
                <a:solidFill>
                  <a:srgbClr val="8A7440"/>
                </a:solidFill>
                <a:latin typeface="Inter"/>
              </a:rPr>
              <a:t>—  </a:t>
            </a:r>
            <a:r>
              <a:rPr sz="1050" b="0" i="0">
                <a:solidFill>
                  <a:srgbClr val="94A3B8"/>
                </a:solidFill>
                <a:latin typeface="Inter"/>
              </a:rPr>
              <a:t>Agent loop + in-memory credential store</a:t>
            </a:r>
          </a:p>
        </p:txBody>
      </p:sp>
      <p:sp>
        <p:nvSpPr>
          <p:cNvPr id="10" name="Rounded Rectangle 9"/>
          <p:cNvSpPr/>
          <p:nvPr/>
        </p:nvSpPr>
        <p:spPr>
          <a:xfrm>
            <a:off x="6263640" y="2057400"/>
            <a:ext cx="2578608" cy="2697480"/>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7" y="2249424"/>
            <a:ext cx="2194560" cy="2331720"/>
          </a:xfrm>
          <a:prstGeom prst="rect">
            <a:avLst/>
          </a:prstGeom>
          <a:noFill/>
        </p:spPr>
        <p:txBody>
          <a:bodyPr wrap="square" anchor="t" lIns="0" rIns="0" tIns="0" bIns="0">
            <a:spAutoFit/>
          </a:bodyPr>
          <a:lstStyle/>
          <a:p>
            <a:pPr algn="l">
              <a:lnSpc>
                <a:spcPct val="112000"/>
              </a:lnSpc>
              <a:spcBef>
                <a:spcPts val="0"/>
              </a:spcBef>
              <a:spcAft>
                <a:spcPts val="300"/>
              </a:spcAft>
            </a:pPr>
            <a:r>
              <a:rPr sz="1800" b="0" i="0">
                <a:solidFill>
                  <a:srgbClr val="C9A961"/>
                </a:solidFill>
                <a:latin typeface="Cormorant Garamond"/>
              </a:rPr>
              <a:t>Engine + MCP</a:t>
            </a:r>
          </a:p>
          <a:p>
            <a:pPr algn="l">
              <a:lnSpc>
                <a:spcPct val="110000"/>
              </a:lnSpc>
              <a:spcBef>
                <a:spcPts val="0"/>
              </a:spcBef>
              <a:spcAft>
                <a:spcPts val="1000"/>
              </a:spcAft>
            </a:pPr>
            <a:r>
              <a:rPr sz="800" b="0" i="0">
                <a:solidFill>
                  <a:srgbClr val="8A7440"/>
                </a:solidFill>
                <a:latin typeface="JetBrains Mono"/>
              </a:rPr>
              <a:t>packages/engine/ · services/mcp/</a:t>
            </a:r>
          </a:p>
          <a:p>
            <a:pPr algn="l">
              <a:lnSpc>
                <a:spcPct val="112000"/>
              </a:lnSpc>
              <a:spcBef>
                <a:spcPts val="0"/>
              </a:spcBef>
              <a:spcAft>
                <a:spcPts val="700"/>
              </a:spcAft>
            </a:pPr>
            <a:r>
              <a:rPr sz="1050" b="0" i="0">
                <a:solidFill>
                  <a:srgbClr val="8A7440"/>
                </a:solidFill>
                <a:latin typeface="Inter"/>
              </a:rPr>
              <a:t>—  </a:t>
            </a:r>
            <a:r>
              <a:rPr sz="1050" b="0" i="0">
                <a:solidFill>
                  <a:srgbClr val="94A3B8"/>
                </a:solidFill>
                <a:latin typeface="Inter"/>
              </a:rPr>
              <a:t>Importable pure-Python engine</a:t>
            </a:r>
          </a:p>
          <a:p>
            <a:pPr algn="l">
              <a:lnSpc>
                <a:spcPct val="112000"/>
              </a:lnSpc>
              <a:spcBef>
                <a:spcPts val="0"/>
              </a:spcBef>
              <a:spcAft>
                <a:spcPts val="700"/>
              </a:spcAft>
            </a:pPr>
            <a:r>
              <a:rPr sz="1050" b="0" i="0">
                <a:solidFill>
                  <a:srgbClr val="8A7440"/>
                </a:solidFill>
                <a:latin typeface="Inter"/>
              </a:rPr>
              <a:t>—  </a:t>
            </a:r>
            <a:r>
              <a:rPr sz="1050" b="0" i="0">
                <a:solidFill>
                  <a:srgbClr val="94A3B8"/>
                </a:solidFill>
                <a:latin typeface="Inter"/>
              </a:rPr>
              <a:t>MCP server (mcp SDK) · 6 tools</a:t>
            </a:r>
          </a:p>
          <a:p>
            <a:pPr algn="l">
              <a:lnSpc>
                <a:spcPct val="112000"/>
              </a:lnSpc>
              <a:spcBef>
                <a:spcPts val="0"/>
              </a:spcBef>
              <a:spcAft>
                <a:spcPts val="700"/>
              </a:spcAft>
            </a:pPr>
            <a:r>
              <a:rPr sz="1050" b="0" i="0">
                <a:solidFill>
                  <a:srgbClr val="8A7440"/>
                </a:solidFill>
                <a:latin typeface="Inter"/>
              </a:rPr>
              <a:t>—  </a:t>
            </a:r>
            <a:r>
              <a:rPr sz="1050" b="0" i="0">
                <a:solidFill>
                  <a:srgbClr val="94A3B8"/>
                </a:solidFill>
                <a:latin typeface="Inter"/>
              </a:rPr>
              <a:t>Direct engine import — no HTTP hop</a:t>
            </a:r>
          </a:p>
        </p:txBody>
      </p:sp>
      <p:sp>
        <p:nvSpPr>
          <p:cNvPr id="12" name="Rounded Rectangle 11"/>
          <p:cNvSpPr/>
          <p:nvPr/>
        </p:nvSpPr>
        <p:spPr>
          <a:xfrm>
            <a:off x="9006840" y="2057400"/>
            <a:ext cx="2578608" cy="2697480"/>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08008" y="2249424"/>
            <a:ext cx="2194560" cy="2331720"/>
          </a:xfrm>
          <a:prstGeom prst="rect">
            <a:avLst/>
          </a:prstGeom>
          <a:noFill/>
        </p:spPr>
        <p:txBody>
          <a:bodyPr wrap="square" anchor="t" lIns="0" rIns="0" tIns="0" bIns="0">
            <a:spAutoFit/>
          </a:bodyPr>
          <a:lstStyle/>
          <a:p>
            <a:pPr algn="l">
              <a:lnSpc>
                <a:spcPct val="112000"/>
              </a:lnSpc>
              <a:spcBef>
                <a:spcPts val="0"/>
              </a:spcBef>
              <a:spcAft>
                <a:spcPts val="300"/>
              </a:spcAft>
            </a:pPr>
            <a:r>
              <a:rPr sz="1800" b="0" i="0">
                <a:solidFill>
                  <a:srgbClr val="C9A961"/>
                </a:solidFill>
                <a:latin typeface="Cormorant Garamond"/>
              </a:rPr>
              <a:t>Data + AI</a:t>
            </a:r>
          </a:p>
          <a:p>
            <a:pPr algn="l">
              <a:lnSpc>
                <a:spcPct val="110000"/>
              </a:lnSpc>
              <a:spcBef>
                <a:spcPts val="0"/>
              </a:spcBef>
              <a:spcAft>
                <a:spcPts val="1000"/>
              </a:spcAft>
            </a:pPr>
            <a:r>
              <a:rPr sz="800" b="0" i="0">
                <a:solidFill>
                  <a:srgbClr val="8A7440"/>
                </a:solidFill>
                <a:latin typeface="JetBrains Mono"/>
              </a:rPr>
              <a:t>output/ · db/ · Anthropic</a:t>
            </a:r>
          </a:p>
          <a:p>
            <a:pPr algn="l">
              <a:lnSpc>
                <a:spcPct val="112000"/>
              </a:lnSpc>
              <a:spcBef>
                <a:spcPts val="0"/>
              </a:spcBef>
              <a:spcAft>
                <a:spcPts val="700"/>
              </a:spcAft>
            </a:pPr>
            <a:r>
              <a:rPr sz="1050" b="0" i="0">
                <a:solidFill>
                  <a:srgbClr val="8A7440"/>
                </a:solidFill>
                <a:latin typeface="Inter"/>
              </a:rPr>
              <a:t>—  </a:t>
            </a:r>
            <a:r>
              <a:rPr sz="1050" b="0" i="0">
                <a:solidFill>
                  <a:srgbClr val="94A3B8"/>
                </a:solidFill>
                <a:latin typeface="Inter"/>
              </a:rPr>
              <a:t>File cache default · optional Postgres (6 tbl)</a:t>
            </a:r>
          </a:p>
          <a:p>
            <a:pPr algn="l">
              <a:lnSpc>
                <a:spcPct val="112000"/>
              </a:lnSpc>
              <a:spcBef>
                <a:spcPts val="0"/>
              </a:spcBef>
              <a:spcAft>
                <a:spcPts val="700"/>
              </a:spcAft>
            </a:pPr>
            <a:r>
              <a:rPr sz="1050" b="0" i="0">
                <a:solidFill>
                  <a:srgbClr val="8A7440"/>
                </a:solidFill>
                <a:latin typeface="Inter"/>
              </a:rPr>
              <a:t>—  </a:t>
            </a:r>
            <a:r>
              <a:rPr sz="1050" b="0" i="0">
                <a:solidFill>
                  <a:srgbClr val="94A3B8"/>
                </a:solidFill>
                <a:latin typeface="Inter"/>
              </a:rPr>
              <a:t>OFAC SDN 17,207 rows · WeasyPrint + HTML</a:t>
            </a:r>
          </a:p>
          <a:p>
            <a:pPr algn="l">
              <a:lnSpc>
                <a:spcPct val="112000"/>
              </a:lnSpc>
              <a:spcBef>
                <a:spcPts val="0"/>
              </a:spcBef>
              <a:spcAft>
                <a:spcPts val="700"/>
              </a:spcAft>
            </a:pPr>
            <a:r>
              <a:rPr sz="1050" b="0" i="0">
                <a:solidFill>
                  <a:srgbClr val="8A7440"/>
                </a:solidFill>
                <a:latin typeface="Inter"/>
              </a:rPr>
              <a:t>—  </a:t>
            </a:r>
            <a:r>
              <a:rPr sz="1050" b="0" i="0">
                <a:solidFill>
                  <a:srgbClr val="94A3B8"/>
                </a:solidFill>
                <a:latin typeface="Inter"/>
              </a:rPr>
              <a:t>Anthropic claude-sonnet-4-6 tool-use loop</a:t>
            </a:r>
          </a:p>
        </p:txBody>
      </p:sp>
      <p:sp>
        <p:nvSpPr>
          <p:cNvPr id="14" name="TextBox 13"/>
          <p:cNvSpPr txBox="1"/>
          <p:nvPr/>
        </p:nvSpPr>
        <p:spPr>
          <a:xfrm>
            <a:off x="777240" y="5029200"/>
            <a:ext cx="10625328" cy="457200"/>
          </a:xfrm>
          <a:prstGeom prst="rect">
            <a:avLst/>
          </a:prstGeom>
          <a:noFill/>
        </p:spPr>
        <p:txBody>
          <a:bodyPr wrap="square" anchor="t" lIns="0" rIns="0" tIns="0" bIns="0">
            <a:spAutoFit/>
          </a:bodyPr>
          <a:lstStyle/>
          <a:p>
            <a:pPr algn="l">
              <a:lnSpc>
                <a:spcPct val="120000"/>
              </a:lnSpc>
              <a:spcBef>
                <a:spcPts val="0"/>
              </a:spcBef>
              <a:spcAft>
                <a:spcPts val="400"/>
              </a:spcAft>
            </a:pPr>
            <a:r>
              <a:rPr sz="1100" b="0" i="1">
                <a:solidFill>
                  <a:srgbClr val="64748B"/>
                </a:solidFill>
                <a:latin typeface="Inter"/>
              </a:rPr>
              <a:t>Two non-obvious choices: Tailwind-free CSS-variable tokens (no build config), and SSE frames persisted as cache files — which is what makes any past investigation replayable from disk.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9966960" y="310896"/>
            <a:ext cx="1463040" cy="274320"/>
          </a:xfrm>
          <a:prstGeom prst="rect">
            <a:avLst/>
          </a:prstGeom>
          <a:noFill/>
        </p:spPr>
        <p:txBody>
          <a:bodyPr wrap="square" anchor="t" lIns="0" rIns="0" tIns="0" bIns="0">
            <a:spAutoFit/>
          </a:bodyPr>
          <a:lstStyle/>
          <a:p>
            <a:pPr algn="r">
              <a:lnSpc>
                <a:spcPct val="112000"/>
              </a:lnSpc>
              <a:spcBef>
                <a:spcPts val="0"/>
              </a:spcBef>
              <a:spcAft>
                <a:spcPts val="0"/>
              </a:spcAft>
            </a:pPr>
            <a:r>
              <a:rPr sz="900" b="1" i="0" spc="200">
                <a:solidFill>
                  <a:srgbClr val="8A7440"/>
                </a:solidFill>
                <a:latin typeface="Inter"/>
              </a:rPr>
              <a:t>APPENDIX</a:t>
            </a: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0"/>
              </a:spcAft>
            </a:pPr>
            <a:r>
              <a:rPr sz="1250" b="1" i="0" spc="220">
                <a:solidFill>
                  <a:srgbClr val="94A3B8"/>
                </a:solidFill>
                <a:latin typeface="Inter"/>
              </a:rPr>
              <a:t>DATA MODEL &amp; CACHE LAYOUT</a:t>
            </a:r>
          </a:p>
        </p:txBody>
      </p:sp>
      <p:sp>
        <p:nvSpPr>
          <p:cNvPr id="4" name="TextBox 3"/>
          <p:cNvSpPr txBox="1"/>
          <p:nvPr/>
        </p:nvSpPr>
        <p:spPr>
          <a:xfrm>
            <a:off x="777240" y="932688"/>
            <a:ext cx="1060704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F0F4F8"/>
                </a:solidFill>
                <a:latin typeface="Cormorant Garamond"/>
              </a:rPr>
              <a:t>File-first, database-optional</a:t>
            </a:r>
          </a:p>
        </p:txBody>
      </p:sp>
      <p:sp>
        <p:nvSpPr>
          <p:cNvPr id="5" name="Rectangle 4"/>
          <p:cNvSpPr/>
          <p:nvPr/>
        </p:nvSpPr>
        <p:spPr>
          <a:xfrm>
            <a:off x="777240" y="1783080"/>
            <a:ext cx="10607040" cy="11887"/>
          </a:xfrm>
          <a:prstGeom prst="rect">
            <a:avLst/>
          </a:prstGeom>
          <a:solidFill>
            <a:srgbClr val="2A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938528"/>
            <a:ext cx="5184648" cy="3566160"/>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21408"/>
            <a:ext cx="4754880" cy="3200400"/>
          </a:xfrm>
          <a:prstGeom prst="rect">
            <a:avLst/>
          </a:prstGeom>
          <a:noFill/>
        </p:spPr>
        <p:txBody>
          <a:bodyPr wrap="square" anchor="t" lIns="0" rIns="0" tIns="0" bIns="0">
            <a:spAutoFit/>
          </a:bodyPr>
          <a:lstStyle/>
          <a:p>
            <a:pPr algn="l">
              <a:lnSpc>
                <a:spcPct val="112000"/>
              </a:lnSpc>
              <a:spcBef>
                <a:spcPts val="0"/>
              </a:spcBef>
              <a:spcAft>
                <a:spcPts val="900"/>
              </a:spcAft>
            </a:pPr>
            <a:r>
              <a:rPr sz="950" b="1" i="0" spc="120">
                <a:solidFill>
                  <a:srgbClr val="C9A961"/>
                </a:solidFill>
                <a:latin typeface="Inter"/>
              </a:rPr>
              <a:t>OPTIONAL POSTGRES SCHEMA  ·  db/schema.sql</a:t>
            </a:r>
          </a:p>
          <a:p>
            <a:pPr algn="l">
              <a:lnSpc>
                <a:spcPct val="110000"/>
              </a:lnSpc>
              <a:spcBef>
                <a:spcPts val="0"/>
              </a:spcBef>
              <a:spcAft>
                <a:spcPts val="700"/>
              </a:spcAft>
            </a:pPr>
            <a:r>
              <a:rPr sz="1100" b="0" i="0">
                <a:solidFill>
                  <a:srgbClr val="F0F4F8"/>
                </a:solidFill>
                <a:latin typeface="JetBrains Mono"/>
              </a:rPr>
              <a:t>ofac_sdn</a:t>
            </a:r>
            <a:r>
              <a:rPr sz="950" b="0" i="0">
                <a:solidFill>
                  <a:srgbClr val="64748B"/>
                </a:solidFill>
                <a:latin typeface="Inter"/>
              </a:rPr>
              <a:t>   17,207 rows · pg_trgm fuzzy match</a:t>
            </a:r>
          </a:p>
          <a:p>
            <a:pPr algn="l">
              <a:lnSpc>
                <a:spcPct val="110000"/>
              </a:lnSpc>
              <a:spcBef>
                <a:spcPts val="0"/>
              </a:spcBef>
              <a:spcAft>
                <a:spcPts val="700"/>
              </a:spcAft>
            </a:pPr>
            <a:r>
              <a:rPr sz="1100" b="0" i="0">
                <a:solidFill>
                  <a:srgbClr val="F0F4F8"/>
                </a:solidFill>
                <a:latin typeface="JetBrains Mono"/>
              </a:rPr>
              <a:t>entity_cache</a:t>
            </a:r>
            <a:r>
              <a:rPr sz="950" b="0" i="0">
                <a:solidFill>
                  <a:srgbClr val="64748B"/>
                </a:solidFill>
                <a:latin typeface="Inter"/>
              </a:rPr>
              <a:t>   mirrors output/raw/*.json</a:t>
            </a:r>
          </a:p>
          <a:p>
            <a:pPr algn="l">
              <a:lnSpc>
                <a:spcPct val="110000"/>
              </a:lnSpc>
              <a:spcBef>
                <a:spcPts val="0"/>
              </a:spcBef>
              <a:spcAft>
                <a:spcPts val="700"/>
              </a:spcAft>
            </a:pPr>
            <a:r>
              <a:rPr sz="1100" b="0" i="0">
                <a:solidFill>
                  <a:srgbClr val="F0F4F8"/>
                </a:solidFill>
                <a:latin typeface="JetBrains Mono"/>
              </a:rPr>
              <a:t>screening_run</a:t>
            </a:r>
            <a:r>
              <a:rPr sz="950" b="0" i="0">
                <a:solidFill>
                  <a:srgbClr val="64748B"/>
                </a:solidFill>
                <a:latin typeface="Inter"/>
              </a:rPr>
              <a:t>   one row per compare invocation</a:t>
            </a:r>
          </a:p>
          <a:p>
            <a:pPr algn="l">
              <a:lnSpc>
                <a:spcPct val="110000"/>
              </a:lnSpc>
              <a:spcBef>
                <a:spcPts val="0"/>
              </a:spcBef>
              <a:spcAft>
                <a:spcPts val="700"/>
              </a:spcAft>
            </a:pPr>
            <a:r>
              <a:rPr sz="1100" b="0" i="0">
                <a:solidFill>
                  <a:srgbClr val="F0F4F8"/>
                </a:solidFill>
                <a:latin typeface="JetBrains Mono"/>
              </a:rPr>
              <a:t>investigation</a:t>
            </a:r>
            <a:r>
              <a:rPr sz="950" b="0" i="0">
                <a:solidFill>
                  <a:srgbClr val="64748B"/>
                </a:solidFill>
                <a:latin typeface="Inter"/>
              </a:rPr>
              <a:t>   workflow record</a:t>
            </a:r>
          </a:p>
          <a:p>
            <a:pPr algn="l">
              <a:lnSpc>
                <a:spcPct val="110000"/>
              </a:lnSpc>
              <a:spcBef>
                <a:spcPts val="0"/>
              </a:spcBef>
              <a:spcAft>
                <a:spcPts val="700"/>
              </a:spcAft>
            </a:pPr>
            <a:r>
              <a:rPr sz="1100" b="0" i="0">
                <a:solidFill>
                  <a:srgbClr val="F0F4F8"/>
                </a:solidFill>
                <a:latin typeface="JetBrains Mono"/>
              </a:rPr>
              <a:t>entity_result</a:t>
            </a:r>
            <a:r>
              <a:rPr sz="950" b="0" i="0">
                <a:solidFill>
                  <a:srgbClr val="64748B"/>
                </a:solidFill>
                <a:latin typeface="Inter"/>
              </a:rPr>
              <a:t>   per-entity customer payload</a:t>
            </a:r>
          </a:p>
          <a:p>
            <a:pPr algn="l">
              <a:lnSpc>
                <a:spcPct val="110000"/>
              </a:lnSpc>
              <a:spcBef>
                <a:spcPts val="0"/>
              </a:spcBef>
              <a:spcAft>
                <a:spcPts val="700"/>
              </a:spcAft>
            </a:pPr>
            <a:r>
              <a:rPr sz="1100" b="0" i="0">
                <a:solidFill>
                  <a:srgbClr val="F0F4F8"/>
                </a:solidFill>
                <a:latin typeface="JetBrains Mono"/>
              </a:rPr>
              <a:t>disposition</a:t>
            </a:r>
            <a:r>
              <a:rPr sz="950" b="0" i="0">
                <a:solidFill>
                  <a:srgbClr val="64748B"/>
                </a:solidFill>
                <a:latin typeface="Inter"/>
              </a:rPr>
              <a:t>   analyst maker-checker decision</a:t>
            </a:r>
          </a:p>
        </p:txBody>
      </p:sp>
      <p:sp>
        <p:nvSpPr>
          <p:cNvPr id="8" name="TextBox 7"/>
          <p:cNvSpPr txBox="1"/>
          <p:nvPr/>
        </p:nvSpPr>
        <p:spPr>
          <a:xfrm>
            <a:off x="1005840" y="5074920"/>
            <a:ext cx="4754880" cy="365760"/>
          </a:xfrm>
          <a:prstGeom prst="rect">
            <a:avLst/>
          </a:prstGeom>
          <a:noFill/>
        </p:spPr>
        <p:txBody>
          <a:bodyPr wrap="square" anchor="t" lIns="0" rIns="0" tIns="0" bIns="0">
            <a:spAutoFit/>
          </a:bodyPr>
          <a:lstStyle/>
          <a:p>
            <a:pPr algn="l">
              <a:lnSpc>
                <a:spcPct val="110000"/>
              </a:lnSpc>
              <a:spcBef>
                <a:spcPts val="0"/>
              </a:spcBef>
              <a:spcAft>
                <a:spcPts val="400"/>
              </a:spcAft>
            </a:pPr>
            <a:r>
              <a:rPr sz="1000" b="0" i="1">
                <a:solidFill>
                  <a:srgbClr val="94A3B8"/>
                </a:solidFill>
                <a:latin typeface="Inter"/>
              </a:rPr>
              <a:t>The code path falls back to file storage when DATABASE_URL is unset.</a:t>
            </a:r>
          </a:p>
        </p:txBody>
      </p:sp>
      <p:sp>
        <p:nvSpPr>
          <p:cNvPr id="9" name="Rounded Rectangle 8"/>
          <p:cNvSpPr/>
          <p:nvPr/>
        </p:nvSpPr>
        <p:spPr>
          <a:xfrm>
            <a:off x="6217920" y="1938528"/>
            <a:ext cx="5184648" cy="3566160"/>
          </a:xfrm>
          <a:prstGeom prst="roundRect">
            <a:avLst>
              <a:gd name="adj" fmla="val 5500"/>
            </a:avLst>
          </a:prstGeom>
          <a:solidFill>
            <a:srgbClr val="1A2436"/>
          </a:solidFill>
          <a:ln w="9525">
            <a:solidFill>
              <a:srgbClr val="8A74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2121408"/>
            <a:ext cx="4754880" cy="3200400"/>
          </a:xfrm>
          <a:prstGeom prst="rect">
            <a:avLst/>
          </a:prstGeom>
          <a:noFill/>
        </p:spPr>
        <p:txBody>
          <a:bodyPr wrap="square" anchor="t" lIns="0" rIns="0" tIns="0" bIns="0">
            <a:spAutoFit/>
          </a:bodyPr>
          <a:lstStyle/>
          <a:p>
            <a:pPr algn="l">
              <a:lnSpc>
                <a:spcPct val="112000"/>
              </a:lnSpc>
              <a:spcBef>
                <a:spcPts val="0"/>
              </a:spcBef>
              <a:spcAft>
                <a:spcPts val="900"/>
              </a:spcAft>
            </a:pPr>
            <a:r>
              <a:rPr sz="950" b="1" i="0" spc="120">
                <a:solidFill>
                  <a:srgbClr val="C9A961"/>
                </a:solidFill>
                <a:latin typeface="Inter"/>
              </a:rPr>
              <a:t>THE ACTUAL DEFAULT  ·  output/</a:t>
            </a:r>
          </a:p>
          <a:p>
            <a:pPr algn="l">
              <a:lnSpc>
                <a:spcPct val="110000"/>
              </a:lnSpc>
              <a:spcBef>
                <a:spcPts val="0"/>
              </a:spcBef>
              <a:spcAft>
                <a:spcPts val="700"/>
              </a:spcAft>
            </a:pPr>
            <a:r>
              <a:rPr sz="1050" b="0" i="0">
                <a:solidFill>
                  <a:srgbClr val="F0F4F8"/>
                </a:solidFill>
                <a:latin typeface="JetBrains Mono"/>
              </a:rPr>
              <a:t>raw/*.json</a:t>
            </a:r>
            <a:r>
              <a:rPr sz="950" b="0" i="0">
                <a:solidFill>
                  <a:srgbClr val="64748B"/>
                </a:solidFill>
                <a:latin typeface="Inter"/>
              </a:rPr>
              <a:t>   100 cached entity profiles (real API)</a:t>
            </a:r>
          </a:p>
          <a:p>
            <a:pPr algn="l">
              <a:lnSpc>
                <a:spcPct val="110000"/>
              </a:lnSpc>
              <a:spcBef>
                <a:spcPts val="0"/>
              </a:spcBef>
              <a:spcAft>
                <a:spcPts val="700"/>
              </a:spcAft>
            </a:pPr>
            <a:r>
              <a:rPr sz="1050" b="0" i="0">
                <a:solidFill>
                  <a:srgbClr val="F0F4F8"/>
                </a:solidFill>
                <a:latin typeface="JetBrains Mono"/>
              </a:rPr>
              <a:t>raw/traversal/*.json</a:t>
            </a:r>
            <a:r>
              <a:rPr sz="950" b="0" i="0">
                <a:solidFill>
                  <a:srgbClr val="64748B"/>
                </a:solidFill>
                <a:latin typeface="Inter"/>
              </a:rPr>
              <a:t>   66 ownership graphs</a:t>
            </a:r>
          </a:p>
          <a:p>
            <a:pPr algn="l">
              <a:lnSpc>
                <a:spcPct val="110000"/>
              </a:lnSpc>
              <a:spcBef>
                <a:spcPts val="0"/>
              </a:spcBef>
              <a:spcAft>
                <a:spcPts val="700"/>
              </a:spcAft>
            </a:pPr>
            <a:r>
              <a:rPr sz="1050" b="0" i="0">
                <a:solidFill>
                  <a:srgbClr val="F0F4F8"/>
                </a:solidFill>
                <a:latin typeface="JetBrains Mono"/>
              </a:rPr>
              <a:t>runs/run_2026…/</a:t>
            </a:r>
            <a:r>
              <a:rPr sz="950" b="0" i="0">
                <a:solidFill>
                  <a:srgbClr val="64748B"/>
                </a:solidFill>
                <a:latin typeface="Inter"/>
              </a:rPr>
              <a:t>   pinned list_3 demo run (per-run cache)</a:t>
            </a:r>
          </a:p>
          <a:p>
            <a:pPr algn="l">
              <a:lnSpc>
                <a:spcPct val="110000"/>
              </a:lnSpc>
              <a:spcBef>
                <a:spcPts val="0"/>
              </a:spcBef>
              <a:spcAft>
                <a:spcPts val="700"/>
              </a:spcAft>
            </a:pPr>
            <a:r>
              <a:rPr sz="1050" b="0" i="0">
                <a:solidFill>
                  <a:srgbClr val="F0F4F8"/>
                </a:solidFill>
                <a:latin typeface="JetBrains Mono"/>
              </a:rPr>
              <a:t>agent_runs/golden_*.json</a:t>
            </a:r>
            <a:r>
              <a:rPr sz="950" b="0" i="0">
                <a:solidFill>
                  <a:srgbClr val="64748B"/>
                </a:solidFill>
                <a:latin typeface="Inter"/>
              </a:rPr>
              <a:t>   4 captured co-pilot SSE streams</a:t>
            </a:r>
          </a:p>
          <a:p>
            <a:pPr algn="l">
              <a:lnSpc>
                <a:spcPct val="110000"/>
              </a:lnSpc>
              <a:spcBef>
                <a:spcPts val="0"/>
              </a:spcBef>
              <a:spcAft>
                <a:spcPts val="700"/>
              </a:spcAft>
            </a:pPr>
            <a:r>
              <a:rPr sz="1050" b="0" i="0">
                <a:solidFill>
                  <a:srgbClr val="F0F4F8"/>
                </a:solidFill>
                <a:latin typeface="JetBrains Mono"/>
              </a:rPr>
              <a:t>entities.csv · summary.json</a:t>
            </a:r>
            <a:r>
              <a:rPr sz="950" b="0" i="0">
                <a:solidFill>
                  <a:srgbClr val="64748B"/>
                </a:solidFill>
                <a:latin typeface="Inter"/>
              </a:rPr>
              <a:t>   input index + macro summary</a:t>
            </a:r>
          </a:p>
        </p:txBody>
      </p:sp>
      <p:sp>
        <p:nvSpPr>
          <p:cNvPr id="11" name="TextBox 10"/>
          <p:cNvSpPr txBox="1"/>
          <p:nvPr/>
        </p:nvSpPr>
        <p:spPr>
          <a:xfrm>
            <a:off x="6446520" y="5074920"/>
            <a:ext cx="4754880" cy="365760"/>
          </a:xfrm>
          <a:prstGeom prst="rect">
            <a:avLst/>
          </a:prstGeom>
          <a:noFill/>
        </p:spPr>
        <p:txBody>
          <a:bodyPr wrap="square" anchor="t" lIns="0" rIns="0" tIns="0" bIns="0">
            <a:spAutoFit/>
          </a:bodyPr>
          <a:lstStyle/>
          <a:p>
            <a:pPr algn="l">
              <a:lnSpc>
                <a:spcPct val="110000"/>
              </a:lnSpc>
              <a:spcBef>
                <a:spcPts val="0"/>
              </a:spcBef>
              <a:spcAft>
                <a:spcPts val="400"/>
              </a:spcAft>
            </a:pPr>
            <a:r>
              <a:rPr sz="1000" b="0" i="1">
                <a:solidFill>
                  <a:srgbClr val="94A3B8"/>
                </a:solidFill>
                <a:latin typeface="Inter"/>
              </a:rPr>
              <a:t>Every file is a real Sayari response — auditable, greppable, committed to the repo.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9966960" y="310896"/>
            <a:ext cx="1463040" cy="274320"/>
          </a:xfrm>
          <a:prstGeom prst="rect">
            <a:avLst/>
          </a:prstGeom>
          <a:noFill/>
        </p:spPr>
        <p:txBody>
          <a:bodyPr wrap="square" anchor="t" lIns="0" rIns="0" tIns="0" bIns="0">
            <a:spAutoFit/>
          </a:bodyPr>
          <a:lstStyle/>
          <a:p>
            <a:pPr algn="r">
              <a:lnSpc>
                <a:spcPct val="112000"/>
              </a:lnSpc>
              <a:spcBef>
                <a:spcPts val="0"/>
              </a:spcBef>
              <a:spcAft>
                <a:spcPts val="0"/>
              </a:spcAft>
            </a:pPr>
            <a:r>
              <a:rPr sz="900" b="1" i="0" spc="200">
                <a:solidFill>
                  <a:srgbClr val="8A7440"/>
                </a:solidFill>
                <a:latin typeface="Inter"/>
              </a:rPr>
              <a:t>APPENDIX</a:t>
            </a: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0"/>
              </a:spcAft>
            </a:pPr>
            <a:r>
              <a:rPr sz="1250" b="1" i="0" spc="220">
                <a:solidFill>
                  <a:srgbClr val="94A3B8"/>
                </a:solidFill>
                <a:latin typeface="Inter"/>
              </a:rPr>
              <a:t>SECURITY POSTURE</a:t>
            </a:r>
          </a:p>
        </p:txBody>
      </p:sp>
      <p:sp>
        <p:nvSpPr>
          <p:cNvPr id="4" name="TextBox 3"/>
          <p:cNvSpPr txBox="1"/>
          <p:nvPr/>
        </p:nvSpPr>
        <p:spPr>
          <a:xfrm>
            <a:off x="777240" y="932688"/>
            <a:ext cx="10607040" cy="91440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F0F4F8"/>
                </a:solidFill>
                <a:latin typeface="Cormorant Garamond"/>
              </a:rPr>
              <a:t>What's protected, and how</a:t>
            </a:r>
          </a:p>
        </p:txBody>
      </p:sp>
      <p:sp>
        <p:nvSpPr>
          <p:cNvPr id="5" name="Rectangle 4"/>
          <p:cNvSpPr/>
          <p:nvPr/>
        </p:nvSpPr>
        <p:spPr>
          <a:xfrm>
            <a:off x="777240" y="1783080"/>
            <a:ext cx="10607040" cy="11887"/>
          </a:xfrm>
          <a:prstGeom prst="rect">
            <a:avLst/>
          </a:prstGeom>
          <a:solidFill>
            <a:srgbClr val="2A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938528"/>
            <a:ext cx="5184648" cy="2084831"/>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5" y="2084832"/>
            <a:ext cx="4764024" cy="1828800"/>
          </a:xfrm>
          <a:prstGeom prst="rect">
            <a:avLst/>
          </a:prstGeom>
          <a:noFill/>
        </p:spPr>
        <p:txBody>
          <a:bodyPr wrap="square" anchor="t" lIns="0" rIns="0" tIns="0" bIns="0">
            <a:spAutoFit/>
          </a:bodyPr>
          <a:lstStyle/>
          <a:p>
            <a:pPr algn="l">
              <a:lnSpc>
                <a:spcPct val="112000"/>
              </a:lnSpc>
              <a:spcBef>
                <a:spcPts val="0"/>
              </a:spcBef>
              <a:spcAft>
                <a:spcPts val="600"/>
              </a:spcAft>
            </a:pPr>
            <a:r>
              <a:rPr sz="1700" b="0" i="0">
                <a:solidFill>
                  <a:srgbClr val="C9A961"/>
                </a:solidFill>
                <a:latin typeface="Cormorant Garamond"/>
              </a:rPr>
              <a:t>Credentials</a:t>
            </a:r>
          </a:p>
          <a:p>
            <a:pPr algn="l">
              <a:lnSpc>
                <a:spcPct val="110000"/>
              </a:lnSpc>
              <a:spcBef>
                <a:spcPts val="0"/>
              </a:spcBef>
              <a:spcAft>
                <a:spcPts val="400"/>
              </a:spcAft>
            </a:pPr>
            <a:r>
              <a:rPr sz="1000" b="0" i="0">
                <a:solidFill>
                  <a:srgbClr val="8A7440"/>
                </a:solidFill>
                <a:latin typeface="Inter"/>
              </a:rPr>
              <a:t>—  </a:t>
            </a:r>
            <a:r>
              <a:rPr sz="1000" b="0" i="0">
                <a:solidFill>
                  <a:srgbClr val="94A3B8"/>
                </a:solidFill>
                <a:latin typeface="Inter"/>
              </a:rPr>
              <a:t>In-memory store — never written to disk or browser</a:t>
            </a:r>
          </a:p>
          <a:p>
            <a:pPr algn="l">
              <a:lnSpc>
                <a:spcPct val="110000"/>
              </a:lnSpc>
              <a:spcBef>
                <a:spcPts val="0"/>
              </a:spcBef>
              <a:spcAft>
                <a:spcPts val="400"/>
              </a:spcAft>
            </a:pPr>
            <a:r>
              <a:rPr sz="1000" b="0" i="0">
                <a:solidFill>
                  <a:srgbClr val="8A7440"/>
                </a:solidFill>
                <a:latin typeface="Inter"/>
              </a:rPr>
              <a:t>—  </a:t>
            </a:r>
            <a:r>
              <a:rPr sz="1000" b="0" i="0">
                <a:solidFill>
                  <a:srgbClr val="94A3B8"/>
                </a:solidFill>
                <a:latin typeface="Inter"/>
              </a:rPr>
              <a:t>Cleared on restart; store-over-env priority</a:t>
            </a:r>
          </a:p>
          <a:p>
            <a:pPr algn="l">
              <a:lnSpc>
                <a:spcPct val="110000"/>
              </a:lnSpc>
              <a:spcBef>
                <a:spcPts val="0"/>
              </a:spcBef>
              <a:spcAft>
                <a:spcPts val="400"/>
              </a:spcAft>
            </a:pPr>
            <a:r>
              <a:rPr sz="1000" b="0" i="0">
                <a:solidFill>
                  <a:srgbClr val="8A7440"/>
                </a:solidFill>
                <a:latin typeface="Inter"/>
              </a:rPr>
              <a:t>—  </a:t>
            </a:r>
            <a:r>
              <a:rPr sz="1000" b="0" i="0">
                <a:solidFill>
                  <a:srgbClr val="94A3B8"/>
                </a:solidFill>
                <a:latin typeface="Inter"/>
              </a:rPr>
              <a:t>Entered in-app at the point a LIVE feature needs them</a:t>
            </a:r>
          </a:p>
        </p:txBody>
      </p:sp>
      <p:sp>
        <p:nvSpPr>
          <p:cNvPr id="8" name="TextBox 7"/>
          <p:cNvSpPr txBox="1"/>
          <p:nvPr/>
        </p:nvSpPr>
        <p:spPr>
          <a:xfrm>
            <a:off x="996695" y="3767328"/>
            <a:ext cx="4764024" cy="201168"/>
          </a:xfrm>
          <a:prstGeom prst="rect">
            <a:avLst/>
          </a:prstGeom>
          <a:noFill/>
        </p:spPr>
        <p:txBody>
          <a:bodyPr wrap="square" anchor="t" lIns="0" rIns="0" tIns="0" bIns="0">
            <a:spAutoFit/>
          </a:bodyPr>
          <a:lstStyle/>
          <a:p>
            <a:pPr>
              <a:lnSpc>
                <a:spcPct val="105000"/>
              </a:lnSpc>
              <a:spcAft>
                <a:spcPts val="200"/>
              </a:spcAft>
            </a:pPr>
            <a:r>
              <a:rPr sz="760">
                <a:solidFill>
                  <a:srgbClr val="8A7440"/>
                </a:solidFill>
                <a:latin typeface="JetBrains Mono"/>
                <a:hlinkClick r:id="rId2"/>
              </a:rPr>
              <a:t>services/api/credentials.py:1-68</a:t>
            </a:r>
          </a:p>
        </p:txBody>
      </p:sp>
      <p:sp>
        <p:nvSpPr>
          <p:cNvPr id="9" name="Rounded Rectangle 8"/>
          <p:cNvSpPr/>
          <p:nvPr/>
        </p:nvSpPr>
        <p:spPr>
          <a:xfrm>
            <a:off x="6217920" y="1938528"/>
            <a:ext cx="5184648" cy="2084831"/>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2084832"/>
            <a:ext cx="4764024" cy="1828800"/>
          </a:xfrm>
          <a:prstGeom prst="rect">
            <a:avLst/>
          </a:prstGeom>
          <a:noFill/>
        </p:spPr>
        <p:txBody>
          <a:bodyPr wrap="square" anchor="t" lIns="0" rIns="0" tIns="0" bIns="0">
            <a:spAutoFit/>
          </a:bodyPr>
          <a:lstStyle/>
          <a:p>
            <a:pPr algn="l">
              <a:lnSpc>
                <a:spcPct val="112000"/>
              </a:lnSpc>
              <a:spcBef>
                <a:spcPts val="0"/>
              </a:spcBef>
              <a:spcAft>
                <a:spcPts val="600"/>
              </a:spcAft>
            </a:pPr>
            <a:r>
              <a:rPr sz="1700" b="0" i="0">
                <a:solidFill>
                  <a:srgbClr val="C9A961"/>
                </a:solidFill>
                <a:latin typeface="Cormorant Garamond"/>
              </a:rPr>
              <a:t>Secrets</a:t>
            </a:r>
          </a:p>
          <a:p>
            <a:pPr algn="l">
              <a:lnSpc>
                <a:spcPct val="110000"/>
              </a:lnSpc>
              <a:spcBef>
                <a:spcPts val="0"/>
              </a:spcBef>
              <a:spcAft>
                <a:spcPts val="400"/>
              </a:spcAft>
            </a:pPr>
            <a:r>
              <a:rPr sz="1000" b="0" i="0">
                <a:solidFill>
                  <a:srgbClr val="8A7440"/>
                </a:solidFill>
                <a:latin typeface="Inter"/>
              </a:rPr>
              <a:t>—  </a:t>
            </a:r>
            <a:r>
              <a:rPr sz="1000" b="0" i="0">
                <a:solidFill>
                  <a:srgbClr val="94A3B8"/>
                </a:solidFill>
                <a:latin typeface="Inter"/>
              </a:rPr>
              <a:t>.env is gitignored — verified clean history</a:t>
            </a:r>
          </a:p>
          <a:p>
            <a:pPr algn="l">
              <a:lnSpc>
                <a:spcPct val="110000"/>
              </a:lnSpc>
              <a:spcBef>
                <a:spcPts val="0"/>
              </a:spcBef>
              <a:spcAft>
                <a:spcPts val="400"/>
              </a:spcAft>
            </a:pPr>
            <a:r>
              <a:rPr sz="1000" b="0" i="0">
                <a:solidFill>
                  <a:srgbClr val="8A7440"/>
                </a:solidFill>
                <a:latin typeface="Inter"/>
              </a:rPr>
              <a:t>—  </a:t>
            </a:r>
            <a:r>
              <a:rPr sz="1000" b="0" i="0">
                <a:solidFill>
                  <a:srgbClr val="94A3B8"/>
                </a:solidFill>
                <a:latin typeface="Inter"/>
              </a:rPr>
              <a:t>No credential ever committed (full-history scan)</a:t>
            </a:r>
          </a:p>
          <a:p>
            <a:pPr algn="l">
              <a:lnSpc>
                <a:spcPct val="110000"/>
              </a:lnSpc>
              <a:spcBef>
                <a:spcPts val="0"/>
              </a:spcBef>
              <a:spcAft>
                <a:spcPts val="400"/>
              </a:spcAft>
            </a:pPr>
            <a:r>
              <a:rPr sz="1000" b="0" i="0">
                <a:solidFill>
                  <a:srgbClr val="8A7440"/>
                </a:solidFill>
                <a:latin typeface="Inter"/>
              </a:rPr>
              <a:t>—  </a:t>
            </a:r>
            <a:r>
              <a:rPr sz="1000" b="0" i="0">
                <a:solidFill>
                  <a:srgbClr val="94A3B8"/>
                </a:solidFill>
                <a:latin typeface="Inter"/>
              </a:rPr>
              <a:t>Production: swap to Secret Manager / Vault</a:t>
            </a:r>
          </a:p>
        </p:txBody>
      </p:sp>
      <p:sp>
        <p:nvSpPr>
          <p:cNvPr id="11" name="TextBox 10"/>
          <p:cNvSpPr txBox="1"/>
          <p:nvPr/>
        </p:nvSpPr>
        <p:spPr>
          <a:xfrm>
            <a:off x="6437376" y="3767328"/>
            <a:ext cx="4764024" cy="201168"/>
          </a:xfrm>
          <a:prstGeom prst="rect">
            <a:avLst/>
          </a:prstGeom>
          <a:noFill/>
        </p:spPr>
        <p:txBody>
          <a:bodyPr wrap="square" anchor="t" lIns="0" rIns="0" tIns="0" bIns="0">
            <a:spAutoFit/>
          </a:bodyPr>
          <a:lstStyle/>
          <a:p>
            <a:pPr>
              <a:lnSpc>
                <a:spcPct val="105000"/>
              </a:lnSpc>
              <a:spcAft>
                <a:spcPts val="200"/>
              </a:spcAft>
            </a:pPr>
            <a:r>
              <a:rPr sz="760">
                <a:solidFill>
                  <a:srgbClr val="8A7440"/>
                </a:solidFill>
                <a:latin typeface="JetBrains Mono"/>
                <a:hlinkClick r:id="rId3"/>
              </a:rPr>
              <a:t>packages/engine/client.py:17-23</a:t>
            </a:r>
          </a:p>
        </p:txBody>
      </p:sp>
      <p:sp>
        <p:nvSpPr>
          <p:cNvPr id="12" name="Rounded Rectangle 11"/>
          <p:cNvSpPr/>
          <p:nvPr/>
        </p:nvSpPr>
        <p:spPr>
          <a:xfrm>
            <a:off x="777240" y="4160520"/>
            <a:ext cx="5184648" cy="2084831"/>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5" y="4306824"/>
            <a:ext cx="4764024" cy="1828800"/>
          </a:xfrm>
          <a:prstGeom prst="rect">
            <a:avLst/>
          </a:prstGeom>
          <a:noFill/>
        </p:spPr>
        <p:txBody>
          <a:bodyPr wrap="square" anchor="t" lIns="0" rIns="0" tIns="0" bIns="0">
            <a:spAutoFit/>
          </a:bodyPr>
          <a:lstStyle/>
          <a:p>
            <a:pPr algn="l">
              <a:lnSpc>
                <a:spcPct val="112000"/>
              </a:lnSpc>
              <a:spcBef>
                <a:spcPts val="0"/>
              </a:spcBef>
              <a:spcAft>
                <a:spcPts val="600"/>
              </a:spcAft>
            </a:pPr>
            <a:r>
              <a:rPr sz="1700" b="0" i="0">
                <a:solidFill>
                  <a:srgbClr val="C9A961"/>
                </a:solidFill>
                <a:latin typeface="Cormorant Garamond"/>
              </a:rPr>
              <a:t>Data provenance</a:t>
            </a:r>
          </a:p>
          <a:p>
            <a:pPr algn="l">
              <a:lnSpc>
                <a:spcPct val="110000"/>
              </a:lnSpc>
              <a:spcBef>
                <a:spcPts val="0"/>
              </a:spcBef>
              <a:spcAft>
                <a:spcPts val="400"/>
              </a:spcAft>
            </a:pPr>
            <a:r>
              <a:rPr sz="1000" b="0" i="0">
                <a:solidFill>
                  <a:srgbClr val="8A7440"/>
                </a:solidFill>
                <a:latin typeface="Inter"/>
              </a:rPr>
              <a:t>—  </a:t>
            </a:r>
            <a:r>
              <a:rPr sz="1000" b="0" i="0">
                <a:solidFill>
                  <a:srgbClr val="94A3B8"/>
                </a:solidFill>
                <a:latin typeface="Inter"/>
              </a:rPr>
              <a:t>Every value cites its cache file — no fabrication</a:t>
            </a:r>
          </a:p>
          <a:p>
            <a:pPr algn="l">
              <a:lnSpc>
                <a:spcPct val="110000"/>
              </a:lnSpc>
              <a:spcBef>
                <a:spcPts val="0"/>
              </a:spcBef>
              <a:spcAft>
                <a:spcPts val="400"/>
              </a:spcAft>
            </a:pPr>
            <a:r>
              <a:rPr sz="1000" b="0" i="0">
                <a:solidFill>
                  <a:srgbClr val="8A7440"/>
                </a:solidFill>
                <a:latin typeface="Inter"/>
              </a:rPr>
              <a:t>—  </a:t>
            </a:r>
            <a:r>
              <a:rPr sz="1000" b="0" i="0">
                <a:solidFill>
                  <a:srgbClr val="94A3B8"/>
                </a:solidFill>
                <a:latin typeface="Inter"/>
              </a:rPr>
              <a:t>The agent's only data source is the typed tools</a:t>
            </a:r>
          </a:p>
          <a:p>
            <a:pPr algn="l">
              <a:lnSpc>
                <a:spcPct val="110000"/>
              </a:lnSpc>
              <a:spcBef>
                <a:spcPts val="0"/>
              </a:spcBef>
              <a:spcAft>
                <a:spcPts val="400"/>
              </a:spcAft>
            </a:pPr>
            <a:r>
              <a:rPr sz="1000" b="0" i="0">
                <a:solidFill>
                  <a:srgbClr val="8A7440"/>
                </a:solidFill>
                <a:latin typeface="Inter"/>
              </a:rPr>
              <a:t>—  </a:t>
            </a:r>
            <a:r>
              <a:rPr sz="1000" b="0" i="0">
                <a:solidFill>
                  <a:srgbClr val="94A3B8"/>
                </a:solidFill>
                <a:latin typeface="Inter"/>
              </a:rPr>
              <a:t>Trust is structural, not prompt-engineered</a:t>
            </a:r>
          </a:p>
        </p:txBody>
      </p:sp>
      <p:sp>
        <p:nvSpPr>
          <p:cNvPr id="14" name="TextBox 13"/>
          <p:cNvSpPr txBox="1"/>
          <p:nvPr/>
        </p:nvSpPr>
        <p:spPr>
          <a:xfrm>
            <a:off x="996695" y="5989320"/>
            <a:ext cx="4764024" cy="201168"/>
          </a:xfrm>
          <a:prstGeom prst="rect">
            <a:avLst/>
          </a:prstGeom>
          <a:noFill/>
        </p:spPr>
        <p:txBody>
          <a:bodyPr wrap="square" anchor="t" lIns="0" rIns="0" tIns="0" bIns="0">
            <a:spAutoFit/>
          </a:bodyPr>
          <a:lstStyle/>
          <a:p>
            <a:pPr>
              <a:lnSpc>
                <a:spcPct val="105000"/>
              </a:lnSpc>
              <a:spcAft>
                <a:spcPts val="200"/>
              </a:spcAft>
            </a:pPr>
            <a:r>
              <a:rPr sz="760">
                <a:solidFill>
                  <a:srgbClr val="8A7440"/>
                </a:solidFill>
                <a:latin typeface="JetBrains Mono"/>
                <a:hlinkClick r:id="rId4"/>
              </a:rPr>
              <a:t>services/api/agent/runner.py:131-133</a:t>
            </a:r>
          </a:p>
        </p:txBody>
      </p:sp>
      <p:sp>
        <p:nvSpPr>
          <p:cNvPr id="15" name="Rounded Rectangle 14"/>
          <p:cNvSpPr/>
          <p:nvPr/>
        </p:nvSpPr>
        <p:spPr>
          <a:xfrm>
            <a:off x="6217920" y="4160520"/>
            <a:ext cx="5184648" cy="2084831"/>
          </a:xfrm>
          <a:prstGeom prst="roundRect">
            <a:avLst>
              <a:gd name="adj" fmla="val 5500"/>
            </a:avLst>
          </a:prstGeom>
          <a:solidFill>
            <a:srgbClr val="1A2436"/>
          </a:solidFill>
          <a:ln w="9525">
            <a:solidFill>
              <a:srgbClr val="2A38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4306824"/>
            <a:ext cx="4764024" cy="1828800"/>
          </a:xfrm>
          <a:prstGeom prst="rect">
            <a:avLst/>
          </a:prstGeom>
          <a:noFill/>
        </p:spPr>
        <p:txBody>
          <a:bodyPr wrap="square" anchor="t" lIns="0" rIns="0" tIns="0" bIns="0">
            <a:spAutoFit/>
          </a:bodyPr>
          <a:lstStyle/>
          <a:p>
            <a:pPr algn="l">
              <a:lnSpc>
                <a:spcPct val="112000"/>
              </a:lnSpc>
              <a:spcBef>
                <a:spcPts val="0"/>
              </a:spcBef>
              <a:spcAft>
                <a:spcPts val="600"/>
              </a:spcAft>
            </a:pPr>
            <a:r>
              <a:rPr sz="1700" b="0" i="0">
                <a:solidFill>
                  <a:srgbClr val="C9A961"/>
                </a:solidFill>
                <a:latin typeface="Cormorant Garamond"/>
              </a:rPr>
              <a:t>Hardening pending</a:t>
            </a:r>
          </a:p>
          <a:p>
            <a:pPr algn="l">
              <a:lnSpc>
                <a:spcPct val="110000"/>
              </a:lnSpc>
              <a:spcBef>
                <a:spcPts val="0"/>
              </a:spcBef>
              <a:spcAft>
                <a:spcPts val="400"/>
              </a:spcAft>
            </a:pPr>
            <a:r>
              <a:rPr sz="1000" b="0" i="0">
                <a:solidFill>
                  <a:srgbClr val="8A7440"/>
                </a:solidFill>
                <a:latin typeface="Inter"/>
              </a:rPr>
              <a:t>—  </a:t>
            </a:r>
            <a:r>
              <a:rPr sz="1000" b="0" i="0">
                <a:solidFill>
                  <a:srgbClr val="94A3B8"/>
                </a:solidFill>
                <a:latin typeface="Inter"/>
              </a:rPr>
              <a:t>Real IdP (Okta / Entra) — login is a demo gate today</a:t>
            </a:r>
          </a:p>
          <a:p>
            <a:pPr algn="l">
              <a:lnSpc>
                <a:spcPct val="110000"/>
              </a:lnSpc>
              <a:spcBef>
                <a:spcPts val="0"/>
              </a:spcBef>
              <a:spcAft>
                <a:spcPts val="400"/>
              </a:spcAft>
            </a:pPr>
            <a:r>
              <a:rPr sz="1000" b="0" i="0">
                <a:solidFill>
                  <a:srgbClr val="8A7440"/>
                </a:solidFill>
                <a:latin typeface="Inter"/>
              </a:rPr>
              <a:t>—  </a:t>
            </a:r>
            <a:r>
              <a:rPr sz="1000" b="0" i="0">
                <a:solidFill>
                  <a:srgbClr val="94A3B8"/>
                </a:solidFill>
                <a:latin typeface="Inter"/>
              </a:rPr>
              <a:t>Prompt-injection guards on agentic input</a:t>
            </a:r>
          </a:p>
          <a:p>
            <a:pPr algn="l">
              <a:lnSpc>
                <a:spcPct val="110000"/>
              </a:lnSpc>
              <a:spcBef>
                <a:spcPts val="0"/>
              </a:spcBef>
              <a:spcAft>
                <a:spcPts val="400"/>
              </a:spcAft>
            </a:pPr>
            <a:r>
              <a:rPr sz="1000" b="0" i="0">
                <a:solidFill>
                  <a:srgbClr val="8A7440"/>
                </a:solidFill>
                <a:latin typeface="Inter"/>
              </a:rPr>
              <a:t>—  </a:t>
            </a:r>
            <a:r>
              <a:rPr sz="1000" b="0" i="0">
                <a:solidFill>
                  <a:srgbClr val="94A3B8"/>
                </a:solidFill>
                <a:latin typeface="Inter"/>
              </a:rPr>
              <a:t>Rate limiting + per-route audit log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9966960" y="310896"/>
            <a:ext cx="1463040" cy="274320"/>
          </a:xfrm>
          <a:prstGeom prst="rect">
            <a:avLst/>
          </a:prstGeom>
          <a:noFill/>
        </p:spPr>
        <p:txBody>
          <a:bodyPr wrap="square" anchor="t" lIns="0" rIns="0" tIns="0" bIns="0">
            <a:spAutoFit/>
          </a:bodyPr>
          <a:lstStyle/>
          <a:p>
            <a:pPr algn="r">
              <a:lnSpc>
                <a:spcPct val="112000"/>
              </a:lnSpc>
              <a:spcBef>
                <a:spcPts val="0"/>
              </a:spcBef>
              <a:spcAft>
                <a:spcPts val="0"/>
              </a:spcAft>
            </a:pPr>
            <a:r>
              <a:rPr sz="900" b="1" i="0" spc="200">
                <a:solidFill>
                  <a:srgbClr val="8A7440"/>
                </a:solidFill>
                <a:latin typeface="Inter"/>
              </a:rPr>
              <a:t>APPENDIX</a:t>
            </a:r>
          </a:p>
        </p:txBody>
      </p:sp>
      <p:sp>
        <p:nvSpPr>
          <p:cNvPr id="3" name="TextBox 2"/>
          <p:cNvSpPr txBox="1"/>
          <p:nvPr/>
        </p:nvSpPr>
        <p:spPr>
          <a:xfrm>
            <a:off x="777240" y="566928"/>
            <a:ext cx="10607040" cy="365760"/>
          </a:xfrm>
          <a:prstGeom prst="rect">
            <a:avLst/>
          </a:prstGeom>
          <a:noFill/>
        </p:spPr>
        <p:txBody>
          <a:bodyPr wrap="square" anchor="t" lIns="0" rIns="0" tIns="0" bIns="0">
            <a:spAutoFit/>
          </a:bodyPr>
          <a:lstStyle/>
          <a:p>
            <a:pPr algn="l">
              <a:lnSpc>
                <a:spcPct val="112000"/>
              </a:lnSpc>
              <a:spcBef>
                <a:spcPts val="0"/>
              </a:spcBef>
              <a:spcAft>
                <a:spcPts val="0"/>
              </a:spcAft>
            </a:pPr>
            <a:r>
              <a:rPr sz="1250" b="1" i="0" spc="220">
                <a:solidFill>
                  <a:srgbClr val="94A3B8"/>
                </a:solidFill>
                <a:latin typeface="Inter"/>
              </a:rPr>
              <a:t>WHERE THINGS LIVE</a:t>
            </a:r>
          </a:p>
        </p:txBody>
      </p:sp>
      <p:sp>
        <p:nvSpPr>
          <p:cNvPr id="4" name="TextBox 3"/>
          <p:cNvSpPr txBox="1"/>
          <p:nvPr/>
        </p:nvSpPr>
        <p:spPr>
          <a:xfrm>
            <a:off x="777240" y="932688"/>
            <a:ext cx="10607040" cy="914400"/>
          </a:xfrm>
          <a:prstGeom prst="rect">
            <a:avLst/>
          </a:prstGeom>
          <a:noFill/>
        </p:spPr>
        <p:txBody>
          <a:bodyPr wrap="square" anchor="t" lIns="0" rIns="0" tIns="0" bIns="0">
            <a:spAutoFit/>
          </a:bodyPr>
          <a:lstStyle/>
          <a:p>
            <a:pPr algn="l">
              <a:lnSpc>
                <a:spcPct val="100000"/>
              </a:lnSpc>
              <a:spcBef>
                <a:spcPts val="0"/>
              </a:spcBef>
              <a:spcAft>
                <a:spcPts val="0"/>
              </a:spcAft>
            </a:pPr>
            <a:r>
              <a:rPr sz="3400" b="0" i="0">
                <a:solidFill>
                  <a:srgbClr val="F0F4F8"/>
                </a:solidFill>
                <a:latin typeface="Cormorant Garamond"/>
              </a:rPr>
              <a:t>Key files</a:t>
            </a:r>
          </a:p>
        </p:txBody>
      </p:sp>
      <p:sp>
        <p:nvSpPr>
          <p:cNvPr id="5" name="Rectangle 4"/>
          <p:cNvSpPr/>
          <p:nvPr/>
        </p:nvSpPr>
        <p:spPr>
          <a:xfrm>
            <a:off x="777240" y="1627632"/>
            <a:ext cx="10607040" cy="11887"/>
          </a:xfrm>
          <a:prstGeom prst="rect">
            <a:avLst/>
          </a:prstGeom>
          <a:solidFill>
            <a:srgbClr val="2A38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65376"/>
            <a:ext cx="5184648" cy="274320"/>
          </a:xfrm>
          <a:prstGeom prst="rect">
            <a:avLst/>
          </a:prstGeom>
          <a:noFill/>
        </p:spPr>
        <p:txBody>
          <a:bodyPr wrap="square" anchor="t" lIns="0" rIns="0" tIns="0" bIns="0">
            <a:spAutoFit/>
          </a:bodyPr>
          <a:lstStyle/>
          <a:p>
            <a:pPr algn="l">
              <a:lnSpc>
                <a:spcPct val="112000"/>
              </a:lnSpc>
              <a:spcBef>
                <a:spcPts val="0"/>
              </a:spcBef>
              <a:spcAft>
                <a:spcPts val="0"/>
              </a:spcAft>
            </a:pPr>
            <a:r>
              <a:rPr sz="1000" b="1" i="0" spc="160">
                <a:solidFill>
                  <a:srgbClr val="C9A961"/>
                </a:solidFill>
                <a:latin typeface="Inter"/>
              </a:rPr>
              <a:t>FRONTEND</a:t>
            </a:r>
          </a:p>
        </p:txBody>
      </p:sp>
      <p:sp>
        <p:nvSpPr>
          <p:cNvPr id="7" name="TextBox 6"/>
          <p:cNvSpPr txBox="1"/>
          <p:nvPr/>
        </p:nvSpPr>
        <p:spPr>
          <a:xfrm>
            <a:off x="777240" y="2212848"/>
            <a:ext cx="5184648" cy="4206240"/>
          </a:xfrm>
          <a:prstGeom prst="rect">
            <a:avLst/>
          </a:prstGeom>
          <a:noFill/>
        </p:spPr>
        <p:txBody>
          <a:bodyPr wrap="square" anchor="t" lIns="0" rIns="0" tIns="0" bIns="0">
            <a:spAutoFit/>
          </a:bodyPr>
          <a:lstStyle/>
          <a:p>
            <a:pPr>
              <a:lnSpc>
                <a:spcPct val="105000"/>
              </a:lnSpc>
              <a:spcAft>
                <a:spcPts val="0"/>
              </a:spcAft>
            </a:pPr>
            <a:r>
              <a:rPr sz="930">
                <a:solidFill>
                  <a:srgbClr val="F0F4F8"/>
                </a:solidFill>
                <a:latin typeface="JetBrains Mono"/>
                <a:hlinkClick r:id="rId2"/>
              </a:rPr>
              <a:t>design-prototype/index.html</a:t>
            </a:r>
          </a:p>
          <a:p>
            <a:pPr algn="l">
              <a:lnSpc>
                <a:spcPct val="100000"/>
              </a:lnSpc>
              <a:spcBef>
                <a:spcPts val="0"/>
              </a:spcBef>
              <a:spcAft>
                <a:spcPts val="700"/>
              </a:spcAft>
            </a:pPr>
            <a:r>
              <a:rPr sz="930" b="0" i="0">
                <a:solidFill>
                  <a:srgbClr val="64748B"/>
                </a:solidFill>
                <a:latin typeface="Inter"/>
              </a:rPr>
              <a:t>Babel-standalone loader — the no-build evidence</a:t>
            </a:r>
          </a:p>
          <a:p>
            <a:pPr>
              <a:lnSpc>
                <a:spcPct val="105000"/>
              </a:lnSpc>
              <a:spcAft>
                <a:spcPts val="0"/>
              </a:spcAft>
            </a:pPr>
            <a:r>
              <a:rPr sz="930">
                <a:solidFill>
                  <a:srgbClr val="F0F4F8"/>
                </a:solidFill>
                <a:latin typeface="JetBrains Mono"/>
                <a:hlinkClick r:id="rId3"/>
              </a:rPr>
              <a:t>design-prototype/app.jsx</a:t>
            </a:r>
          </a:p>
          <a:p>
            <a:pPr algn="l">
              <a:lnSpc>
                <a:spcPct val="100000"/>
              </a:lnSpc>
              <a:spcBef>
                <a:spcPts val="0"/>
              </a:spcBef>
              <a:spcAft>
                <a:spcPts val="700"/>
              </a:spcAft>
            </a:pPr>
            <a:r>
              <a:rPr sz="930" b="0" i="0">
                <a:solidFill>
                  <a:srgbClr val="64748B"/>
                </a:solidFill>
                <a:latin typeface="Inter"/>
              </a:rPr>
              <a:t>Hash router + app shell</a:t>
            </a:r>
          </a:p>
          <a:p>
            <a:pPr>
              <a:lnSpc>
                <a:spcPct val="105000"/>
              </a:lnSpc>
              <a:spcAft>
                <a:spcPts val="0"/>
              </a:spcAft>
            </a:pPr>
            <a:r>
              <a:rPr sz="930">
                <a:solidFill>
                  <a:srgbClr val="F0F4F8"/>
                </a:solidFill>
                <a:latin typeface="JetBrains Mono"/>
                <a:hlinkClick r:id="rId4"/>
              </a:rPr>
              <a:t>design-prototype/surfaces/compare.jsx</a:t>
            </a:r>
          </a:p>
          <a:p>
            <a:pPr algn="l">
              <a:lnSpc>
                <a:spcPct val="100000"/>
              </a:lnSpc>
              <a:spcBef>
                <a:spcPts val="0"/>
              </a:spcBef>
              <a:spcAft>
                <a:spcPts val="700"/>
              </a:spcAft>
            </a:pPr>
            <a:r>
              <a:rPr sz="930" b="0" i="0">
                <a:solidFill>
                  <a:srgbClr val="64748B"/>
                </a:solidFill>
                <a:latin typeface="Inter"/>
              </a:rPr>
              <a:t>Compare hero + Run Composition</a:t>
            </a:r>
          </a:p>
          <a:p>
            <a:pPr>
              <a:lnSpc>
                <a:spcPct val="105000"/>
              </a:lnSpc>
              <a:spcAft>
                <a:spcPts val="0"/>
              </a:spcAft>
            </a:pPr>
            <a:r>
              <a:rPr sz="930">
                <a:solidFill>
                  <a:srgbClr val="F0F4F8"/>
                </a:solidFill>
                <a:latin typeface="JetBrains Mono"/>
                <a:hlinkClick r:id="rId5"/>
              </a:rPr>
              <a:t>design-prototype/surfaces/entity.jsx</a:t>
            </a:r>
          </a:p>
          <a:p>
            <a:pPr algn="l">
              <a:lnSpc>
                <a:spcPct val="100000"/>
              </a:lnSpc>
              <a:spcBef>
                <a:spcPts val="0"/>
              </a:spcBef>
              <a:spcAft>
                <a:spcPts val="700"/>
              </a:spcAft>
            </a:pPr>
            <a:r>
              <a:rPr sz="930" b="0" i="0">
                <a:solidFill>
                  <a:srgbClr val="64748B"/>
                </a:solidFill>
                <a:latin typeface="Inter"/>
              </a:rPr>
              <a:t>Entity detail + ownership graph</a:t>
            </a:r>
          </a:p>
          <a:p>
            <a:pPr>
              <a:lnSpc>
                <a:spcPct val="105000"/>
              </a:lnSpc>
              <a:spcAft>
                <a:spcPts val="0"/>
              </a:spcAft>
            </a:pPr>
            <a:r>
              <a:rPr sz="930">
                <a:solidFill>
                  <a:srgbClr val="F0F4F8"/>
                </a:solidFill>
                <a:latin typeface="JetBrains Mono"/>
                <a:hlinkClick r:id="rId6"/>
              </a:rPr>
              <a:t>design-prototype/surfaces/upload.jsx</a:t>
            </a:r>
          </a:p>
          <a:p>
            <a:pPr algn="l">
              <a:lnSpc>
                <a:spcPct val="100000"/>
              </a:lnSpc>
              <a:spcBef>
                <a:spcPts val="0"/>
              </a:spcBef>
              <a:spcAft>
                <a:spcPts val="700"/>
              </a:spcAft>
            </a:pPr>
            <a:r>
              <a:rPr sz="930" b="0" i="0">
                <a:solidFill>
                  <a:srgbClr val="64748B"/>
                </a:solidFill>
                <a:latin typeface="Inter"/>
              </a:rPr>
              <a:t>Validate-and-Run SSE trace</a:t>
            </a:r>
          </a:p>
          <a:p>
            <a:pPr>
              <a:lnSpc>
                <a:spcPct val="105000"/>
              </a:lnSpc>
              <a:spcAft>
                <a:spcPts val="0"/>
              </a:spcAft>
            </a:pPr>
            <a:r>
              <a:rPr sz="930">
                <a:solidFill>
                  <a:srgbClr val="F0F4F8"/>
                </a:solidFill>
                <a:latin typeface="JetBrains Mono"/>
                <a:hlinkClick r:id="rId7"/>
              </a:rPr>
              <a:t>design-prototype/surfaces/copilot.jsx</a:t>
            </a:r>
          </a:p>
          <a:p>
            <a:pPr algn="l">
              <a:lnSpc>
                <a:spcPct val="100000"/>
              </a:lnSpc>
              <a:spcBef>
                <a:spcPts val="0"/>
              </a:spcBef>
              <a:spcAft>
                <a:spcPts val="700"/>
              </a:spcAft>
            </a:pPr>
            <a:r>
              <a:rPr sz="930" b="0" i="0">
                <a:solidFill>
                  <a:srgbClr val="64748B"/>
                </a:solidFill>
                <a:latin typeface="Inter"/>
              </a:rPr>
              <a:t>Grounded co-pilot</a:t>
            </a:r>
          </a:p>
          <a:p>
            <a:pPr>
              <a:lnSpc>
                <a:spcPct val="105000"/>
              </a:lnSpc>
              <a:spcAft>
                <a:spcPts val="0"/>
              </a:spcAft>
            </a:pPr>
            <a:r>
              <a:rPr sz="930">
                <a:solidFill>
                  <a:srgbClr val="F0F4F8"/>
                </a:solidFill>
                <a:latin typeface="JetBrains Mono"/>
                <a:hlinkClick r:id="rId8"/>
              </a:rPr>
              <a:t>design-prototype/components/primitives.jsx</a:t>
            </a:r>
          </a:p>
          <a:p>
            <a:pPr algn="l">
              <a:lnSpc>
                <a:spcPct val="100000"/>
              </a:lnSpc>
              <a:spcBef>
                <a:spcPts val="0"/>
              </a:spcBef>
              <a:spcAft>
                <a:spcPts val="700"/>
              </a:spcAft>
            </a:pPr>
            <a:r>
              <a:rPr sz="930" b="0" i="0">
                <a:solidFill>
                  <a:srgbClr val="64748B"/>
                </a:solidFill>
                <a:latin typeface="Inter"/>
              </a:rPr>
              <a:t>CitedValue · CredentialsModal</a:t>
            </a:r>
          </a:p>
        </p:txBody>
      </p:sp>
      <p:sp>
        <p:nvSpPr>
          <p:cNvPr id="8" name="TextBox 7"/>
          <p:cNvSpPr txBox="1"/>
          <p:nvPr/>
        </p:nvSpPr>
        <p:spPr>
          <a:xfrm>
            <a:off x="6217920" y="1865376"/>
            <a:ext cx="5184648" cy="274320"/>
          </a:xfrm>
          <a:prstGeom prst="rect">
            <a:avLst/>
          </a:prstGeom>
          <a:noFill/>
        </p:spPr>
        <p:txBody>
          <a:bodyPr wrap="square" anchor="t" lIns="0" rIns="0" tIns="0" bIns="0">
            <a:spAutoFit/>
          </a:bodyPr>
          <a:lstStyle/>
          <a:p>
            <a:pPr algn="l">
              <a:lnSpc>
                <a:spcPct val="112000"/>
              </a:lnSpc>
              <a:spcBef>
                <a:spcPts val="0"/>
              </a:spcBef>
              <a:spcAft>
                <a:spcPts val="0"/>
              </a:spcAft>
            </a:pPr>
            <a:r>
              <a:rPr sz="1000" b="1" i="0" spc="160">
                <a:solidFill>
                  <a:srgbClr val="C9A961"/>
                </a:solidFill>
                <a:latin typeface="Inter"/>
              </a:rPr>
              <a:t>BACKEND</a:t>
            </a:r>
          </a:p>
        </p:txBody>
      </p:sp>
      <p:sp>
        <p:nvSpPr>
          <p:cNvPr id="9" name="TextBox 8"/>
          <p:cNvSpPr txBox="1"/>
          <p:nvPr/>
        </p:nvSpPr>
        <p:spPr>
          <a:xfrm>
            <a:off x="6217920" y="2212848"/>
            <a:ext cx="5184648" cy="4206240"/>
          </a:xfrm>
          <a:prstGeom prst="rect">
            <a:avLst/>
          </a:prstGeom>
          <a:noFill/>
        </p:spPr>
        <p:txBody>
          <a:bodyPr wrap="square" anchor="t" lIns="0" rIns="0" tIns="0" bIns="0">
            <a:spAutoFit/>
          </a:bodyPr>
          <a:lstStyle/>
          <a:p>
            <a:pPr>
              <a:lnSpc>
                <a:spcPct val="105000"/>
              </a:lnSpc>
              <a:spcAft>
                <a:spcPts val="0"/>
              </a:spcAft>
            </a:pPr>
            <a:r>
              <a:rPr sz="930">
                <a:solidFill>
                  <a:srgbClr val="F0F4F8"/>
                </a:solidFill>
                <a:latin typeface="JetBrains Mono"/>
                <a:hlinkClick r:id="rId9"/>
              </a:rPr>
              <a:t>services/api/main.py</a:t>
            </a:r>
          </a:p>
          <a:p>
            <a:pPr algn="l">
              <a:lnSpc>
                <a:spcPct val="100000"/>
              </a:lnSpc>
              <a:spcBef>
                <a:spcPts val="0"/>
              </a:spcBef>
              <a:spcAft>
                <a:spcPts val="700"/>
              </a:spcAft>
            </a:pPr>
            <a:r>
              <a:rPr sz="930" b="0" i="0">
                <a:solidFill>
                  <a:srgbClr val="64748B"/>
                </a:solidFill>
                <a:latin typeface="Inter"/>
              </a:rPr>
              <a:t>FastAPI tools API + SSE + static mounts</a:t>
            </a:r>
          </a:p>
          <a:p>
            <a:pPr>
              <a:lnSpc>
                <a:spcPct val="105000"/>
              </a:lnSpc>
              <a:spcAft>
                <a:spcPts val="0"/>
              </a:spcAft>
            </a:pPr>
            <a:r>
              <a:rPr sz="930">
                <a:solidFill>
                  <a:srgbClr val="F0F4F8"/>
                </a:solidFill>
                <a:latin typeface="JetBrains Mono"/>
                <a:hlinkClick r:id="rId10"/>
              </a:rPr>
              <a:t>packages/engine/profile.py</a:t>
            </a:r>
          </a:p>
          <a:p>
            <a:pPr algn="l">
              <a:lnSpc>
                <a:spcPct val="100000"/>
              </a:lnSpc>
              <a:spcBef>
                <a:spcPts val="0"/>
              </a:spcBef>
              <a:spcAft>
                <a:spcPts val="700"/>
              </a:spcAft>
            </a:pPr>
            <a:r>
              <a:rPr sz="930" b="0" i="0">
                <a:solidFill>
                  <a:srgbClr val="64748B"/>
                </a:solidFill>
                <a:latin typeface="Inter"/>
              </a:rPr>
              <a:t>extract_profile — single source of truth</a:t>
            </a:r>
          </a:p>
          <a:p>
            <a:pPr>
              <a:lnSpc>
                <a:spcPct val="105000"/>
              </a:lnSpc>
              <a:spcAft>
                <a:spcPts val="0"/>
              </a:spcAft>
            </a:pPr>
            <a:r>
              <a:rPr sz="930">
                <a:solidFill>
                  <a:srgbClr val="F0F4F8"/>
                </a:solidFill>
                <a:latin typeface="JetBrains Mono"/>
                <a:hlinkClick r:id="rId11"/>
              </a:rPr>
              <a:t>packages/engine/resolve.py</a:t>
            </a:r>
          </a:p>
          <a:p>
            <a:pPr algn="l">
              <a:lnSpc>
                <a:spcPct val="100000"/>
              </a:lnSpc>
              <a:spcBef>
                <a:spcPts val="0"/>
              </a:spcBef>
              <a:spcAft>
                <a:spcPts val="700"/>
              </a:spcAft>
            </a:pPr>
            <a:r>
              <a:rPr sz="930" b="0" i="0">
                <a:solidFill>
                  <a:srgbClr val="64748B"/>
                </a:solidFill>
                <a:latin typeface="Inter"/>
              </a:rPr>
              <a:t>PINNED_IDS with audit comments</a:t>
            </a:r>
          </a:p>
          <a:p>
            <a:pPr>
              <a:lnSpc>
                <a:spcPct val="105000"/>
              </a:lnSpc>
              <a:spcAft>
                <a:spcPts val="0"/>
              </a:spcAft>
            </a:pPr>
            <a:r>
              <a:rPr sz="930">
                <a:solidFill>
                  <a:srgbClr val="F0F4F8"/>
                </a:solidFill>
                <a:latin typeface="JetBrains Mono"/>
                <a:hlinkClick r:id="rId12"/>
              </a:rPr>
              <a:t>services/api/tools/compare_ofac_vs_sayari.py</a:t>
            </a:r>
          </a:p>
          <a:p>
            <a:pPr algn="l">
              <a:lnSpc>
                <a:spcPct val="100000"/>
              </a:lnSpc>
              <a:spcBef>
                <a:spcPts val="0"/>
              </a:spcBef>
              <a:spcAft>
                <a:spcPts val="700"/>
              </a:spcAft>
            </a:pPr>
            <a:r>
              <a:rPr sz="930" b="0" i="0">
                <a:solidFill>
                  <a:srgbClr val="64748B"/>
                </a:solidFill>
                <a:latin typeface="Inter"/>
              </a:rPr>
              <a:t>The headline reconciliation</a:t>
            </a:r>
          </a:p>
          <a:p>
            <a:pPr>
              <a:lnSpc>
                <a:spcPct val="105000"/>
              </a:lnSpc>
              <a:spcAft>
                <a:spcPts val="0"/>
              </a:spcAft>
            </a:pPr>
            <a:r>
              <a:rPr sz="930">
                <a:solidFill>
                  <a:srgbClr val="F0F4F8"/>
                </a:solidFill>
                <a:latin typeface="JetBrains Mono"/>
                <a:hlinkClick r:id="rId13"/>
              </a:rPr>
              <a:t>services/api/tools/traverse_ownership.py</a:t>
            </a:r>
          </a:p>
          <a:p>
            <a:pPr algn="l">
              <a:lnSpc>
                <a:spcPct val="100000"/>
              </a:lnSpc>
              <a:spcBef>
                <a:spcPts val="0"/>
              </a:spcBef>
              <a:spcAft>
                <a:spcPts val="700"/>
              </a:spcAft>
            </a:pPr>
            <a:r>
              <a:rPr sz="930" b="0" i="0">
                <a:solidFill>
                  <a:srgbClr val="64748B"/>
                </a:solidFill>
                <a:latin typeface="Inter"/>
              </a:rPr>
              <a:t>Cache-first ownership traversal</a:t>
            </a:r>
          </a:p>
          <a:p>
            <a:pPr>
              <a:lnSpc>
                <a:spcPct val="105000"/>
              </a:lnSpc>
              <a:spcAft>
                <a:spcPts val="0"/>
              </a:spcAft>
            </a:pPr>
            <a:r>
              <a:rPr sz="930">
                <a:solidFill>
                  <a:srgbClr val="F0F4F8"/>
                </a:solidFill>
                <a:latin typeface="JetBrains Mono"/>
                <a:hlinkClick r:id="rId14"/>
              </a:rPr>
              <a:t>services/api/tools/generate_briefing.py</a:t>
            </a:r>
          </a:p>
          <a:p>
            <a:pPr algn="l">
              <a:lnSpc>
                <a:spcPct val="100000"/>
              </a:lnSpc>
              <a:spcBef>
                <a:spcPts val="0"/>
              </a:spcBef>
              <a:spcAft>
                <a:spcPts val="700"/>
              </a:spcAft>
            </a:pPr>
            <a:r>
              <a:rPr sz="930" b="0" i="0">
                <a:solidFill>
                  <a:srgbClr val="64748B"/>
                </a:solidFill>
                <a:latin typeface="Inter"/>
              </a:rPr>
              <a:t>WeasyPrint + HTML fallback</a:t>
            </a:r>
          </a:p>
          <a:p>
            <a:pPr>
              <a:lnSpc>
                <a:spcPct val="105000"/>
              </a:lnSpc>
              <a:spcAft>
                <a:spcPts val="0"/>
              </a:spcAft>
            </a:pPr>
            <a:r>
              <a:rPr sz="930">
                <a:solidFill>
                  <a:srgbClr val="F0F4F8"/>
                </a:solidFill>
                <a:latin typeface="JetBrains Mono"/>
                <a:hlinkClick r:id="rId15"/>
              </a:rPr>
              <a:t>services/api/agent/runner.py</a:t>
            </a:r>
          </a:p>
          <a:p>
            <a:pPr algn="l">
              <a:lnSpc>
                <a:spcPct val="100000"/>
              </a:lnSpc>
              <a:spcBef>
                <a:spcPts val="0"/>
              </a:spcBef>
              <a:spcAft>
                <a:spcPts val="700"/>
              </a:spcAft>
            </a:pPr>
            <a:r>
              <a:rPr sz="930" b="0" i="0">
                <a:solidFill>
                  <a:srgbClr val="64748B"/>
                </a:solidFill>
                <a:latin typeface="Inter"/>
              </a:rPr>
              <a:t>Claude tool-use loop (SSE)</a:t>
            </a:r>
          </a:p>
          <a:p>
            <a:pPr>
              <a:lnSpc>
                <a:spcPct val="105000"/>
              </a:lnSpc>
              <a:spcAft>
                <a:spcPts val="0"/>
              </a:spcAft>
            </a:pPr>
            <a:r>
              <a:rPr sz="930">
                <a:solidFill>
                  <a:srgbClr val="F0F4F8"/>
                </a:solidFill>
                <a:latin typeface="JetBrains Mono"/>
                <a:hlinkClick r:id="rId16"/>
              </a:rPr>
              <a:t>services/mcp/server.py</a:t>
            </a:r>
          </a:p>
          <a:p>
            <a:pPr algn="l">
              <a:lnSpc>
                <a:spcPct val="100000"/>
              </a:lnSpc>
              <a:spcBef>
                <a:spcPts val="0"/>
              </a:spcBef>
              <a:spcAft>
                <a:spcPts val="700"/>
              </a:spcAft>
            </a:pPr>
            <a:r>
              <a:rPr sz="930" b="0" i="0">
                <a:solidFill>
                  <a:srgbClr val="64748B"/>
                </a:solidFill>
                <a:latin typeface="Inter"/>
              </a:rPr>
              <a:t>MCP server — 6 tools</a:t>
            </a:r>
          </a:p>
        </p:txBody>
      </p:sp>
      <p:sp>
        <p:nvSpPr>
          <p:cNvPr id="10" name="TextBox 9"/>
          <p:cNvSpPr txBox="1"/>
          <p:nvPr/>
        </p:nvSpPr>
        <p:spPr>
          <a:xfrm>
            <a:off x="777240" y="6355080"/>
            <a:ext cx="10625328" cy="365760"/>
          </a:xfrm>
          <a:prstGeom prst="rect">
            <a:avLst/>
          </a:prstGeom>
          <a:noFill/>
        </p:spPr>
        <p:txBody>
          <a:bodyPr wrap="square" anchor="t" lIns="0" rIns="0" tIns="0" bIns="0">
            <a:spAutoFit/>
          </a:bodyPr>
          <a:lstStyle/>
          <a:p>
            <a:pPr algn="l">
              <a:lnSpc>
                <a:spcPct val="112000"/>
              </a:lnSpc>
              <a:spcBef>
                <a:spcPts val="0"/>
              </a:spcBef>
              <a:spcAft>
                <a:spcPts val="0"/>
              </a:spcAft>
            </a:pPr>
            <a:r>
              <a:rPr sz="900" b="0" i="0">
                <a:solidFill>
                  <a:srgbClr val="64748B"/>
                </a:solidFill>
                <a:latin typeface="Inter"/>
              </a:rPr>
              <a:t>Every file name is a clickable link  ·  </a:t>
            </a:r>
            <a:r>
              <a:rPr sz="900" b="0" i="0">
                <a:solidFill>
                  <a:srgbClr val="8A7440"/>
                </a:solidFill>
                <a:latin typeface="JetBrains Mono"/>
                <a:hlinkClick r:id="rId17"/>
              </a:rPr>
              <a:t>github.com/pnemrow/meridian-sentinel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9966960" y="310896"/>
            <a:ext cx="1463040" cy="274320"/>
          </a:xfrm>
          <a:prstGeom prst="rect">
            <a:avLst/>
          </a:prstGeom>
          <a:noFill/>
        </p:spPr>
        <p:txBody>
          <a:bodyPr wrap="square" anchor="t" lIns="0" rIns="0" tIns="0" bIns="0">
            <a:spAutoFit/>
          </a:bodyPr>
          <a:lstStyle/>
          <a:p>
            <a:pPr algn="r">
              <a:lnSpc>
                <a:spcPct val="112000"/>
              </a:lnSpc>
              <a:spcBef>
                <a:spcPts val="0"/>
              </a:spcBef>
              <a:spcAft>
                <a:spcPts val="0"/>
              </a:spcAft>
            </a:pPr>
            <a:r>
              <a:rPr sz="900" b="1" i="0" spc="200">
                <a:solidFill>
                  <a:srgbClr val="8A7440"/>
                </a:solidFill>
                <a:latin typeface="Inter"/>
              </a:rPr>
              <a:t>APPENDIX</a:t>
            </a:r>
          </a:p>
        </p:txBody>
      </p:sp>
      <p:sp>
        <p:nvSpPr>
          <p:cNvPr id="3" name="Rectangle 2"/>
          <p:cNvSpPr/>
          <p:nvPr/>
        </p:nvSpPr>
        <p:spPr>
          <a:xfrm>
            <a:off x="0" y="0"/>
            <a:ext cx="12191695" cy="64008"/>
          </a:xfrm>
          <a:prstGeom prst="rect">
            <a:avLst/>
          </a:prstGeom>
          <a:solidFill>
            <a:srgbClr val="C9A9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371600"/>
            <a:ext cx="10424160" cy="914400"/>
          </a:xfrm>
          <a:prstGeom prst="rect">
            <a:avLst/>
          </a:prstGeom>
          <a:noFill/>
        </p:spPr>
        <p:txBody>
          <a:bodyPr wrap="square" anchor="t" lIns="0" rIns="0" tIns="0" bIns="0">
            <a:spAutoFit/>
          </a:bodyPr>
          <a:lstStyle/>
          <a:p>
            <a:pPr algn="l">
              <a:lnSpc>
                <a:spcPct val="112000"/>
              </a:lnSpc>
              <a:spcBef>
                <a:spcPts val="0"/>
              </a:spcBef>
              <a:spcAft>
                <a:spcPts val="0"/>
              </a:spcAft>
            </a:pPr>
            <a:r>
              <a:rPr sz="5200" b="0" i="0">
                <a:solidFill>
                  <a:srgbClr val="F0F4F8"/>
                </a:solidFill>
                <a:latin typeface="Cormorant Garamond"/>
              </a:rPr>
              <a:t>Thank you</a:t>
            </a:r>
          </a:p>
        </p:txBody>
      </p:sp>
      <p:sp>
        <p:nvSpPr>
          <p:cNvPr id="5" name="TextBox 4"/>
          <p:cNvSpPr txBox="1"/>
          <p:nvPr/>
        </p:nvSpPr>
        <p:spPr>
          <a:xfrm>
            <a:off x="868680" y="2697480"/>
            <a:ext cx="10424160" cy="1828800"/>
          </a:xfrm>
          <a:prstGeom prst="rect">
            <a:avLst/>
          </a:prstGeom>
          <a:noFill/>
        </p:spPr>
        <p:txBody>
          <a:bodyPr wrap="square" anchor="t" lIns="0" rIns="0" tIns="0" bIns="0">
            <a:spAutoFit/>
          </a:bodyPr>
          <a:lstStyle/>
          <a:p>
            <a:pPr algn="l">
              <a:lnSpc>
                <a:spcPct val="110000"/>
              </a:lnSpc>
              <a:spcBef>
                <a:spcPts val="0"/>
              </a:spcBef>
              <a:spcAft>
                <a:spcPts val="1000"/>
              </a:spcAft>
            </a:pPr>
            <a:r>
              <a:rPr sz="1300" b="1" i="0">
                <a:solidFill>
                  <a:srgbClr val="C9A961"/>
                </a:solidFill>
                <a:latin typeface="Inter"/>
              </a:rPr>
              <a:t>Deck + ADRs    </a:t>
            </a:r>
            <a:r>
              <a:rPr sz="1200" b="0" i="0">
                <a:solidFill>
                  <a:srgbClr val="8A7440"/>
                </a:solidFill>
                <a:latin typeface="JetBrains Mono"/>
                <a:hlinkClick r:id="rId2"/>
              </a:rPr>
              <a:t>github.com/pnemrow/meridian-sentinel/tree/master/docs/walkthrough</a:t>
            </a:r>
          </a:p>
          <a:p>
            <a:pPr algn="l">
              <a:lnSpc>
                <a:spcPct val="110000"/>
              </a:lnSpc>
              <a:spcBef>
                <a:spcPts val="0"/>
              </a:spcBef>
              <a:spcAft>
                <a:spcPts val="1000"/>
              </a:spcAft>
            </a:pPr>
            <a:r>
              <a:rPr sz="1300" b="1" i="0">
                <a:solidFill>
                  <a:srgbClr val="C9A961"/>
                </a:solidFill>
                <a:latin typeface="Inter"/>
              </a:rPr>
              <a:t>Run it    </a:t>
            </a:r>
            <a:r>
              <a:rPr sz="1200" b="0" i="0">
                <a:solidFill>
                  <a:srgbClr val="94A3B8"/>
                </a:solidFill>
                <a:latin typeface="JetBrains Mono"/>
              </a:rPr>
              <a:t>git clone … &amp;&amp; docker compose up   →   localhost:8000/ui/</a:t>
            </a:r>
          </a:p>
          <a:p>
            <a:pPr algn="l">
              <a:lnSpc>
                <a:spcPct val="110000"/>
              </a:lnSpc>
              <a:spcBef>
                <a:spcPts val="0"/>
              </a:spcBef>
              <a:spcAft>
                <a:spcPts val="1000"/>
              </a:spcAft>
            </a:pPr>
            <a:r>
              <a:rPr sz="1300" b="1" i="0">
                <a:solidFill>
                  <a:srgbClr val="C9A961"/>
                </a:solidFill>
                <a:latin typeface="Inter"/>
              </a:rPr>
              <a:t>Repo    </a:t>
            </a:r>
            <a:r>
              <a:rPr sz="1200" b="0" i="0">
                <a:solidFill>
                  <a:srgbClr val="8A7440"/>
                </a:solidFill>
                <a:latin typeface="JetBrains Mono"/>
                <a:hlinkClick r:id="rId3"/>
              </a:rPr>
              <a:t>github.com/pnemrow/meridian-sentinel</a:t>
            </a:r>
          </a:p>
          <a:p>
            <a:pPr algn="l">
              <a:lnSpc>
                <a:spcPct val="115000"/>
              </a:lnSpc>
              <a:spcBef>
                <a:spcPts val="400"/>
              </a:spcBef>
              <a:spcAft>
                <a:spcPts val="0"/>
              </a:spcAft>
            </a:pPr>
            <a:r>
              <a:rPr sz="1300" b="0" i="0">
                <a:solidFill>
                  <a:srgbClr val="94A3B8"/>
                </a:solidFill>
                <a:latin typeface="Inter"/>
              </a:rPr>
              <a:t>I'd love a deeper session — architecture, code walkthrough, or a whiteboard on scaling.</a:t>
            </a:r>
          </a:p>
        </p:txBody>
      </p:sp>
      <p:sp>
        <p:nvSpPr>
          <p:cNvPr id="6" name="TextBox 5"/>
          <p:cNvSpPr txBox="1"/>
          <p:nvPr/>
        </p:nvSpPr>
        <p:spPr>
          <a:xfrm>
            <a:off x="868680" y="4709160"/>
            <a:ext cx="10424160" cy="822960"/>
          </a:xfrm>
          <a:prstGeom prst="rect">
            <a:avLst/>
          </a:prstGeom>
          <a:noFill/>
        </p:spPr>
        <p:txBody>
          <a:bodyPr wrap="square" anchor="t" lIns="0" rIns="0" tIns="0" bIns="0">
            <a:spAutoFit/>
          </a:bodyPr>
          <a:lstStyle/>
          <a:p>
            <a:pPr algn="l">
              <a:lnSpc>
                <a:spcPct val="112000"/>
              </a:lnSpc>
              <a:spcBef>
                <a:spcPts val="0"/>
              </a:spcBef>
              <a:spcAft>
                <a:spcPts val="200"/>
              </a:spcAft>
            </a:pPr>
            <a:r>
              <a:rPr sz="1400" b="1" i="0">
                <a:solidFill>
                  <a:srgbClr val="F0F4F8"/>
                </a:solidFill>
                <a:latin typeface="Inter"/>
              </a:rPr>
              <a:t>Peter Nemrow</a:t>
            </a:r>
          </a:p>
          <a:p>
            <a:pPr algn="l">
              <a:lnSpc>
                <a:spcPct val="112000"/>
              </a:lnSpc>
              <a:spcBef>
                <a:spcPts val="0"/>
              </a:spcBef>
              <a:spcAft>
                <a:spcPts val="0"/>
              </a:spcAft>
            </a:pPr>
            <a:r>
              <a:rPr sz="1100" b="0" i="0">
                <a:solidFill>
                  <a:srgbClr val="94A3B8"/>
                </a:solidFill>
                <a:latin typeface="JetBrains Mono"/>
              </a:rPr>
              <a:t>pnemrow@gmail.com</a:t>
            </a:r>
          </a:p>
        </p:txBody>
      </p:sp>
      <p:sp>
        <p:nvSpPr>
          <p:cNvPr id="7" name="TextBox 6"/>
          <p:cNvSpPr txBox="1"/>
          <p:nvPr/>
        </p:nvSpPr>
        <p:spPr>
          <a:xfrm>
            <a:off x="868680" y="5870448"/>
            <a:ext cx="10424160" cy="640080"/>
          </a:xfrm>
          <a:prstGeom prst="rect">
            <a:avLst/>
          </a:prstGeom>
          <a:noFill/>
        </p:spPr>
        <p:txBody>
          <a:bodyPr wrap="square" anchor="t" lIns="0" rIns="0" tIns="0" bIns="0">
            <a:spAutoFit/>
          </a:bodyPr>
          <a:lstStyle/>
          <a:p>
            <a:pPr algn="l">
              <a:lnSpc>
                <a:spcPct val="105000"/>
              </a:lnSpc>
              <a:spcBef>
                <a:spcPts val="0"/>
              </a:spcBef>
              <a:spcAft>
                <a:spcPts val="0"/>
              </a:spcAft>
            </a:pPr>
            <a:r>
              <a:rPr sz="1900" b="0" i="1">
                <a:solidFill>
                  <a:srgbClr val="C9A961"/>
                </a:solidFill>
                <a:latin typeface="Cormorant Garamond"/>
              </a:rPr>
              <a:t>“Built with the assumption that someone will deploy this to a real customer in eight weeks.”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A7440"/>
      </a:hlink>
      <a:folHlink>
        <a:srgbClr val="8A74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A7440"/>
      </a:hlink>
      <a:folHlink>
        <a:srgbClr val="8A74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